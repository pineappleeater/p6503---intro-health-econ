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5" r:id="rId21"/>
    <p:sldId id="276" r:id="rId22"/>
    <p:sldId id="294" r:id="rId23"/>
    <p:sldId id="277" r:id="rId24"/>
    <p:sldId id="296" r:id="rId25"/>
    <p:sldId id="293" r:id="rId26"/>
    <p:sldId id="297" r:id="rId27"/>
    <p:sldId id="298" r:id="rId28"/>
    <p:sldId id="299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95" r:id="rId38"/>
    <p:sldId id="286" r:id="rId39"/>
    <p:sldId id="287" r:id="rId40"/>
    <p:sldId id="288" r:id="rId41"/>
    <p:sldId id="289" r:id="rId42"/>
    <p:sldId id="290" r:id="rId43"/>
    <p:sldId id="291" r:id="rId44"/>
    <p:sldId id="292" r:id="rId45"/>
  </p:sldIdLst>
  <p:sldSz cx="9144000" cy="5143500" type="screen16x9"/>
  <p:notesSz cx="6858000" cy="9144000"/>
  <p:embeddedFontLst>
    <p:embeddedFont>
      <p:font typeface="Roboto" panose="02000000000000000000" pitchFamily="2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26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34dceb9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34dceb9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34dceb99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34dceb99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34dceb991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34dceb991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Changes in price → movement along the curve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changes → movement of the curve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34dceb99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34dceb99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34dceb991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34dceb991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33405195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33405195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33405195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33405195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33405195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334051954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production equivalent of indifference curve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33405195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334051954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production equivalent of the budget constraint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350b6278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350b6278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334051954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334051954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→ Given a budget constraint (isocost curve), we maximize output (shift the isoquant until it is tangent) </a:t>
            </a:r>
            <a:endParaRPr sz="180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Draw on the board!!!!!!! Budget constraint and isoquant until it is tangent</a:t>
            </a:r>
            <a:endParaRPr sz="180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334051954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334051954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→ Given a budget constraint (isocost curve), we maximize output (shift the isoquant until it is tangent) </a:t>
            </a:r>
            <a:endParaRPr sz="180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Draw on the board!!!!!!! Budget constraint and isoquant until it is tangent</a:t>
            </a:r>
            <a:endParaRPr sz="180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350b62782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350b62782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350b627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350b627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rabicPeriod"/>
            </a:pPr>
            <a:r>
              <a:rPr lang="en" sz="1800">
                <a:solidFill>
                  <a:srgbClr val="595959"/>
                </a:solidFill>
              </a:rPr>
              <a:t>Negative relationship between productivity &amp; costs </a:t>
            </a:r>
            <a:endParaRPr sz="180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595959"/>
                </a:solidFill>
              </a:rPr>
              <a:t>If productivity of an input (a worker’s hour) goes up (e.g. worker works faster) the cost of producing a good goes </a:t>
            </a:r>
            <a:r>
              <a:rPr lang="en" sz="1800" b="1" i="1" u="sng">
                <a:solidFill>
                  <a:srgbClr val="595959"/>
                </a:solidFill>
              </a:rPr>
              <a:t>down. </a:t>
            </a:r>
            <a:endParaRPr sz="1800" b="1" i="1" u="sng">
              <a:solidFill>
                <a:srgbClr val="595959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rabicPeriod"/>
            </a:pPr>
            <a:r>
              <a:rPr lang="en" sz="1800">
                <a:solidFill>
                  <a:srgbClr val="595959"/>
                </a:solidFill>
              </a:rPr>
              <a:t>Average vs Marginal Productivity </a:t>
            </a:r>
            <a:endParaRPr sz="180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595959"/>
                </a:solidFill>
              </a:rPr>
              <a:t>If marginal productivity of next worker hired is greater than the average productivity of existing workers, then it </a:t>
            </a:r>
            <a:r>
              <a:rPr lang="en" sz="1800" i="1" u="sng">
                <a:solidFill>
                  <a:srgbClr val="595959"/>
                </a:solidFill>
              </a:rPr>
              <a:t>pulls</a:t>
            </a:r>
            <a:r>
              <a:rPr lang="en" sz="1800">
                <a:solidFill>
                  <a:srgbClr val="595959"/>
                </a:solidFill>
              </a:rPr>
              <a:t> the average productivity up. 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34dceb991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34dceb991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350b62782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350b62782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350b6278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c350b6278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Initial economies of scale (downward slope): As quantity increases from zero, marginal costs initially decrease due to fixed costs being spread over more units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Eventually rising costs (upward slope): After a certain point, capacity constraints, overtime, crowding, and diminishing returns cause marginal costs to increase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key insight: Suppliers make production decisions based on marginal cost, so the supply curve literally </a:t>
            </a:r>
            <a:r>
              <a:rPr lang="en" sz="12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the marginal cost curve (specifically, the upward-sloping portion where MC is above average variable cost).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34dceb991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934dceb991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Initial economies of scale (downward slope): As quantity increases from zero, marginal costs initially decrease due to fixed costs being spread over more units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Eventually rising costs (upward slope): After a certain point, capacity constraints, overtime, crowding, and diminishing returns cause marginal costs to increase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key insight: Suppliers make production decisions based on marginal cost, so the supply curve literally </a:t>
            </a:r>
            <a:r>
              <a:rPr lang="en" sz="12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the marginal cost curve (specifically, the upward-sloping portion where MC is above average variable cost).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34dceb991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934dceb991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Initial economies of scale (downward slope): As quantity increases from zero, marginal costs initially decrease due to fixed costs being spread over more units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Eventually rising costs (upward slope): After a certain point, capacity constraints, overtime, crowding, and diminishing returns cause marginal costs to increase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key insight: Suppliers make production decisions based on marginal cost, so the supply curve literally </a:t>
            </a:r>
            <a:r>
              <a:rPr lang="en" sz="12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the marginal cost curve (specifically, the upward-sloping portion where MC is above average variable cost).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3fbcfbe1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c3fbcfbe1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51DD3C8-877E-47E3-6ACA-F654DF312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334051954_0_22:notes">
            <a:extLst>
              <a:ext uri="{FF2B5EF4-FFF2-40B4-BE49-F238E27FC236}">
                <a16:creationId xmlns:a16="http://schemas.microsoft.com/office/drawing/2014/main" id="{98AFA556-71E5-DCEB-CC9C-2B79545B99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334051954_0_22:notes">
            <a:extLst>
              <a:ext uri="{FF2B5EF4-FFF2-40B4-BE49-F238E27FC236}">
                <a16:creationId xmlns:a16="http://schemas.microsoft.com/office/drawing/2014/main" id="{84FBFFEF-6724-F97A-920D-303C6F9D39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9916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34dceb991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934dceb991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c350b62782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c350b62782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always positive, </a:t>
            </a:r>
          </a:p>
          <a:p>
            <a:endParaRPr lang="en-US" dirty="0"/>
          </a:p>
          <a:p>
            <a:r>
              <a:rPr lang="en-US" dirty="0"/>
              <a:t>If over 1, elastic if not </a:t>
            </a:r>
            <a:r>
              <a:rPr lang="en-US" dirty="0" err="1"/>
              <a:t>not</a:t>
            </a:r>
            <a:r>
              <a:rPr lang="en-US" dirty="0"/>
              <a:t> elastic </a:t>
            </a:r>
          </a:p>
        </p:txBody>
      </p:sp>
    </p:spTree>
    <p:extLst>
      <p:ext uri="{BB962C8B-B14F-4D97-AF65-F5344CB8AC3E}">
        <p14:creationId xmlns:p14="http://schemas.microsoft.com/office/powerpoint/2010/main" val="42587095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34dceb991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934dceb991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34dceb991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934dceb991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34dceb991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934dceb991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total product curve shows that output initially increases at an increasing rate from 0 to n3, then increases at a decreasing rate from n3 to n6 nurse-hours, and finally declines after n6 nurse-hours as the medical firm employs more nurse-hours. Diminishing marginal productivity is the reason why output fails to expand at an increasing rate after n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34dceb991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934dceb991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34dceb991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934dceb991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350b62782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c350b62782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34dceb991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934dceb991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c350b62782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c350b62782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50">
                <a:solidFill>
                  <a:schemeClr val="dk1"/>
                </a:solidFill>
              </a:rPr>
              <a:t>At some point in the production process, t</a:t>
            </a:r>
            <a:r>
              <a:rPr lang="en" sz="1650">
                <a:solidFill>
                  <a:schemeClr val="dk1"/>
                </a:solidFill>
              </a:rPr>
              <a:t>he additional nurse</a:t>
            </a:r>
            <a:endParaRPr sz="16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becomes less productive due to the constraint imposed by the fixed</a:t>
            </a:r>
            <a:endParaRPr sz="16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input</a:t>
            </a:r>
            <a:endParaRPr sz="16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rgbClr val="1572B6"/>
                </a:solidFill>
              </a:rPr>
              <a:t>• </a:t>
            </a:r>
            <a:r>
              <a:rPr lang="en" sz="1950">
                <a:solidFill>
                  <a:schemeClr val="dk1"/>
                </a:solidFill>
              </a:rPr>
              <a:t>If MP is above AP, AP is increasing </a:t>
            </a:r>
            <a:r>
              <a:rPr lang="en" sz="1650">
                <a:solidFill>
                  <a:schemeClr val="dk1"/>
                </a:solidFill>
              </a:rPr>
              <a:t>[MP is pulling AP up]</a:t>
            </a:r>
            <a:endParaRPr sz="16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rgbClr val="1572B6"/>
                </a:solidFill>
              </a:rPr>
              <a:t>• </a:t>
            </a:r>
            <a:r>
              <a:rPr lang="en" sz="1950">
                <a:solidFill>
                  <a:schemeClr val="dk1"/>
                </a:solidFill>
              </a:rPr>
              <a:t>MP curve cuts AP curve at the AP curve’s maximum point</a:t>
            </a:r>
            <a:endParaRPr sz="19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rgbClr val="1572B6"/>
                </a:solidFill>
              </a:rPr>
              <a:t>• </a:t>
            </a:r>
            <a:r>
              <a:rPr lang="en" sz="1950">
                <a:solidFill>
                  <a:schemeClr val="dk1"/>
                </a:solidFill>
              </a:rPr>
              <a:t>If MP is below AP, AP is declining </a:t>
            </a:r>
            <a:r>
              <a:rPr lang="en" sz="1650">
                <a:solidFill>
                  <a:schemeClr val="dk1"/>
                </a:solidFill>
              </a:rPr>
              <a:t>[MP is pulling AP down]</a:t>
            </a:r>
            <a:endParaRPr sz="16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CA5ABEF0-44E1-FBEA-FB4F-7642A05B5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c350b62782_0_59:notes">
            <a:extLst>
              <a:ext uri="{FF2B5EF4-FFF2-40B4-BE49-F238E27FC236}">
                <a16:creationId xmlns:a16="http://schemas.microsoft.com/office/drawing/2014/main" id="{158A5E6F-8320-EAB6-751F-6007F23BB6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c350b62782_0_59:notes">
            <a:extLst>
              <a:ext uri="{FF2B5EF4-FFF2-40B4-BE49-F238E27FC236}">
                <a16:creationId xmlns:a16="http://schemas.microsoft.com/office/drawing/2014/main" id="{9F0EC5CA-A202-2B6B-A911-C9C343AC2A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50">
                <a:solidFill>
                  <a:schemeClr val="dk1"/>
                </a:solidFill>
              </a:rPr>
              <a:t>At some point in the production process, t</a:t>
            </a:r>
            <a:r>
              <a:rPr lang="en" sz="1650">
                <a:solidFill>
                  <a:schemeClr val="dk1"/>
                </a:solidFill>
              </a:rPr>
              <a:t>he additional nurse</a:t>
            </a:r>
            <a:endParaRPr sz="16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becomes less productive due to the constraint imposed by the fixed</a:t>
            </a:r>
            <a:endParaRPr sz="16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input</a:t>
            </a:r>
            <a:endParaRPr sz="16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rgbClr val="1572B6"/>
                </a:solidFill>
              </a:rPr>
              <a:t>• </a:t>
            </a:r>
            <a:r>
              <a:rPr lang="en" sz="1950">
                <a:solidFill>
                  <a:schemeClr val="dk1"/>
                </a:solidFill>
              </a:rPr>
              <a:t>If MP is above AP, AP is increasing </a:t>
            </a:r>
            <a:r>
              <a:rPr lang="en" sz="1650">
                <a:solidFill>
                  <a:schemeClr val="dk1"/>
                </a:solidFill>
              </a:rPr>
              <a:t>[MP is pulling AP up]</a:t>
            </a:r>
            <a:endParaRPr sz="16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rgbClr val="1572B6"/>
                </a:solidFill>
              </a:rPr>
              <a:t>• </a:t>
            </a:r>
            <a:r>
              <a:rPr lang="en" sz="1950">
                <a:solidFill>
                  <a:schemeClr val="dk1"/>
                </a:solidFill>
              </a:rPr>
              <a:t>MP curve cuts AP curve at the AP curve’s maximum point</a:t>
            </a:r>
            <a:endParaRPr sz="19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rgbClr val="1572B6"/>
                </a:solidFill>
              </a:rPr>
              <a:t>• </a:t>
            </a:r>
            <a:r>
              <a:rPr lang="en" sz="1950">
                <a:solidFill>
                  <a:schemeClr val="dk1"/>
                </a:solidFill>
              </a:rPr>
              <a:t>If MP is below AP, AP is declining </a:t>
            </a:r>
            <a:r>
              <a:rPr lang="en" sz="1650">
                <a:solidFill>
                  <a:schemeClr val="dk1"/>
                </a:solidFill>
              </a:rPr>
              <a:t>[MP is pulling AP down]</a:t>
            </a:r>
            <a:endParaRPr sz="16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71353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934dceb991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934dceb991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c3fbcfbe1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c3fbcfbe1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c3fbcfbe1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c3fbcfbe1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c3fbcfbe1a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c3fbcfbe1a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3fbcfbe1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c3fbcfbe1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3fbcfbe1a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c3fbcfbe1a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Note inverse relationship between SMC and MP</a:t>
            </a:r>
            <a:r>
              <a:rPr lang="en" sz="1150">
                <a:solidFill>
                  <a:schemeClr val="dk1"/>
                </a:solidFill>
              </a:rPr>
              <a:t>n</a:t>
            </a:r>
            <a:endParaRPr sz="11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>
                <a:solidFill>
                  <a:schemeClr val="dk1"/>
                </a:solidFill>
              </a:rPr>
              <a:t>and direct relationship between SMC and </a:t>
            </a:r>
            <a:r>
              <a:rPr lang="en" sz="1650" i="1">
                <a:solidFill>
                  <a:schemeClr val="dk1"/>
                </a:solidFill>
              </a:rPr>
              <a:t>w</a:t>
            </a:r>
            <a:endParaRPr sz="1650"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>
                <a:solidFill>
                  <a:srgbClr val="FB0007"/>
                </a:solidFill>
              </a:rPr>
              <a:t>An example</a:t>
            </a:r>
            <a:r>
              <a:rPr lang="en" sz="1450">
                <a:solidFill>
                  <a:schemeClr val="dk1"/>
                </a:solidFill>
              </a:rPr>
              <a:t>: If bringing on one additional worker at $20/hr results in</a:t>
            </a:r>
            <a:endParaRPr sz="14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>
                <a:solidFill>
                  <a:schemeClr val="dk1"/>
                </a:solidFill>
              </a:rPr>
              <a:t>an increase in output of 5 units (Marginal Productivity).</a:t>
            </a:r>
            <a:endParaRPr sz="14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>
                <a:solidFill>
                  <a:schemeClr val="dk1"/>
                </a:solidFill>
              </a:rPr>
              <a:t>The SMC is $20/5 = $4.</a:t>
            </a:r>
            <a:endParaRPr sz="14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c3fbcfbe1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c3fbcfbe1a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E315B4-6A05-411A-3304-EEEB0C8735EE}"/>
              </a:ext>
            </a:extLst>
          </p:cNvPr>
          <p:cNvCxnSpPr/>
          <p:nvPr userDrawn="1"/>
        </p:nvCxnSpPr>
        <p:spPr>
          <a:xfrm>
            <a:off x="311700" y="1017725"/>
            <a:ext cx="8160758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gif"/><Relationship Id="rId5" Type="http://schemas.openxmlformats.org/officeDocument/2006/relationships/image" Target="../media/image5.gif"/><Relationship Id="rId4" Type="http://schemas.openxmlformats.org/officeDocument/2006/relationships/image" Target="../media/image4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3: Healthcare Supply 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5825100" y="3782175"/>
            <a:ext cx="3007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HPM 6503 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Spring 2026 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Nada Boualam, PhD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3: Outline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Announcements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Last week review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Firms &amp; profit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Supply curve &amp; supply shifters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dirty="0"/>
              <a:t>Elasticity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Accommodations for Exam 1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Exam 1 will be from 6pm-8:20pm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Exam 1 will be a 2 hour exam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Office of ODS will reach out to students with registered accommodations to schedule their exam, most likely 5:30pm-9pm on the 18th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No other accommodations will be granted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Exam will be set up on canvas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Review sessions will be announced next week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Attendance &amp; Participation grade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Guest speaker confirmed!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Week Recap: Demand Curve for Physician Services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443800"/>
            <a:ext cx="3902400" cy="31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Utility &amp; preferences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Demand for health vs. health care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Health stock as a production and as a resource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Marginal Benefit of consuming different amount of medical care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Elasticity of demand 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1263" y="1152475"/>
            <a:ext cx="4391025" cy="32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Focus: Medical Care Production &amp; Costs 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263" y="1331900"/>
            <a:ext cx="7038975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/>
          <p:nvPr/>
        </p:nvSpPr>
        <p:spPr>
          <a:xfrm>
            <a:off x="6542350" y="2571750"/>
            <a:ext cx="1443900" cy="1443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first, let’s back up: Firms maximize profit </a:t>
            </a: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For profit firms have one goal above all else: maximize profit  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400" y="1899765"/>
            <a:ext cx="3429831" cy="497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9062" y="2435451"/>
            <a:ext cx="4597961" cy="497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14723" y="3086113"/>
            <a:ext cx="3877200" cy="497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16438" y="3736765"/>
            <a:ext cx="3473752" cy="65542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Production Function </a:t>
            </a:r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8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Little control over price or cost → Firms mostly control output </a:t>
            </a:r>
            <a:r>
              <a:rPr lang="en" b="1"/>
              <a:t>quantity q 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/>
              <a:t>Production function relates quantities of input (e.g. labor, capital) to quantity of output (e.g. medical services) </a:t>
            </a:r>
            <a:endParaRPr b="1"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9500" y="1940825"/>
            <a:ext cx="4639175" cy="29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9500" y="1940825"/>
            <a:ext cx="4639175" cy="29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Production Function </a:t>
            </a:r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4060650" y="1518975"/>
            <a:ext cx="42603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/>
              <a:t>Diminishing returns of labor → MP of labor is decreasing </a:t>
            </a:r>
            <a:endParaRPr b="1"/>
          </a:p>
        </p:txBody>
      </p:sp>
      <p:sp>
        <p:nvSpPr>
          <p:cNvPr id="107" name="Google Shape;107;p20"/>
          <p:cNvSpPr/>
          <p:nvPr/>
        </p:nvSpPr>
        <p:spPr>
          <a:xfrm rot="5400000">
            <a:off x="5496450" y="1678225"/>
            <a:ext cx="296100" cy="16938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997" y="1217125"/>
            <a:ext cx="2256025" cy="66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Isoquant</a:t>
            </a:r>
            <a:endParaRPr/>
          </a:p>
        </p:txBody>
      </p:sp>
      <p:sp>
        <p:nvSpPr>
          <p:cNvPr id="114" name="Google Shape;114;p21"/>
          <p:cNvSpPr txBox="1"/>
          <p:nvPr/>
        </p:nvSpPr>
        <p:spPr>
          <a:xfrm>
            <a:off x="311700" y="1084337"/>
            <a:ext cx="1220374" cy="46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595959"/>
                </a:solidFill>
              </a:rPr>
              <a:t>Definition </a:t>
            </a:r>
            <a:endParaRPr sz="1800" dirty="0">
              <a:solidFill>
                <a:srgbClr val="595959"/>
              </a:solidFill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562506" y="1558339"/>
            <a:ext cx="8437200" cy="7389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595959"/>
                </a:solidFill>
              </a:rPr>
              <a:t>Isoquant: specifies various input combinations needed to produce a given level of output</a:t>
            </a:r>
            <a:endParaRPr sz="1800" dirty="0">
              <a:solidFill>
                <a:srgbClr val="595959"/>
              </a:solidFill>
            </a:endParaRPr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rcRect t="9084"/>
          <a:stretch>
            <a:fillRect/>
          </a:stretch>
        </p:blipFill>
        <p:spPr>
          <a:xfrm>
            <a:off x="2784300" y="2355640"/>
            <a:ext cx="3804666" cy="2483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Isocost</a:t>
            </a:r>
            <a:endParaRPr/>
          </a:p>
        </p:txBody>
      </p:sp>
      <p:sp>
        <p:nvSpPr>
          <p:cNvPr id="122" name="Google Shape;122;p22"/>
          <p:cNvSpPr txBox="1"/>
          <p:nvPr/>
        </p:nvSpPr>
        <p:spPr>
          <a:xfrm>
            <a:off x="311700" y="1084337"/>
            <a:ext cx="1684500" cy="46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595959"/>
                </a:solidFill>
              </a:rPr>
              <a:t>Definition </a:t>
            </a:r>
            <a:endParaRPr sz="1800" dirty="0">
              <a:solidFill>
                <a:srgbClr val="595959"/>
              </a:solidFill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508004" y="1546037"/>
            <a:ext cx="8437200" cy="461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595959"/>
                </a:solidFill>
              </a:rPr>
              <a:t>Isocost: relates all the combinations of inputs that cost a given amount </a:t>
            </a:r>
            <a:endParaRPr sz="1800" dirty="0">
              <a:solidFill>
                <a:srgbClr val="595959"/>
              </a:solidFill>
            </a:endParaRPr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2750" y="1952675"/>
            <a:ext cx="37719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5325" y="2181275"/>
            <a:ext cx="2167300" cy="64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firms maximize profit (graphically)?</a:t>
            </a:r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3200" y="1107950"/>
            <a:ext cx="355439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firms maximize profit (graphically)?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Firms maximize profit </a:t>
            </a:r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Firms’ objectives: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Maximize revenue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b="1" u="sng"/>
              <a:t>Minimize costs:</a:t>
            </a:r>
            <a:r>
              <a:rPr lang="en"/>
              <a:t> for each output level q, the firm chooses the lowest‑cost isocost that still touches the isoquant for that output quantity q.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Minimum costs for each isoquants builds the </a:t>
            </a:r>
            <a:r>
              <a:rPr lang="en" b="1" u="sng"/>
              <a:t>cost function C(q)</a:t>
            </a:r>
            <a:endParaRPr b="1" u="sng"/>
          </a:p>
        </p:txBody>
      </p:sp>
      <p:pic>
        <p:nvPicPr>
          <p:cNvPr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400" y="1685425"/>
            <a:ext cx="3429831" cy="497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Fixed vs. Variable Costs </a:t>
            </a:r>
            <a:endParaRPr/>
          </a:p>
        </p:txBody>
      </p:sp>
      <p:sp>
        <p:nvSpPr>
          <p:cNvPr id="150" name="Google Shape;150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 the short run, 2 types of costs: Fixed and Variable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accent1">
                    <a:lumMod val="75000"/>
                  </a:schemeClr>
                </a:solidFill>
              </a:rPr>
              <a:t>Fixed costs </a:t>
            </a:r>
            <a:r>
              <a:rPr lang="en" dirty="0"/>
              <a:t>do not depend on the output of the firm. Physician has an office, rented for 5k/month. That cost does not vary based on the number of patients they see. Same with equipment, like MRI scanner, which costs ~2m regardless of 20 vs. 2000 patients.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accent1">
                    <a:lumMod val="75000"/>
                  </a:schemeClr>
                </a:solidFill>
              </a:rPr>
              <a:t>Variable costs </a:t>
            </a:r>
            <a:r>
              <a:rPr lang="en" dirty="0"/>
              <a:t>vary with output. Each patient you see you need a tongue depressor, needles for blood, electricity to administer tests. Labor can also be a variable cost, as more staff may be needed as number of patients grow.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Clr>
                <a:schemeClr val="accent1"/>
              </a:buClr>
            </a:pPr>
            <a:r>
              <a:rPr lang="en" dirty="0">
                <a:solidFill>
                  <a:schemeClr val="accent1"/>
                </a:solidFill>
              </a:rPr>
              <a:t>Short run vs. Long Run </a:t>
            </a:r>
            <a:endParaRPr dirty="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Some things are fixed in the short run but constraints can be addressed in the long run </a:t>
            </a:r>
            <a:r>
              <a:rPr lang="en" dirty="0">
                <a:sym typeface="Wingdings" panose="05000000000000000000" pitchFamily="2" charset="2"/>
              </a:rPr>
              <a:t> In the long run, all costs are variable</a:t>
            </a:r>
            <a:endParaRPr lang="en" dirty="0"/>
          </a:p>
        </p:txBody>
      </p:sp>
      <p:sp>
        <p:nvSpPr>
          <p:cNvPr id="156" name="Google Shape;156;p27"/>
          <p:cNvSpPr txBox="1"/>
          <p:nvPr/>
        </p:nvSpPr>
        <p:spPr>
          <a:xfrm>
            <a:off x="633025" y="3599800"/>
            <a:ext cx="7425000" cy="7803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The short run is the period in time in which the level of at least one input cannot be changed </a:t>
            </a:r>
            <a:endParaRPr dirty="0"/>
          </a:p>
        </p:txBody>
      </p:sp>
      <p:sp>
        <p:nvSpPr>
          <p:cNvPr id="157" name="Google Shape;157;p27"/>
          <p:cNvSpPr txBox="1"/>
          <p:nvPr/>
        </p:nvSpPr>
        <p:spPr>
          <a:xfrm>
            <a:off x="395650" y="3138100"/>
            <a:ext cx="3000000" cy="46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Definition</a:t>
            </a:r>
            <a:endParaRPr/>
          </a:p>
        </p:txBody>
      </p:sp>
      <p:sp>
        <p:nvSpPr>
          <p:cNvPr id="158" name="Google Shape;15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Fixed vs. Variable Costs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relevant concepts </a:t>
            </a:r>
            <a:endParaRPr/>
          </a:p>
        </p:txBody>
      </p:sp>
      <p:sp>
        <p:nvSpPr>
          <p:cNvPr id="170" name="Google Shape;170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Negative relationship between productivity &amp; costs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productivity of an input (a worker’s hour) goes up (worker works faster) the cost of producing a good goes </a:t>
            </a:r>
            <a:r>
              <a:rPr lang="en" b="1" i="1" u="sng"/>
              <a:t>down. </a:t>
            </a:r>
            <a:endParaRPr b="1" i="1" u="sng"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Average vs Marginal Productivity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marginal productivity of next worker hired is greater than the average productivity of existing workers, then it </a:t>
            </a:r>
            <a:r>
              <a:rPr lang="en" i="1" u="sng"/>
              <a:t>pulls</a:t>
            </a:r>
            <a:r>
              <a:rPr lang="en"/>
              <a:t> the average productivity up. </a:t>
            </a:r>
            <a:endParaRPr/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AutoNum type="arabicPeriod"/>
            </a:pPr>
            <a:r>
              <a:rPr lang="en">
                <a:solidFill>
                  <a:schemeClr val="accent1"/>
                </a:solidFill>
              </a:rPr>
              <a:t>Short run vs. Long Run 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Some things are fixed in the short run → constraints can be addressed in the long run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By definition, the short run is the period in time in which the level of at least one input cannot be changed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vs. Marginal Costs </a:t>
            </a:r>
            <a:endParaRPr/>
          </a:p>
        </p:txBody>
      </p:sp>
      <p:sp>
        <p:nvSpPr>
          <p:cNvPr id="164" name="Google Shape;164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>
                    <a:lumMod val="75000"/>
                  </a:schemeClr>
                </a:solidFill>
              </a:rPr>
              <a:t>Average costs =</a:t>
            </a:r>
            <a:r>
              <a:rPr lang="en" dirty="0">
                <a:solidFill>
                  <a:schemeClr val="dk1"/>
                </a:solidFill>
              </a:rPr>
              <a:t> total costs/quantity produced = (fixed + variable costs) / quantity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accent1">
                    <a:lumMod val="75000"/>
                  </a:schemeClr>
                </a:solidFill>
              </a:rPr>
              <a:t>Marginal costs</a:t>
            </a:r>
            <a:r>
              <a:rPr lang="en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en" dirty="0">
                <a:solidFill>
                  <a:schemeClr val="dk1"/>
                </a:solidFill>
              </a:rPr>
              <a:t>additional costs from producing the </a:t>
            </a:r>
            <a:r>
              <a:rPr lang="en" b="1" dirty="0">
                <a:solidFill>
                  <a:schemeClr val="dk1"/>
                </a:solidFill>
              </a:rPr>
              <a:t>next unit of output</a:t>
            </a:r>
            <a:r>
              <a:rPr lang="en" dirty="0">
                <a:solidFill>
                  <a:schemeClr val="dk1"/>
                </a:solidFill>
              </a:rPr>
              <a:t>. Fixed costs don’t affect marginal cost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        	</a:t>
            </a:r>
            <a:endParaRPr dirty="0">
              <a:solidFill>
                <a:schemeClr val="dk1"/>
              </a:solidFill>
            </a:endParaRPr>
          </a:p>
          <a:p>
            <a:pPr marL="2743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MC = ΔTC/ΔQ = ΔVC/ΔQ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Isocost to Supply Curve </a:t>
            </a:r>
            <a:endParaRPr/>
          </a:p>
        </p:txBody>
      </p:sp>
      <p:sp>
        <p:nvSpPr>
          <p:cNvPr id="176" name="Google Shape;176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Supply Curve represents the relationship between product price and quantity supplied </a:t>
            </a:r>
            <a:endParaRPr b="1" u="sng"/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5175" y="1818350"/>
            <a:ext cx="318135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3451" y="2179600"/>
            <a:ext cx="561720" cy="39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Isocost to Supply Curve </a:t>
            </a:r>
            <a:endParaRPr/>
          </a:p>
        </p:txBody>
      </p:sp>
      <p:sp>
        <p:nvSpPr>
          <p:cNvPr id="184" name="Google Shape;184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Supply Curve is actually the </a:t>
            </a:r>
            <a:r>
              <a:rPr lang="en" b="1" u="sng"/>
              <a:t>Short-Run Marginal Cost Curve </a:t>
            </a:r>
            <a:endParaRPr b="1" u="sng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 u="sng"/>
          </a:p>
        </p:txBody>
      </p:sp>
      <p:pic>
        <p:nvPicPr>
          <p:cNvPr id="185" name="Google Shape;18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5175" y="1859375"/>
            <a:ext cx="318135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3451" y="2179600"/>
            <a:ext cx="561720" cy="39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3963" y="2945225"/>
            <a:ext cx="1762125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Supply Curve is actually the </a:t>
            </a:r>
            <a:r>
              <a:rPr lang="en" b="1" u="sng"/>
              <a:t>Short-Run Marginal Cost Curve (SMC)</a:t>
            </a:r>
            <a:endParaRPr b="1" u="sng"/>
          </a:p>
        </p:txBody>
      </p:sp>
      <p:pic>
        <p:nvPicPr>
          <p:cNvPr id="193" name="Google Shape;19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5175" y="1673275"/>
            <a:ext cx="318135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3451" y="2179600"/>
            <a:ext cx="561720" cy="3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2"/>
          <p:cNvSpPr txBox="1"/>
          <p:nvPr/>
        </p:nvSpPr>
        <p:spPr>
          <a:xfrm>
            <a:off x="2812375" y="2316075"/>
            <a:ext cx="1158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Economies of scale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96" name="Google Shape;196;p32"/>
          <p:cNvSpPr txBox="1"/>
          <p:nvPr/>
        </p:nvSpPr>
        <p:spPr>
          <a:xfrm>
            <a:off x="5070300" y="1900575"/>
            <a:ext cx="4299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Capacity constraint, diminishing returns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97" name="Google Shape;197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Isocost to Supply Curve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Costs &amp; Productivity </a:t>
            </a:r>
            <a:endParaRPr/>
          </a:p>
        </p:txBody>
      </p:sp>
      <p:sp>
        <p:nvSpPr>
          <p:cNvPr id="203" name="Google Shape;203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relationship between productivity &amp; costs is </a:t>
            </a:r>
            <a:r>
              <a:rPr lang="en" b="1" u="sng" dirty="0"/>
              <a:t>negative </a:t>
            </a:r>
            <a:endParaRPr b="1" u="sng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If productivity of an input (a worker’s hour) goes up (worker works faster) the cost of producing a good goes </a:t>
            </a:r>
            <a:r>
              <a:rPr lang="en" b="1" i="1" u="sng" dirty="0"/>
              <a:t>down. </a:t>
            </a:r>
            <a:endParaRPr b="1" i="1" u="sng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i="1" u="sng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i="1" u="sng" dirty="0">
                <a:solidFill>
                  <a:schemeClr val="accent1">
                    <a:lumMod val="75000"/>
                  </a:schemeClr>
                </a:solidFill>
              </a:rPr>
              <a:t>Production Function: </a:t>
            </a:r>
            <a:r>
              <a:rPr lang="en" dirty="0"/>
              <a:t>identifies different ways the inputs can be combined to produce different levels of outputs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A22BE5A-A6E9-BAD7-585D-52B84AA54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0">
            <a:extLst>
              <a:ext uri="{FF2B5EF4-FFF2-40B4-BE49-F238E27FC236}">
                <a16:creationId xmlns:a16="http://schemas.microsoft.com/office/drawing/2014/main" id="{D63108AA-608F-C418-682F-4E1D5C961AC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9500" y="1940825"/>
            <a:ext cx="4639175" cy="29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>
            <a:extLst>
              <a:ext uri="{FF2B5EF4-FFF2-40B4-BE49-F238E27FC236}">
                <a16:creationId xmlns:a16="http://schemas.microsoft.com/office/drawing/2014/main" id="{6A9A9C56-93A7-E1F1-CE2B-D5AAB70C7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Production Function </a:t>
            </a:r>
            <a:endParaRPr/>
          </a:p>
        </p:txBody>
      </p:sp>
      <p:sp>
        <p:nvSpPr>
          <p:cNvPr id="106" name="Google Shape;106;p20">
            <a:extLst>
              <a:ext uri="{FF2B5EF4-FFF2-40B4-BE49-F238E27FC236}">
                <a16:creationId xmlns:a16="http://schemas.microsoft.com/office/drawing/2014/main" id="{B54CE76C-0762-FDB2-ECAC-7976B99D7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60650" y="1518975"/>
            <a:ext cx="4260300" cy="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/>
              <a:t>Diminishing returns of labor → MP of labor is decreasing </a:t>
            </a:r>
            <a:endParaRPr b="1"/>
          </a:p>
        </p:txBody>
      </p:sp>
      <p:sp>
        <p:nvSpPr>
          <p:cNvPr id="107" name="Google Shape;107;p20">
            <a:extLst>
              <a:ext uri="{FF2B5EF4-FFF2-40B4-BE49-F238E27FC236}">
                <a16:creationId xmlns:a16="http://schemas.microsoft.com/office/drawing/2014/main" id="{7781D525-5606-7CC3-9B97-BAD9578DF1BA}"/>
              </a:ext>
            </a:extLst>
          </p:cNvPr>
          <p:cNvSpPr/>
          <p:nvPr/>
        </p:nvSpPr>
        <p:spPr>
          <a:xfrm rot="5400000">
            <a:off x="5496450" y="1678225"/>
            <a:ext cx="296100" cy="16938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" name="Google Shape;108;p20">
            <a:extLst>
              <a:ext uri="{FF2B5EF4-FFF2-40B4-BE49-F238E27FC236}">
                <a16:creationId xmlns:a16="http://schemas.microsoft.com/office/drawing/2014/main" id="{03E444C5-D578-59F0-F67E-22F7F9B082E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997" y="1217125"/>
            <a:ext cx="2256025" cy="662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5632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Attendance</a:t>
            </a:r>
            <a:endParaRPr/>
          </a:p>
        </p:txBody>
      </p:sp>
      <p:sp>
        <p:nvSpPr>
          <p:cNvPr id="209" name="Google Shape;209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10" name="Google Shape;21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7623" y="1297198"/>
            <a:ext cx="2952750" cy="33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1DF61-8270-5705-4BAB-E9DE6CE60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Supply Curve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0A72B-8EC3-D67C-5D8E-8BF3BB752E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Supply: relationship between quantity supplied and product price (ceteris paribus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3E34F8-3FBB-0E2A-7053-FC0302880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528" y="1978767"/>
            <a:ext cx="4258269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2200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Supply Shifters</a:t>
            </a:r>
            <a:endParaRPr/>
          </a:p>
        </p:txBody>
      </p:sp>
      <p:pic>
        <p:nvPicPr>
          <p:cNvPr id="314" name="Google Shape;314;p50"/>
          <p:cNvPicPr preferRelativeResize="0"/>
          <p:nvPr/>
        </p:nvPicPr>
        <p:blipFill rotWithShape="1">
          <a:blip r:embed="rId3">
            <a:alphaModFix/>
          </a:blip>
          <a:srcRect l="13013" t="11831" b="38121"/>
          <a:stretch>
            <a:fillRect/>
          </a:stretch>
        </p:blipFill>
        <p:spPr>
          <a:xfrm>
            <a:off x="1186904" y="1914271"/>
            <a:ext cx="6252196" cy="1912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0FDB4-9B8A-85CD-F54E-34E61EFD5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C8C60-CC7B-B4FE-2070-6C5126CE8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Supply Curve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09445-8D38-01C0-5DD8-FCA91AF09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Slope indicates elasticity of supply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283585-AD43-835B-E4CD-F3D6BC137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893" y="1778930"/>
            <a:ext cx="4258269" cy="23244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A46F9F-F2F7-EC29-A407-34D8161D3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778" y="2389836"/>
            <a:ext cx="2915057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2800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4C9D-F8E5-E837-31C7-F01E5CF72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Elasticity of supply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89153-DFD8-286B-4C93-33A8B74C6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9FC39E-18CA-DA3E-F77A-C2C42EBFD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105" y="1919268"/>
            <a:ext cx="3114218" cy="154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191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686E-EA75-1113-A21A-B8893F65F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Break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4E286-908B-D73D-BB19-552D93114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206D80-C107-CE1F-FE6E-0743A35E4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051" y="1152475"/>
            <a:ext cx="3158334" cy="355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834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SR Production Function of a Medical Firm - Assumptions</a:t>
            </a:r>
            <a:endParaRPr/>
          </a:p>
        </p:txBody>
      </p:sp>
      <p:sp>
        <p:nvSpPr>
          <p:cNvPr id="216" name="Google Shape;216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Medical firm produces a single output of medical services q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Only two medical inputs: nurse-hours n (labor) &amp; composite capital good k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Quantity of capital is fixed at some amount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Production Efficiency: Medical firm faces an incentive to produce as efficiently as possible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Medical firm possesses perfect information regarding the demand for its product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 Run Production Function of a Medical Firm </a:t>
            </a:r>
            <a:endParaRPr/>
          </a:p>
        </p:txBody>
      </p:sp>
      <p:sp>
        <p:nvSpPr>
          <p:cNvPr id="222" name="Google Shape;222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Production Function: 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Identifies different ways nurse-hours &amp; capital can be combined to produce various levels of medical services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Different levels of output produced by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Different combinations of the nursing and capital inputs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Each combination assumed to be technically efficient (i.e. maximum amount of output q is produced given the state of technology) </a:t>
            </a:r>
            <a:endParaRPr/>
          </a:p>
        </p:txBody>
      </p:sp>
      <p:pic>
        <p:nvPicPr>
          <p:cNvPr id="223" name="Google Shape;22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1622" y="3758775"/>
            <a:ext cx="2256025" cy="66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7"/>
          <p:cNvPicPr preferRelativeResize="0"/>
          <p:nvPr/>
        </p:nvPicPr>
        <p:blipFill>
          <a:blip r:embed="rId3">
            <a:alphaModFix/>
          </a:blip>
          <a:srcRect t="21332" b="18666"/>
          <a:stretch>
            <a:fillRect/>
          </a:stretch>
        </p:blipFill>
        <p:spPr>
          <a:xfrm>
            <a:off x="764409" y="1376744"/>
            <a:ext cx="7615182" cy="3086256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7"/>
          <p:cNvSpPr txBox="1">
            <a:spLocks noGrp="1"/>
          </p:cNvSpPr>
          <p:nvPr>
            <p:ph type="title"/>
          </p:nvPr>
        </p:nvSpPr>
        <p:spPr>
          <a:xfrm>
            <a:off x="311700" y="33602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Short Run Production Function of a Medical Firm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 Run Production Function of a Medical Firm </a:t>
            </a:r>
            <a:endParaRPr/>
          </a:p>
        </p:txBody>
      </p:sp>
      <p:sp>
        <p:nvSpPr>
          <p:cNvPr id="237" name="Google Shape;237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Total Product </a:t>
            </a:r>
            <a:r>
              <a:rPr lang="en" dirty="0"/>
              <a:t>C</a:t>
            </a:r>
            <a:r>
              <a:rPr lang="en" sz="1800" dirty="0"/>
              <a:t>urve: Depicts total output produced by different levels of the variable input, holding all other inputs constant</a:t>
            </a:r>
            <a:endParaRPr sz="18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Law of diminishing marginal productivity: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At first, total output increases at an increasing rate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After some point, it increases at a decreasing rate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And then it will begin to decrease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Marginal Product </a:t>
            </a:r>
            <a:endParaRPr/>
          </a:p>
        </p:txBody>
      </p:sp>
      <p:sp>
        <p:nvSpPr>
          <p:cNvPr id="243" name="Google Shape;243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 dirty="0">
                <a:solidFill>
                  <a:schemeClr val="accent1">
                    <a:lumMod val="75000"/>
                  </a:schemeClr>
                </a:solidFill>
              </a:rPr>
              <a:t>Definition: </a:t>
            </a:r>
            <a:endParaRPr sz="1450" dirty="0">
              <a:solidFill>
                <a:schemeClr val="accent1">
                  <a:lumMod val="7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 dirty="0">
                <a:solidFill>
                  <a:schemeClr val="dk1"/>
                </a:solidFill>
              </a:rPr>
              <a:t>Change in total output associated with a one-unit change in the variable input</a:t>
            </a:r>
            <a:endParaRPr sz="14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 dirty="0">
                <a:solidFill>
                  <a:schemeClr val="dk1"/>
                </a:solidFill>
              </a:rPr>
              <a:t>Magnitude of the marginal product of a nurse-hour reveals the additional quantity of medical services produced by each additional nurse-hour</a:t>
            </a:r>
            <a:endParaRPr sz="1450" dirty="0">
              <a:solidFill>
                <a:schemeClr val="dk1"/>
              </a:solidFill>
            </a:endParaRPr>
          </a:p>
          <a:p>
            <a:pPr marL="457200" lvl="0" indent="-3206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-"/>
            </a:pPr>
            <a:r>
              <a:rPr lang="en" sz="1450" dirty="0">
                <a:solidFill>
                  <a:schemeClr val="dk1"/>
                </a:solidFill>
              </a:rPr>
              <a:t>Initially, increasing marginal productivity, but eventually diminishing marginal productivity </a:t>
            </a:r>
            <a:endParaRPr sz="14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44" name="Google Shape;24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050" y="1995100"/>
            <a:ext cx="3771900" cy="10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Marginal Product </a:t>
            </a:r>
            <a:endParaRPr/>
          </a:p>
        </p:txBody>
      </p:sp>
      <p:pic>
        <p:nvPicPr>
          <p:cNvPr id="250" name="Google Shape;25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000" y="1017725"/>
            <a:ext cx="815141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Product </a:t>
            </a:r>
            <a:endParaRPr/>
          </a:p>
        </p:txBody>
      </p:sp>
      <p:sp>
        <p:nvSpPr>
          <p:cNvPr id="256" name="Google Shape;256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69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 dirty="0">
                <a:solidFill>
                  <a:schemeClr val="dk1"/>
                </a:solidFill>
              </a:rPr>
              <a:t>Average product, A</a:t>
            </a:r>
            <a:r>
              <a:rPr lang="en-US" sz="1650" dirty="0">
                <a:solidFill>
                  <a:schemeClr val="dk1"/>
                </a:solidFill>
              </a:rPr>
              <a:t>P</a:t>
            </a:r>
            <a:r>
              <a:rPr lang="en" sz="1150" dirty="0">
                <a:solidFill>
                  <a:schemeClr val="dk1"/>
                </a:solidFill>
              </a:rPr>
              <a:t>n = </a:t>
            </a:r>
            <a:r>
              <a:rPr lang="en" sz="1450" dirty="0">
                <a:solidFill>
                  <a:schemeClr val="dk1"/>
                </a:solidFill>
              </a:rPr>
              <a:t>Total quantity of medical services divided by the total number of nurse-hours</a:t>
            </a:r>
            <a:endParaRPr sz="14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1572B6"/>
              </a:solidFill>
            </a:endParaRPr>
          </a:p>
          <a:p>
            <a:pPr marL="2743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50" dirty="0">
                <a:solidFill>
                  <a:srgbClr val="FF0000"/>
                </a:solidFill>
              </a:rPr>
              <a:t>AP</a:t>
            </a:r>
            <a:r>
              <a:rPr lang="en" sz="2050" dirty="0">
                <a:solidFill>
                  <a:srgbClr val="FF0000"/>
                </a:solidFill>
              </a:rPr>
              <a:t>n</a:t>
            </a:r>
            <a:r>
              <a:rPr lang="en" sz="2550" dirty="0">
                <a:solidFill>
                  <a:srgbClr val="FF0000"/>
                </a:solidFill>
              </a:rPr>
              <a:t> = q/n</a:t>
            </a:r>
            <a:endParaRPr sz="2550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 dirty="0">
                <a:solidFill>
                  <a:schemeClr val="dk1"/>
                </a:solidFill>
              </a:rPr>
              <a:t>Initially increases, then reaches a maximum, then decreases due to diminishing marginal productivity</a:t>
            </a:r>
            <a:endParaRPr sz="14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Marginal vs. Average Product </a:t>
            </a:r>
            <a:endParaRPr/>
          </a:p>
        </p:txBody>
      </p:sp>
      <p:pic>
        <p:nvPicPr>
          <p:cNvPr id="262" name="Google Shape;26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650" y="1104200"/>
            <a:ext cx="7582710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6332C66-87AB-9476-A424-084E5F874C15}"/>
              </a:ext>
            </a:extLst>
          </p:cNvPr>
          <p:cNvSpPr/>
          <p:nvPr/>
        </p:nvSpPr>
        <p:spPr>
          <a:xfrm>
            <a:off x="667265" y="4195119"/>
            <a:ext cx="7582710" cy="8165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1EC3706A-46A2-6FC1-EA27-FC04A53F6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2">
            <a:extLst>
              <a:ext uri="{FF2B5EF4-FFF2-40B4-BE49-F238E27FC236}">
                <a16:creationId xmlns:a16="http://schemas.microsoft.com/office/drawing/2014/main" id="{BB2D52A6-9B26-3EEE-63CD-B855040506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Marginal vs. Average Product </a:t>
            </a:r>
            <a:endParaRPr/>
          </a:p>
        </p:txBody>
      </p:sp>
      <p:pic>
        <p:nvPicPr>
          <p:cNvPr id="262" name="Google Shape;262;p42">
            <a:extLst>
              <a:ext uri="{FF2B5EF4-FFF2-40B4-BE49-F238E27FC236}">
                <a16:creationId xmlns:a16="http://schemas.microsoft.com/office/drawing/2014/main" id="{11F74AD9-8FE8-2B8E-7547-FD1E9AFA04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650" y="1104200"/>
            <a:ext cx="7582710" cy="3820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24975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 to Costs </a:t>
            </a:r>
            <a:endParaRPr/>
          </a:p>
        </p:txBody>
      </p:sp>
      <p:sp>
        <p:nvSpPr>
          <p:cNvPr id="268" name="Google Shape;268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>
                    <a:lumMod val="75000"/>
                  </a:schemeClr>
                </a:solidFill>
              </a:rPr>
              <a:t>Total costs = </a:t>
            </a:r>
            <a:r>
              <a:rPr lang="en" dirty="0"/>
              <a:t>Explicit Costs + Implicit Costs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>
                    <a:lumMod val="75000"/>
                  </a:schemeClr>
                </a:solidFill>
              </a:rPr>
              <a:t>Explicit Costs = </a:t>
            </a:r>
            <a:r>
              <a:rPr lang="en" dirty="0"/>
              <a:t>salaries, utility bills, supplies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>
                    <a:lumMod val="75000"/>
                  </a:schemeClr>
                </a:solidFill>
              </a:rPr>
              <a:t>Implicit Costs = </a:t>
            </a:r>
            <a:r>
              <a:rPr lang="en" dirty="0"/>
              <a:t>opportunity cost of the resources (e.g. rental price of MRI)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 to Cost: Short Run Total Cost Function </a:t>
            </a:r>
            <a:endParaRPr/>
          </a:p>
        </p:txBody>
      </p:sp>
      <p:sp>
        <p:nvSpPr>
          <p:cNvPr id="274" name="Google Shape;274;p44"/>
          <p:cNvSpPr txBox="1">
            <a:spLocks noGrp="1"/>
          </p:cNvSpPr>
          <p:nvPr>
            <p:ph type="body" idx="1"/>
          </p:nvPr>
        </p:nvSpPr>
        <p:spPr>
          <a:xfrm>
            <a:off x="311700" y="2397325"/>
            <a:ext cx="8520600" cy="21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>
                <a:solidFill>
                  <a:srgbClr val="1572B6"/>
                </a:solidFill>
              </a:rPr>
              <a:t>• </a:t>
            </a:r>
            <a:r>
              <a:rPr lang="en" sz="1600">
                <a:solidFill>
                  <a:schemeClr val="dk1"/>
                </a:solidFill>
              </a:rPr>
              <a:t>Level of medical output: q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50">
                <a:solidFill>
                  <a:srgbClr val="1572B6"/>
                </a:solidFill>
              </a:rPr>
              <a:t>• </a:t>
            </a:r>
            <a:r>
              <a:rPr lang="en" sz="1600">
                <a:solidFill>
                  <a:schemeClr val="dk1"/>
                </a:solidFill>
              </a:rPr>
              <a:t>Variable input nurse-hours: n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>
                <a:solidFill>
                  <a:srgbClr val="1572B6"/>
                </a:solidFill>
              </a:rPr>
              <a:t>•</a:t>
            </a:r>
            <a:r>
              <a:rPr lang="en" sz="1600">
                <a:solidFill>
                  <a:schemeClr val="dk1"/>
                </a:solidFill>
              </a:rPr>
              <a:t> w = hourly wage for a nurse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50">
                <a:solidFill>
                  <a:srgbClr val="1572B6"/>
                </a:solidFill>
              </a:rPr>
              <a:t>• </a:t>
            </a:r>
            <a:r>
              <a:rPr lang="en" sz="1600">
                <a:solidFill>
                  <a:schemeClr val="dk1"/>
                </a:solidFill>
              </a:rPr>
              <a:t>Fixed input capital: k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>
                <a:solidFill>
                  <a:srgbClr val="1572B6"/>
                </a:solidFill>
              </a:rPr>
              <a:t>•</a:t>
            </a:r>
            <a:r>
              <a:rPr lang="en" sz="1600">
                <a:solidFill>
                  <a:schemeClr val="dk1"/>
                </a:solidFill>
              </a:rPr>
              <a:t> r = “rental” or opportunity cost of capital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>
                <a:solidFill>
                  <a:srgbClr val="1572B6"/>
                </a:solidFill>
              </a:rPr>
              <a:t>• </a:t>
            </a:r>
            <a:r>
              <a:rPr lang="en" sz="1600">
                <a:solidFill>
                  <a:schemeClr val="dk1"/>
                </a:solidFill>
              </a:rPr>
              <a:t>Input prices - Assumed fixed</a:t>
            </a:r>
            <a:endParaRPr/>
          </a:p>
        </p:txBody>
      </p:sp>
      <p:pic>
        <p:nvPicPr>
          <p:cNvPr id="275" name="Google Shape;27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4323" y="1334144"/>
            <a:ext cx="5276925" cy="114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 Run Total Cost = SR Variable Cost + SR Fixed Cost</a:t>
            </a:r>
            <a:endParaRPr/>
          </a:p>
        </p:txBody>
      </p:sp>
      <p:sp>
        <p:nvSpPr>
          <p:cNvPr id="281" name="Google Shape;281;p45"/>
          <p:cNvSpPr txBox="1">
            <a:spLocks noGrp="1"/>
          </p:cNvSpPr>
          <p:nvPr>
            <p:ph type="body" idx="1"/>
          </p:nvPr>
        </p:nvSpPr>
        <p:spPr>
          <a:xfrm>
            <a:off x="317756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4775" lvl="0" indent="0" algn="l" rtl="0"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en" sz="1950" u="sng" dirty="0">
                <a:solidFill>
                  <a:schemeClr val="dk1"/>
                </a:solidFill>
              </a:rPr>
              <a:t>1.  Total variable cost of </a:t>
            </a:r>
            <a:r>
              <a:rPr lang="en" sz="1950" u="sng" dirty="0">
                <a:solidFill>
                  <a:schemeClr val="tx1"/>
                </a:solidFill>
              </a:rPr>
              <a:t>production, STVC</a:t>
            </a:r>
            <a:endParaRPr sz="1950" u="sng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 dirty="0">
                <a:solidFill>
                  <a:schemeClr val="dk1"/>
                </a:solidFill>
              </a:rPr>
              <a:t>In this example, STVC=Total worker wage bill = Wage rate * the number of nurse-hours</a:t>
            </a:r>
            <a:endParaRPr sz="16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dirty="0">
                <a:solidFill>
                  <a:srgbClr val="FB0007"/>
                </a:solidFill>
              </a:rPr>
              <a:t>Responds to changes in the level of output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 dirty="0">
                <a:solidFill>
                  <a:schemeClr val="dk1"/>
                </a:solidFill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 dirty="0">
                <a:solidFill>
                  <a:schemeClr val="dk1"/>
                </a:solidFill>
              </a:rPr>
              <a:t> </a:t>
            </a:r>
            <a:r>
              <a:rPr lang="en" sz="1950" u="sng" dirty="0">
                <a:solidFill>
                  <a:schemeClr val="dk1"/>
                </a:solidFill>
              </a:rPr>
              <a:t>2. Total fixed costs of production, STFC</a:t>
            </a:r>
            <a:endParaRPr sz="1950" u="sng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 dirty="0">
                <a:solidFill>
                  <a:schemeClr val="dk1"/>
                </a:solidFill>
              </a:rPr>
              <a:t>In this example, STFC=Rental price * the quantity of capital</a:t>
            </a:r>
            <a:endParaRPr sz="16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50" dirty="0">
                <a:solidFill>
                  <a:srgbClr val="FB0007"/>
                </a:solidFill>
              </a:rPr>
              <a:t>Does NOT respond to changes in output</a:t>
            </a:r>
            <a:endParaRPr sz="1650" dirty="0">
              <a:solidFill>
                <a:srgbClr val="FB0007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741" y="0"/>
            <a:ext cx="801052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6"/>
          <p:cNvSpPr/>
          <p:nvPr/>
        </p:nvSpPr>
        <p:spPr>
          <a:xfrm>
            <a:off x="0" y="4517400"/>
            <a:ext cx="975000" cy="626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46"/>
          <p:cNvSpPr/>
          <p:nvPr/>
        </p:nvSpPr>
        <p:spPr>
          <a:xfrm>
            <a:off x="311700" y="4848700"/>
            <a:ext cx="1019700" cy="294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Relationship between TPC &amp; STC</a:t>
            </a:r>
            <a:endParaRPr/>
          </a:p>
        </p:txBody>
      </p:sp>
      <p:sp>
        <p:nvSpPr>
          <p:cNvPr id="294" name="Google Shape;294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50" dirty="0">
                <a:solidFill>
                  <a:schemeClr val="dk1"/>
                </a:solidFill>
              </a:rPr>
              <a:t>Relationship between STC and TP</a:t>
            </a:r>
            <a:endParaRPr sz="16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dirty="0">
                <a:solidFill>
                  <a:srgbClr val="1572B6"/>
                </a:solidFill>
              </a:rPr>
              <a:t>• </a:t>
            </a:r>
            <a:r>
              <a:rPr lang="en" sz="1650" dirty="0">
                <a:solidFill>
                  <a:schemeClr val="dk1"/>
                </a:solidFill>
              </a:rPr>
              <a:t>When TP is increasing at an increasing rate</a:t>
            </a:r>
            <a:endParaRPr sz="16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dirty="0">
                <a:solidFill>
                  <a:srgbClr val="1572B6"/>
                </a:solidFill>
              </a:rPr>
              <a:t>• </a:t>
            </a:r>
            <a:r>
              <a:rPr lang="en" sz="1450" dirty="0">
                <a:solidFill>
                  <a:schemeClr val="dk1"/>
                </a:solidFill>
              </a:rPr>
              <a:t>STC – increasing at a decreasing rate</a:t>
            </a:r>
            <a:endParaRPr sz="14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dirty="0">
                <a:solidFill>
                  <a:srgbClr val="1572B6"/>
                </a:solidFill>
              </a:rPr>
              <a:t>• </a:t>
            </a:r>
            <a:r>
              <a:rPr lang="en" sz="1650" dirty="0">
                <a:solidFill>
                  <a:schemeClr val="dk1"/>
                </a:solidFill>
              </a:rPr>
              <a:t>When TP increasing at a decreasing rate</a:t>
            </a:r>
            <a:endParaRPr sz="16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 dirty="0">
                <a:solidFill>
                  <a:schemeClr val="dk1"/>
                </a:solidFill>
              </a:rPr>
              <a:t>22</a:t>
            </a:r>
            <a:r>
              <a:rPr lang="en" sz="2100" dirty="0">
                <a:solidFill>
                  <a:srgbClr val="1572B6"/>
                </a:solidFill>
              </a:rPr>
              <a:t>• </a:t>
            </a:r>
            <a:r>
              <a:rPr lang="en" sz="1450" dirty="0">
                <a:solidFill>
                  <a:schemeClr val="dk1"/>
                </a:solidFill>
              </a:rPr>
              <a:t>STC - increasing at an increasing rate</a:t>
            </a:r>
            <a:endParaRPr sz="145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 Run Per unit Cost of Production </a:t>
            </a:r>
            <a:endParaRPr/>
          </a:p>
        </p:txBody>
      </p:sp>
      <p:sp>
        <p:nvSpPr>
          <p:cNvPr id="300" name="Google Shape;300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</a:rPr>
              <a:t>Short-run </a:t>
            </a:r>
            <a:r>
              <a:rPr lang="en" sz="2000" dirty="0">
                <a:solidFill>
                  <a:schemeClr val="accent1">
                    <a:lumMod val="50000"/>
                  </a:schemeClr>
                </a:solidFill>
              </a:rPr>
              <a:t>MARGINAL</a:t>
            </a:r>
            <a:r>
              <a:rPr lang="en" sz="2000" dirty="0">
                <a:solidFill>
                  <a:srgbClr val="FB0007"/>
                </a:solidFill>
              </a:rPr>
              <a:t> </a:t>
            </a:r>
            <a:r>
              <a:rPr lang="en" sz="2000" dirty="0">
                <a:solidFill>
                  <a:schemeClr val="dk1"/>
                </a:solidFill>
              </a:rPr>
              <a:t>costs: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</a:rPr>
              <a:t>SMC = Change in total costs associated with a one-unit change in output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01" name="Google Shape;30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2620" y="2478395"/>
            <a:ext cx="6404748" cy="145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08" name="Google Shape;30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658"/>
            <a:ext cx="9144003" cy="4612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2053</Words>
  <Application>Microsoft Office PowerPoint</Application>
  <PresentationFormat>On-screen Show (16:9)</PresentationFormat>
  <Paragraphs>210</Paragraphs>
  <Slides>44</Slides>
  <Notes>41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Roboto</vt:lpstr>
      <vt:lpstr>Wingdings</vt:lpstr>
      <vt:lpstr>Simple Light</vt:lpstr>
      <vt:lpstr>Week 3: Healthcare Supply </vt:lpstr>
      <vt:lpstr>Week 3: Outline</vt:lpstr>
      <vt:lpstr>Announcements</vt:lpstr>
      <vt:lpstr>Last Week Recap: Demand Curve for Physician Services</vt:lpstr>
      <vt:lpstr>Today’s Focus: Medical Care Production &amp; Costs </vt:lpstr>
      <vt:lpstr>But first, let’s back up: Firms maximize profit </vt:lpstr>
      <vt:lpstr>Production Function </vt:lpstr>
      <vt:lpstr>Production Function </vt:lpstr>
      <vt:lpstr>Isoquant</vt:lpstr>
      <vt:lpstr>Isocost</vt:lpstr>
      <vt:lpstr>How do firms maximize profit (graphically)?</vt:lpstr>
      <vt:lpstr>How do firms maximize profit (graphically)?</vt:lpstr>
      <vt:lpstr>Firms maximize profit </vt:lpstr>
      <vt:lpstr>Fixed vs. Variable Costs </vt:lpstr>
      <vt:lpstr>Fixed vs. Variable Costs </vt:lpstr>
      <vt:lpstr>Some relevant concepts </vt:lpstr>
      <vt:lpstr>Average vs. Marginal Costs </vt:lpstr>
      <vt:lpstr>From Isocost to Supply Curve </vt:lpstr>
      <vt:lpstr>From Isocost to Supply Curve </vt:lpstr>
      <vt:lpstr>From Isocost to Supply Curve </vt:lpstr>
      <vt:lpstr>Costs &amp; Productivity </vt:lpstr>
      <vt:lpstr>Production Function </vt:lpstr>
      <vt:lpstr>Attendance</vt:lpstr>
      <vt:lpstr>Supply Curve </vt:lpstr>
      <vt:lpstr>Supply Shifters</vt:lpstr>
      <vt:lpstr>Supply Curve </vt:lpstr>
      <vt:lpstr>Elasticity of supply </vt:lpstr>
      <vt:lpstr>Break </vt:lpstr>
      <vt:lpstr>SR Production Function of a Medical Firm - Assumptions</vt:lpstr>
      <vt:lpstr>Short Run Production Function of a Medical Firm </vt:lpstr>
      <vt:lpstr>Short Run Production Function of a Medical Firm  </vt:lpstr>
      <vt:lpstr>Short Run Production Function of a Medical Firm </vt:lpstr>
      <vt:lpstr>Marginal Product </vt:lpstr>
      <vt:lpstr>Marginal Product </vt:lpstr>
      <vt:lpstr>Average Product </vt:lpstr>
      <vt:lpstr>Marginal vs. Average Product </vt:lpstr>
      <vt:lpstr>Marginal vs. Average Product </vt:lpstr>
      <vt:lpstr>Back to Costs </vt:lpstr>
      <vt:lpstr>Back to Cost: Short Run Total Cost Function </vt:lpstr>
      <vt:lpstr>Short Run Total Cost = SR Variable Cost + SR Fixed Cost</vt:lpstr>
      <vt:lpstr>PowerPoint Presentation</vt:lpstr>
      <vt:lpstr>Relationship between TPC &amp; STC</vt:lpstr>
      <vt:lpstr>Short Run Per unit Cost of Production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Booboo</dc:creator>
  <cp:lastModifiedBy>Boualam, Nada</cp:lastModifiedBy>
  <cp:revision>3</cp:revision>
  <dcterms:modified xsi:type="dcterms:W3CDTF">2026-02-04T22:34:14Z</dcterms:modified>
</cp:coreProperties>
</file>