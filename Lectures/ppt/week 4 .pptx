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54"/>
  </p:notesMasterIdLst>
  <p:sldIdLst>
    <p:sldId id="256" r:id="rId2"/>
    <p:sldId id="257" r:id="rId3"/>
    <p:sldId id="259" r:id="rId4"/>
    <p:sldId id="258" r:id="rId5"/>
    <p:sldId id="348" r:id="rId6"/>
    <p:sldId id="260" r:id="rId7"/>
    <p:sldId id="262" r:id="rId8"/>
    <p:sldId id="340" r:id="rId9"/>
    <p:sldId id="263" r:id="rId10"/>
    <p:sldId id="341" r:id="rId11"/>
    <p:sldId id="342" r:id="rId12"/>
    <p:sldId id="347" r:id="rId13"/>
    <p:sldId id="343" r:id="rId14"/>
    <p:sldId id="345" r:id="rId15"/>
    <p:sldId id="265" r:id="rId16"/>
    <p:sldId id="346" r:id="rId17"/>
    <p:sldId id="349" r:id="rId18"/>
    <p:sldId id="350" r:id="rId19"/>
    <p:sldId id="368" r:id="rId20"/>
    <p:sldId id="268" r:id="rId21"/>
    <p:sldId id="351" r:id="rId22"/>
    <p:sldId id="264" r:id="rId23"/>
    <p:sldId id="266" r:id="rId24"/>
    <p:sldId id="352" r:id="rId25"/>
    <p:sldId id="353" r:id="rId26"/>
    <p:sldId id="355" r:id="rId27"/>
    <p:sldId id="354" r:id="rId28"/>
    <p:sldId id="356" r:id="rId29"/>
    <p:sldId id="269" r:id="rId30"/>
    <p:sldId id="270" r:id="rId31"/>
    <p:sldId id="271" r:id="rId32"/>
    <p:sldId id="277" r:id="rId33"/>
    <p:sldId id="272" r:id="rId34"/>
    <p:sldId id="273" r:id="rId35"/>
    <p:sldId id="357" r:id="rId36"/>
    <p:sldId id="359" r:id="rId37"/>
    <p:sldId id="360" r:id="rId38"/>
    <p:sldId id="367" r:id="rId39"/>
    <p:sldId id="361" r:id="rId40"/>
    <p:sldId id="362" r:id="rId41"/>
    <p:sldId id="363" r:id="rId42"/>
    <p:sldId id="366" r:id="rId43"/>
    <p:sldId id="369" r:id="rId44"/>
    <p:sldId id="370" r:id="rId45"/>
    <p:sldId id="371" r:id="rId46"/>
    <p:sldId id="372" r:id="rId47"/>
    <p:sldId id="274" r:id="rId48"/>
    <p:sldId id="373" r:id="rId49"/>
    <p:sldId id="374" r:id="rId50"/>
    <p:sldId id="375" r:id="rId51"/>
    <p:sldId id="276" r:id="rId52"/>
    <p:sldId id="275"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7F8260-E600-4ACD-B9FC-15309FF2F85A}" v="149" dt="2026-02-11T21:46:47.5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5" autoAdjust="0"/>
    <p:restoredTop sz="61909" autoAdjust="0"/>
  </p:normalViewPr>
  <p:slideViewPr>
    <p:cSldViewPr snapToGrid="0">
      <p:cViewPr varScale="1">
        <p:scale>
          <a:sx n="76" d="100"/>
          <a:sy n="76" d="100"/>
        </p:scale>
        <p:origin x="108" y="4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Booboo\AppData\Roaming\Microsoft\Excel\HW2-q1%20(version%201).xlsb"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6083888569593736E-2"/>
          <c:y val="4.9217002237136466E-2"/>
          <c:w val="0.87184689385054936"/>
          <c:h val="0.84698761648082577"/>
        </c:manualLayout>
      </c:layout>
      <c:scatterChart>
        <c:scatterStyle val="lineMarker"/>
        <c:varyColors val="0"/>
        <c:ser>
          <c:idx val="0"/>
          <c:order val="0"/>
          <c:tx>
            <c:strRef>
              <c:f>Sheet1!$C$2</c:f>
              <c:strCache>
                <c:ptCount val="1"/>
                <c:pt idx="0">
                  <c:v>Q</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Sheet1!$B$3:$B$8</c:f>
              <c:numCache>
                <c:formatCode>General</c:formatCode>
                <c:ptCount val="6"/>
                <c:pt idx="0">
                  <c:v>400</c:v>
                </c:pt>
                <c:pt idx="1">
                  <c:v>200</c:v>
                </c:pt>
                <c:pt idx="2">
                  <c:v>100</c:v>
                </c:pt>
                <c:pt idx="3">
                  <c:v>50</c:v>
                </c:pt>
                <c:pt idx="4">
                  <c:v>25</c:v>
                </c:pt>
              </c:numCache>
            </c:numRef>
          </c:xVal>
          <c:yVal>
            <c:numRef>
              <c:f>Sheet1!$A$3:$A$8</c:f>
              <c:numCache>
                <c:formatCode>General</c:formatCode>
                <c:ptCount val="6"/>
                <c:pt idx="0">
                  <c:v>25</c:v>
                </c:pt>
                <c:pt idx="1">
                  <c:v>50</c:v>
                </c:pt>
                <c:pt idx="2">
                  <c:v>100</c:v>
                </c:pt>
                <c:pt idx="3">
                  <c:v>200</c:v>
                </c:pt>
                <c:pt idx="4">
                  <c:v>400</c:v>
                </c:pt>
              </c:numCache>
            </c:numRef>
          </c:yVal>
          <c:smooth val="0"/>
          <c:extLst>
            <c:ext xmlns:c16="http://schemas.microsoft.com/office/drawing/2014/chart" uri="{C3380CC4-5D6E-409C-BE32-E72D297353CC}">
              <c16:uniqueId val="{00000000-0389-4F45-8902-E492DA94C978}"/>
            </c:ext>
          </c:extLst>
        </c:ser>
        <c:ser>
          <c:idx val="1"/>
          <c:order val="1"/>
          <c:tx>
            <c:strRef>
              <c:f>Sheet1!$C$10</c:f>
              <c:strCache>
                <c:ptCount val="1"/>
                <c:pt idx="0">
                  <c:v>B</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Sheet1!$B$11:$B$16</c:f>
              <c:numCache>
                <c:formatCode>General</c:formatCode>
                <c:ptCount val="6"/>
                <c:pt idx="0">
                  <c:v>0</c:v>
                </c:pt>
                <c:pt idx="1">
                  <c:v>50</c:v>
                </c:pt>
                <c:pt idx="2">
                  <c:v>100</c:v>
                </c:pt>
                <c:pt idx="3">
                  <c:v>150</c:v>
                </c:pt>
                <c:pt idx="4">
                  <c:v>200</c:v>
                </c:pt>
              </c:numCache>
            </c:numRef>
          </c:xVal>
          <c:yVal>
            <c:numRef>
              <c:f>Sheet1!$A$11:$A$16</c:f>
              <c:numCache>
                <c:formatCode>General</c:formatCode>
                <c:ptCount val="6"/>
                <c:pt idx="0">
                  <c:v>200</c:v>
                </c:pt>
                <c:pt idx="1">
                  <c:v>150</c:v>
                </c:pt>
                <c:pt idx="2">
                  <c:v>100</c:v>
                </c:pt>
                <c:pt idx="3">
                  <c:v>50</c:v>
                </c:pt>
                <c:pt idx="4">
                  <c:v>0</c:v>
                </c:pt>
              </c:numCache>
            </c:numRef>
          </c:yVal>
          <c:smooth val="0"/>
          <c:extLst>
            <c:ext xmlns:c16="http://schemas.microsoft.com/office/drawing/2014/chart" uri="{C3380CC4-5D6E-409C-BE32-E72D297353CC}">
              <c16:uniqueId val="{00000001-0389-4F45-8902-E492DA94C978}"/>
            </c:ext>
          </c:extLst>
        </c:ser>
        <c:ser>
          <c:idx val="2"/>
          <c:order val="2"/>
          <c:tx>
            <c:v>newB</c:v>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Sheet1!$B$19:$B$23</c:f>
              <c:numCache>
                <c:formatCode>General</c:formatCode>
                <c:ptCount val="5"/>
              </c:numCache>
            </c:numRef>
          </c:xVal>
          <c:yVal>
            <c:numRef>
              <c:f>Sheet1!$A$19:$A$23</c:f>
              <c:numCache>
                <c:formatCode>General</c:formatCode>
                <c:ptCount val="5"/>
              </c:numCache>
            </c:numRef>
          </c:yVal>
          <c:smooth val="0"/>
          <c:extLst>
            <c:ext xmlns:c16="http://schemas.microsoft.com/office/drawing/2014/chart" uri="{C3380CC4-5D6E-409C-BE32-E72D297353CC}">
              <c16:uniqueId val="{00000002-0389-4F45-8902-E492DA94C978}"/>
            </c:ext>
          </c:extLst>
        </c:ser>
        <c:dLbls>
          <c:showLegendKey val="0"/>
          <c:showVal val="0"/>
          <c:showCatName val="0"/>
          <c:showSerName val="0"/>
          <c:showPercent val="0"/>
          <c:showBubbleSize val="0"/>
        </c:dLbls>
        <c:axId val="577068687"/>
        <c:axId val="577061615"/>
      </c:scatterChart>
      <c:valAx>
        <c:axId val="577068687"/>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7061615"/>
        <c:crosses val="autoZero"/>
        <c:crossBetween val="midCat"/>
      </c:valAx>
      <c:valAx>
        <c:axId val="577061615"/>
        <c:scaling>
          <c:orientation val="minMax"/>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7068687"/>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188E8C-8B92-448A-B477-7B34F5436810}"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1E7D9-CDBC-43ED-B2AC-C42CC271B3BD}" type="slidenum">
              <a:rPr lang="en-US" smtClean="0"/>
              <a:t>‹#›</a:t>
            </a:fld>
            <a:endParaRPr lang="en-US"/>
          </a:p>
        </p:txBody>
      </p:sp>
    </p:spTree>
    <p:extLst>
      <p:ext uri="{BB962C8B-B14F-4D97-AF65-F5344CB8AC3E}">
        <p14:creationId xmlns:p14="http://schemas.microsoft.com/office/powerpoint/2010/main" val="2920265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patients choose to attend the vaccination clinic, they are giving up other </a:t>
            </a:r>
          </a:p>
          <a:p>
            <a:r>
              <a:rPr lang="en-US" dirty="0"/>
              <a:t>activities they could be doing during that time, such as working, studying, or engaging in leisure </a:t>
            </a:r>
          </a:p>
          <a:p>
            <a:r>
              <a:rPr lang="en-US" dirty="0"/>
              <a:t>activities. The time spent waiting for the vaccinations has value, and this represents an </a:t>
            </a:r>
          </a:p>
          <a:p>
            <a:r>
              <a:rPr lang="en-US" dirty="0"/>
              <a:t>opportunity cost. Even though the vaccinations themselves do not have a monetary cost, the time </a:t>
            </a:r>
          </a:p>
          <a:p>
            <a:r>
              <a:rPr lang="en-US" dirty="0"/>
              <a:t>and resources spent to acquire them come at a cost: the loss of alternative activities.</a:t>
            </a:r>
          </a:p>
        </p:txBody>
      </p:sp>
      <p:sp>
        <p:nvSpPr>
          <p:cNvPr id="4" name="Slide Number Placeholder 3"/>
          <p:cNvSpPr>
            <a:spLocks noGrp="1"/>
          </p:cNvSpPr>
          <p:nvPr>
            <p:ph type="sldNum" sz="quarter" idx="5"/>
          </p:nvPr>
        </p:nvSpPr>
        <p:spPr/>
        <p:txBody>
          <a:bodyPr/>
          <a:lstStyle/>
          <a:p>
            <a:fld id="{0261E7D9-CDBC-43ED-B2AC-C42CC271B3BD}" type="slidenum">
              <a:rPr lang="en-US" smtClean="0"/>
              <a:t>4</a:t>
            </a:fld>
            <a:endParaRPr lang="en-US"/>
          </a:p>
        </p:txBody>
      </p:sp>
    </p:spTree>
    <p:extLst>
      <p:ext uri="{BB962C8B-B14F-4D97-AF65-F5344CB8AC3E}">
        <p14:creationId xmlns:p14="http://schemas.microsoft.com/office/powerpoint/2010/main" val="3823053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B7193-44DB-086C-C74A-AD50BEF41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57AB5-5782-B95C-8041-8C49C3F95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FF5036-1CA3-94AB-C49D-CD596E3DE7F6}"/>
              </a:ext>
            </a:extLst>
          </p:cNvPr>
          <p:cNvSpPr>
            <a:spLocks noGrp="1"/>
          </p:cNvSpPr>
          <p:nvPr>
            <p:ph type="body" idx="1"/>
          </p:nvPr>
        </p:nvSpPr>
        <p:spPr/>
        <p:txBody>
          <a:bodyPr/>
          <a:lstStyle/>
          <a:p>
            <a:r>
              <a:rPr lang="en-US" dirty="0"/>
              <a:t>When patients choose to attend the vaccination clinic, they are giving up other </a:t>
            </a:r>
          </a:p>
          <a:p>
            <a:r>
              <a:rPr lang="en-US" dirty="0"/>
              <a:t>activities they could be doing during that time, such as working, studying, or engaging in leisure </a:t>
            </a:r>
          </a:p>
          <a:p>
            <a:r>
              <a:rPr lang="en-US" dirty="0"/>
              <a:t>activities. The time spent waiting for the vaccinations has value, and this represents an </a:t>
            </a:r>
          </a:p>
          <a:p>
            <a:r>
              <a:rPr lang="en-US" dirty="0"/>
              <a:t>opportunity cost. Even though the vaccinations themselves do not have a monetary cost, the time </a:t>
            </a:r>
          </a:p>
          <a:p>
            <a:r>
              <a:rPr lang="en-US" dirty="0"/>
              <a:t>and resources spent to acquire them come at a cost: the loss of alternative activities.</a:t>
            </a:r>
          </a:p>
        </p:txBody>
      </p:sp>
      <p:sp>
        <p:nvSpPr>
          <p:cNvPr id="4" name="Slide Number Placeholder 3">
            <a:extLst>
              <a:ext uri="{FF2B5EF4-FFF2-40B4-BE49-F238E27FC236}">
                <a16:creationId xmlns:a16="http://schemas.microsoft.com/office/drawing/2014/main" id="{3731902F-D6D1-FD30-6470-3B48B1AC3E77}"/>
              </a:ext>
            </a:extLst>
          </p:cNvPr>
          <p:cNvSpPr>
            <a:spLocks noGrp="1"/>
          </p:cNvSpPr>
          <p:nvPr>
            <p:ph type="sldNum" sz="quarter" idx="5"/>
          </p:nvPr>
        </p:nvSpPr>
        <p:spPr/>
        <p:txBody>
          <a:bodyPr/>
          <a:lstStyle/>
          <a:p>
            <a:fld id="{0261E7D9-CDBC-43ED-B2AC-C42CC271B3BD}" type="slidenum">
              <a:rPr lang="en-US" smtClean="0"/>
              <a:t>5</a:t>
            </a:fld>
            <a:endParaRPr lang="en-US"/>
          </a:p>
        </p:txBody>
      </p:sp>
    </p:spTree>
    <p:extLst>
      <p:ext uri="{BB962C8B-B14F-4D97-AF65-F5344CB8AC3E}">
        <p14:creationId xmlns:p14="http://schemas.microsoft.com/office/powerpoint/2010/main" val="15264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2AA5A-512A-B1C5-688B-2284AC5B2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EBFAD-D06D-C4C6-32CB-6E0FD9486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B72FDE-2444-62C5-4794-9F61BF86C5A3}"/>
              </a:ext>
            </a:extLst>
          </p:cNvPr>
          <p:cNvSpPr>
            <a:spLocks noGrp="1"/>
          </p:cNvSpPr>
          <p:nvPr>
            <p:ph type="body" idx="1"/>
          </p:nvPr>
        </p:nvSpPr>
        <p:spPr/>
        <p:txBody>
          <a:bodyPr/>
          <a:lstStyle/>
          <a:p>
            <a:r>
              <a:rPr lang="en-US" dirty="0"/>
              <a:t>When patients choose to attend the vaccination clinic, they are giving up other </a:t>
            </a:r>
          </a:p>
          <a:p>
            <a:r>
              <a:rPr lang="en-US" dirty="0"/>
              <a:t>activities they could be doing during that time, such as working, studying, or engaging in leisure </a:t>
            </a:r>
          </a:p>
          <a:p>
            <a:r>
              <a:rPr lang="en-US" dirty="0"/>
              <a:t>activities. The time spent waiting for the vaccinations has value, and this represents an </a:t>
            </a:r>
          </a:p>
          <a:p>
            <a:r>
              <a:rPr lang="en-US" dirty="0"/>
              <a:t>opportunity cost. Even though the vaccinations themselves do not have a monetary cost, the time </a:t>
            </a:r>
          </a:p>
          <a:p>
            <a:r>
              <a:rPr lang="en-US" dirty="0"/>
              <a:t>and resources spent to acquire them come at a cost: the loss of alternative activities.</a:t>
            </a:r>
          </a:p>
        </p:txBody>
      </p:sp>
      <p:sp>
        <p:nvSpPr>
          <p:cNvPr id="4" name="Slide Number Placeholder 3">
            <a:extLst>
              <a:ext uri="{FF2B5EF4-FFF2-40B4-BE49-F238E27FC236}">
                <a16:creationId xmlns:a16="http://schemas.microsoft.com/office/drawing/2014/main" id="{C80605CF-BE03-65FC-A4AD-6A0821FB048A}"/>
              </a:ext>
            </a:extLst>
          </p:cNvPr>
          <p:cNvSpPr>
            <a:spLocks noGrp="1"/>
          </p:cNvSpPr>
          <p:nvPr>
            <p:ph type="sldNum" sz="quarter" idx="5"/>
          </p:nvPr>
        </p:nvSpPr>
        <p:spPr/>
        <p:txBody>
          <a:bodyPr/>
          <a:lstStyle/>
          <a:p>
            <a:fld id="{0261E7D9-CDBC-43ED-B2AC-C42CC271B3BD}" type="slidenum">
              <a:rPr lang="en-US" smtClean="0"/>
              <a:t>6</a:t>
            </a:fld>
            <a:endParaRPr lang="en-US"/>
          </a:p>
        </p:txBody>
      </p:sp>
    </p:spTree>
    <p:extLst>
      <p:ext uri="{BB962C8B-B14F-4D97-AF65-F5344CB8AC3E}">
        <p14:creationId xmlns:p14="http://schemas.microsoft.com/office/powerpoint/2010/main" val="1951667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A242B-0378-7C2E-60AE-4B44EB3B3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F8DF4-2555-42C9-2142-55E7DB5D3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B4C97D-CC7D-9398-9F04-3A591A2DB03F}"/>
              </a:ext>
            </a:extLst>
          </p:cNvPr>
          <p:cNvSpPr>
            <a:spLocks noGrp="1"/>
          </p:cNvSpPr>
          <p:nvPr>
            <p:ph type="body" idx="1"/>
          </p:nvPr>
        </p:nvSpPr>
        <p:spPr/>
        <p:txBody>
          <a:bodyPr/>
          <a:lstStyle/>
          <a:p>
            <a:r>
              <a:rPr lang="en-US" dirty="0"/>
              <a:t>When patients choose to attend the vaccination clinic, they are giving up other </a:t>
            </a:r>
          </a:p>
          <a:p>
            <a:r>
              <a:rPr lang="en-US" dirty="0"/>
              <a:t>activities they could be doing during that time, such as working, studying, or engaging in leisure </a:t>
            </a:r>
          </a:p>
          <a:p>
            <a:r>
              <a:rPr lang="en-US" dirty="0"/>
              <a:t>activities. The time spent waiting for the vaccinations has value, and this represents an </a:t>
            </a:r>
          </a:p>
          <a:p>
            <a:r>
              <a:rPr lang="en-US" dirty="0"/>
              <a:t>opportunity cost. Even though the vaccinations themselves do not have a monetary cost, the time </a:t>
            </a:r>
          </a:p>
          <a:p>
            <a:r>
              <a:rPr lang="en-US" dirty="0"/>
              <a:t>and resources spent to acquire them come at a cost: the loss of alternative activities.</a:t>
            </a:r>
          </a:p>
        </p:txBody>
      </p:sp>
      <p:sp>
        <p:nvSpPr>
          <p:cNvPr id="4" name="Slide Number Placeholder 3">
            <a:extLst>
              <a:ext uri="{FF2B5EF4-FFF2-40B4-BE49-F238E27FC236}">
                <a16:creationId xmlns:a16="http://schemas.microsoft.com/office/drawing/2014/main" id="{1DD35CF1-268F-CDDC-E985-83068E6D06ED}"/>
              </a:ext>
            </a:extLst>
          </p:cNvPr>
          <p:cNvSpPr>
            <a:spLocks noGrp="1"/>
          </p:cNvSpPr>
          <p:nvPr>
            <p:ph type="sldNum" sz="quarter" idx="5"/>
          </p:nvPr>
        </p:nvSpPr>
        <p:spPr/>
        <p:txBody>
          <a:bodyPr/>
          <a:lstStyle/>
          <a:p>
            <a:fld id="{0261E7D9-CDBC-43ED-B2AC-C42CC271B3BD}" type="slidenum">
              <a:rPr lang="en-US" smtClean="0"/>
              <a:t>7</a:t>
            </a:fld>
            <a:endParaRPr lang="en-US"/>
          </a:p>
        </p:txBody>
      </p:sp>
    </p:spTree>
    <p:extLst>
      <p:ext uri="{BB962C8B-B14F-4D97-AF65-F5344CB8AC3E}">
        <p14:creationId xmlns:p14="http://schemas.microsoft.com/office/powerpoint/2010/main" val="2965717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a:t>
            </a:r>
            <a:r>
              <a:rPr lang="en-US" sz="1200" b="1" i="0" kern="1200" dirty="0">
                <a:solidFill>
                  <a:schemeClr val="tx1"/>
                </a:solidFill>
                <a:effectLst/>
                <a:latin typeface="+mn-lt"/>
                <a:ea typeface="+mn-ea"/>
                <a:cs typeface="+mn-cs"/>
              </a:rPr>
              <a:t>aw of supply</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there is a positive relationship between the price of a good or service and the amount of it that suppliers are willing to produce</a:t>
            </a:r>
            <a:endParaRPr lang="en-US" dirty="0"/>
          </a:p>
          <a:p>
            <a:endParaRPr lang="en-US" dirty="0"/>
          </a:p>
          <a:p>
            <a:r>
              <a:rPr lang="en-US" sz="1200" b="0" i="0" kern="1200" dirty="0">
                <a:solidFill>
                  <a:schemeClr val="tx1"/>
                </a:solidFill>
                <a:effectLst/>
                <a:latin typeface="+mn-lt"/>
                <a:ea typeface="+mn-ea"/>
                <a:cs typeface="+mn-cs"/>
              </a:rPr>
              <a:t>So, the supply curve is a relationship that tells us the minimum amount that a firm is willing to accept for selling a unit of a good. What is this minimum amount? Well, if you are a firm, and you need to make one more unit of a good, then the cost to you of that good is the marginal cost of that good. To make the good, you need to recover, at a minimum, your marginal cost. </a:t>
            </a:r>
            <a:r>
              <a:rPr lang="en-US" sz="1200" b="0" i="1" kern="1200" dirty="0">
                <a:solidFill>
                  <a:schemeClr val="tx1"/>
                </a:solidFill>
                <a:effectLst/>
                <a:latin typeface="+mn-lt"/>
                <a:ea typeface="+mn-ea"/>
                <a:cs typeface="+mn-cs"/>
              </a:rPr>
              <a:t>Therefore, the supply curve IS the marginal cost curve</a:t>
            </a:r>
            <a:r>
              <a:rPr lang="en-US" sz="1200" b="0" i="0" kern="1200" dirty="0">
                <a:solidFill>
                  <a:schemeClr val="tx1"/>
                </a:solidFill>
                <a:effectLst/>
                <a:latin typeface="+mn-lt"/>
                <a:ea typeface="+mn-ea"/>
                <a:cs typeface="+mn-cs"/>
              </a:rPr>
              <a:t>.</a:t>
            </a:r>
            <a:endParaRPr lang="en-US" dirty="0"/>
          </a:p>
          <a:p>
            <a:endParaRPr lang="en-US" dirty="0"/>
          </a:p>
          <a:p>
            <a:endParaRPr lang="en-US" dirty="0"/>
          </a:p>
          <a:p>
            <a:r>
              <a:rPr lang="en-US" dirty="0"/>
              <a:t>So, in order to find the supply curve (function), we need to extract the marginal cost from the total cost function. This graph tells us if the price is $15, this producer is willing to produce 7 unites of the good. Or, for example, the minimum amount of money that this producer is willing to exchange for producing 4 units, is $9.</a:t>
            </a:r>
          </a:p>
        </p:txBody>
      </p:sp>
      <p:sp>
        <p:nvSpPr>
          <p:cNvPr id="4" name="Slide Number Placeholder 3"/>
          <p:cNvSpPr>
            <a:spLocks noGrp="1"/>
          </p:cNvSpPr>
          <p:nvPr>
            <p:ph type="sldNum" sz="quarter" idx="5"/>
          </p:nvPr>
        </p:nvSpPr>
        <p:spPr/>
        <p:txBody>
          <a:bodyPr/>
          <a:lstStyle/>
          <a:p>
            <a:fld id="{0261E7D9-CDBC-43ED-B2AC-C42CC271B3BD}" type="slidenum">
              <a:rPr lang="en-US" smtClean="0"/>
              <a:t>11</a:t>
            </a:fld>
            <a:endParaRPr lang="en-US"/>
          </a:p>
        </p:txBody>
      </p:sp>
    </p:spTree>
    <p:extLst>
      <p:ext uri="{BB962C8B-B14F-4D97-AF65-F5344CB8AC3E}">
        <p14:creationId xmlns:p14="http://schemas.microsoft.com/office/powerpoint/2010/main" val="2968158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61E7D9-CDBC-43ED-B2AC-C42CC271B3BD}" type="slidenum">
              <a:rPr lang="en-US" smtClean="0"/>
              <a:t>21</a:t>
            </a:fld>
            <a:endParaRPr lang="en-US"/>
          </a:p>
        </p:txBody>
      </p:sp>
    </p:spTree>
    <p:extLst>
      <p:ext uri="{BB962C8B-B14F-4D97-AF65-F5344CB8AC3E}">
        <p14:creationId xmlns:p14="http://schemas.microsoft.com/office/powerpoint/2010/main" val="1722084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eq: 12 loaves at $8</a:t>
            </a:r>
          </a:p>
          <a:p>
            <a:r>
              <a:rPr lang="en-US" sz="1200" kern="1200" dirty="0">
                <a:solidFill>
                  <a:schemeClr val="tx1"/>
                </a:solidFill>
                <a:effectLst/>
                <a:latin typeface="+mn-lt"/>
                <a:ea typeface="+mn-ea"/>
                <a:cs typeface="+mn-cs"/>
              </a:rPr>
              <a:t>		- at $7 supply falls short of demand (shortage)</a:t>
            </a:r>
          </a:p>
          <a:p>
            <a:r>
              <a:rPr lang="en-US" sz="1200" kern="1200" dirty="0">
                <a:solidFill>
                  <a:schemeClr val="tx1"/>
                </a:solidFill>
                <a:effectLst/>
                <a:latin typeface="+mn-lt"/>
                <a:ea typeface="+mn-ea"/>
                <a:cs typeface="+mn-cs"/>
              </a:rPr>
              <a:t>		- at $9 supply outpaces demand (surplus)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Everybody is a </a:t>
            </a:r>
            <a:r>
              <a:rPr lang="en-US" sz="1200" b="1" kern="1200" dirty="0">
                <a:solidFill>
                  <a:schemeClr val="tx1"/>
                </a:solidFill>
                <a:effectLst/>
                <a:latin typeface="+mn-lt"/>
                <a:ea typeface="+mn-ea"/>
                <a:cs typeface="+mn-cs"/>
              </a:rPr>
              <a:t>price taker.</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261E7D9-CDBC-43ED-B2AC-C42CC271B3BD}" type="slidenum">
              <a:rPr lang="en-US" smtClean="0"/>
              <a:t>30</a:t>
            </a:fld>
            <a:endParaRPr lang="en-US"/>
          </a:p>
        </p:txBody>
      </p:sp>
    </p:spTree>
    <p:extLst>
      <p:ext uri="{BB962C8B-B14F-4D97-AF65-F5344CB8AC3E}">
        <p14:creationId xmlns:p14="http://schemas.microsoft.com/office/powerpoint/2010/main" val="4240627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“Comparative statics is about asking: if something outside the model changes, what happens to the equilibrium? We treat that change as exogenous, then compare the original equilibrium to the new one. In other words, we’re using the model to trace how a parameter shift—like a tax, a technology shock, or a preference change—feeds through to prices and quantities. That before‑and‑after comparison is the core of what we do in economic analysis.”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French report (good news about French wine, say quality or health benefits): that’s a positive demand shock. The demand curve shifts right, so the new equilibrium has a higher price and a higher quantity bought and sold.</a:t>
            </a:r>
          </a:p>
          <a:p>
            <a:endParaRPr lang="en-US" dirty="0"/>
          </a:p>
        </p:txBody>
      </p:sp>
      <p:sp>
        <p:nvSpPr>
          <p:cNvPr id="4" name="Slide Number Placeholder 3"/>
          <p:cNvSpPr>
            <a:spLocks noGrp="1"/>
          </p:cNvSpPr>
          <p:nvPr>
            <p:ph type="sldNum" sz="quarter" idx="5"/>
          </p:nvPr>
        </p:nvSpPr>
        <p:spPr/>
        <p:txBody>
          <a:bodyPr/>
          <a:lstStyle/>
          <a:p>
            <a:fld id="{0261E7D9-CDBC-43ED-B2AC-C42CC271B3BD}" type="slidenum">
              <a:rPr lang="en-US" smtClean="0"/>
              <a:t>31</a:t>
            </a:fld>
            <a:endParaRPr lang="en-US"/>
          </a:p>
        </p:txBody>
      </p:sp>
    </p:spTree>
    <p:extLst>
      <p:ext uri="{BB962C8B-B14F-4D97-AF65-F5344CB8AC3E}">
        <p14:creationId xmlns:p14="http://schemas.microsoft.com/office/powerpoint/2010/main" val="639845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D40D-E1D7-8B15-DEF4-796EE983A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9D018-5A70-F227-D1E3-36CEE0CF8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81876C-1327-4C88-D964-4174C313553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“Comparative statics is about asking: if something outside the model changes, what happens to the equilibrium? We treat that change as exogenous, then compare the original equilibrium to the new one. In other words, we’re using the model to trace how a parameter shift—like a tax, a technology shock, or a preference change—feeds through to prices and quantities. That before‑and‑after comparison is the core of what we do in economic analysis.”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French report (good news about French wine, say quality or health benefits): that’s a positive demand shock. The demand curve shifts right, so the new equilibrium has a higher price and a higher quantity bought and sold.</a:t>
            </a:r>
          </a:p>
          <a:p>
            <a:endParaRPr lang="en-US" dirty="0"/>
          </a:p>
        </p:txBody>
      </p:sp>
      <p:sp>
        <p:nvSpPr>
          <p:cNvPr id="4" name="Slide Number Placeholder 3">
            <a:extLst>
              <a:ext uri="{FF2B5EF4-FFF2-40B4-BE49-F238E27FC236}">
                <a16:creationId xmlns:a16="http://schemas.microsoft.com/office/drawing/2014/main" id="{CCB50A35-0C43-ACA8-9884-A80E4623DD9A}"/>
              </a:ext>
            </a:extLst>
          </p:cNvPr>
          <p:cNvSpPr>
            <a:spLocks noGrp="1"/>
          </p:cNvSpPr>
          <p:nvPr>
            <p:ph type="sldNum" sz="quarter" idx="5"/>
          </p:nvPr>
        </p:nvSpPr>
        <p:spPr/>
        <p:txBody>
          <a:bodyPr/>
          <a:lstStyle/>
          <a:p>
            <a:fld id="{0261E7D9-CDBC-43ED-B2AC-C42CC271B3BD}" type="slidenum">
              <a:rPr lang="en-US" smtClean="0"/>
              <a:t>32</a:t>
            </a:fld>
            <a:endParaRPr lang="en-US"/>
          </a:p>
        </p:txBody>
      </p:sp>
    </p:spTree>
    <p:extLst>
      <p:ext uri="{BB962C8B-B14F-4D97-AF65-F5344CB8AC3E}">
        <p14:creationId xmlns:p14="http://schemas.microsoft.com/office/powerpoint/2010/main" val="618114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B699B-82CD-00F3-A7A6-A95D70DD0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920DA6-9EFC-EE38-AEBE-7C5721D93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17EF4B-72A3-2A05-6FFE-7B2FDCBB0DB0}"/>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El Niño (bad weather hitting vineyards): that’s a negative supply shock. The supply curve shifts left, so the new equilibrium has a higher price but a lower quantity bought and sold.</a:t>
            </a:r>
          </a:p>
          <a:p>
            <a:endParaRPr lang="en-US" dirty="0"/>
          </a:p>
          <a:p>
            <a:endParaRPr lang="en-US" dirty="0"/>
          </a:p>
        </p:txBody>
      </p:sp>
      <p:sp>
        <p:nvSpPr>
          <p:cNvPr id="4" name="Slide Number Placeholder 3">
            <a:extLst>
              <a:ext uri="{FF2B5EF4-FFF2-40B4-BE49-F238E27FC236}">
                <a16:creationId xmlns:a16="http://schemas.microsoft.com/office/drawing/2014/main" id="{5D5A8EC5-8BFC-3515-6883-BF31825614D6}"/>
              </a:ext>
            </a:extLst>
          </p:cNvPr>
          <p:cNvSpPr>
            <a:spLocks noGrp="1"/>
          </p:cNvSpPr>
          <p:nvPr>
            <p:ph type="sldNum" sz="quarter" idx="5"/>
          </p:nvPr>
        </p:nvSpPr>
        <p:spPr/>
        <p:txBody>
          <a:bodyPr/>
          <a:lstStyle/>
          <a:p>
            <a:fld id="{0261E7D9-CDBC-43ED-B2AC-C42CC271B3BD}" type="slidenum">
              <a:rPr lang="en-US" smtClean="0"/>
              <a:t>33</a:t>
            </a:fld>
            <a:endParaRPr lang="en-US"/>
          </a:p>
        </p:txBody>
      </p:sp>
    </p:spTree>
    <p:extLst>
      <p:ext uri="{BB962C8B-B14F-4D97-AF65-F5344CB8AC3E}">
        <p14:creationId xmlns:p14="http://schemas.microsoft.com/office/powerpoint/2010/main" val="994926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something can be exogenous like the examples we talked about to </a:t>
            </a:r>
          </a:p>
          <a:p>
            <a:endParaRPr lang="en-US" dirty="0"/>
          </a:p>
          <a:p>
            <a:endParaRPr lang="en-US" dirty="0"/>
          </a:p>
          <a:p>
            <a:r>
              <a:rPr lang="en-US" dirty="0"/>
              <a:t>… or we could be dealing with different market structures </a:t>
            </a:r>
          </a:p>
        </p:txBody>
      </p:sp>
      <p:sp>
        <p:nvSpPr>
          <p:cNvPr id="4" name="Slide Number Placeholder 3"/>
          <p:cNvSpPr>
            <a:spLocks noGrp="1"/>
          </p:cNvSpPr>
          <p:nvPr>
            <p:ph type="sldNum" sz="quarter" idx="5"/>
          </p:nvPr>
        </p:nvSpPr>
        <p:spPr/>
        <p:txBody>
          <a:bodyPr/>
          <a:lstStyle/>
          <a:p>
            <a:fld id="{0261E7D9-CDBC-43ED-B2AC-C42CC271B3BD}" type="slidenum">
              <a:rPr lang="en-US" smtClean="0"/>
              <a:t>34</a:t>
            </a:fld>
            <a:endParaRPr lang="en-US"/>
          </a:p>
        </p:txBody>
      </p:sp>
    </p:spTree>
    <p:extLst>
      <p:ext uri="{BB962C8B-B14F-4D97-AF65-F5344CB8AC3E}">
        <p14:creationId xmlns:p14="http://schemas.microsoft.com/office/powerpoint/2010/main" val="2045054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61E7D9-CDBC-43ED-B2AC-C42CC271B3BD}" type="slidenum">
              <a:rPr lang="en-US" smtClean="0"/>
              <a:t>35</a:t>
            </a:fld>
            <a:endParaRPr lang="en-US"/>
          </a:p>
        </p:txBody>
      </p:sp>
    </p:spTree>
    <p:extLst>
      <p:ext uri="{BB962C8B-B14F-4D97-AF65-F5344CB8AC3E}">
        <p14:creationId xmlns:p14="http://schemas.microsoft.com/office/powerpoint/2010/main" val="392958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Someone a few weeks ago asked about diamond scarcity &amp; pricing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Diamond supply low  high price </a:t>
            </a:r>
            <a:endParaRPr lang="en-US" dirty="0"/>
          </a:p>
          <a:p>
            <a:endParaRPr lang="en-US" dirty="0"/>
          </a:p>
        </p:txBody>
      </p:sp>
      <p:sp>
        <p:nvSpPr>
          <p:cNvPr id="4" name="Slide Number Placeholder 3"/>
          <p:cNvSpPr>
            <a:spLocks noGrp="1"/>
          </p:cNvSpPr>
          <p:nvPr>
            <p:ph type="sldNum" sz="quarter" idx="5"/>
          </p:nvPr>
        </p:nvSpPr>
        <p:spPr/>
        <p:txBody>
          <a:bodyPr/>
          <a:lstStyle/>
          <a:p>
            <a:fld id="{0261E7D9-CDBC-43ED-B2AC-C42CC271B3BD}" type="slidenum">
              <a:rPr lang="en-US" smtClean="0"/>
              <a:t>36</a:t>
            </a:fld>
            <a:endParaRPr lang="en-US"/>
          </a:p>
        </p:txBody>
      </p:sp>
    </p:spTree>
    <p:extLst>
      <p:ext uri="{BB962C8B-B14F-4D97-AF65-F5344CB8AC3E}">
        <p14:creationId xmlns:p14="http://schemas.microsoft.com/office/powerpoint/2010/main" val="2195422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EB1B3-E4E7-5FFF-5EBA-5390C633D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72B58-FAAF-9646-25D5-F38D1CB9B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6E1C9-3D49-F9A4-0604-F313967AD8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30395B-2DDD-FEFD-1680-769B11DE4218}"/>
              </a:ext>
            </a:extLst>
          </p:cNvPr>
          <p:cNvSpPr>
            <a:spLocks noGrp="1"/>
          </p:cNvSpPr>
          <p:nvPr>
            <p:ph type="sldNum" sz="quarter" idx="5"/>
          </p:nvPr>
        </p:nvSpPr>
        <p:spPr/>
        <p:txBody>
          <a:bodyPr/>
          <a:lstStyle/>
          <a:p>
            <a:fld id="{0261E7D9-CDBC-43ED-B2AC-C42CC271B3BD}" type="slidenum">
              <a:rPr lang="en-US" smtClean="0"/>
              <a:t>38</a:t>
            </a:fld>
            <a:endParaRPr lang="en-US"/>
          </a:p>
        </p:txBody>
      </p:sp>
    </p:spTree>
    <p:extLst>
      <p:ext uri="{BB962C8B-B14F-4D97-AF65-F5344CB8AC3E}">
        <p14:creationId xmlns:p14="http://schemas.microsoft.com/office/powerpoint/2010/main" val="4238224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61E7D9-CDBC-43ED-B2AC-C42CC271B3BD}" type="slidenum">
              <a:rPr lang="en-US" smtClean="0"/>
              <a:t>42</a:t>
            </a:fld>
            <a:endParaRPr lang="en-US"/>
          </a:p>
        </p:txBody>
      </p:sp>
    </p:spTree>
    <p:extLst>
      <p:ext uri="{BB962C8B-B14F-4D97-AF65-F5344CB8AC3E}">
        <p14:creationId xmlns:p14="http://schemas.microsoft.com/office/powerpoint/2010/main" val="3385696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F83AC-7AA5-41D1-7BF9-12ADCBC50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C6A03-5A7D-3AD2-C7C5-AE6B3D398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A14AB4-8A99-9ECA-E540-DF222A2AB0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81390D-D8F9-D665-0780-4DD2DF4237F0}"/>
              </a:ext>
            </a:extLst>
          </p:cNvPr>
          <p:cNvSpPr>
            <a:spLocks noGrp="1"/>
          </p:cNvSpPr>
          <p:nvPr>
            <p:ph type="sldNum" sz="quarter" idx="5"/>
          </p:nvPr>
        </p:nvSpPr>
        <p:spPr/>
        <p:txBody>
          <a:bodyPr/>
          <a:lstStyle/>
          <a:p>
            <a:fld id="{0261E7D9-CDBC-43ED-B2AC-C42CC271B3BD}" type="slidenum">
              <a:rPr lang="en-US" smtClean="0"/>
              <a:t>43</a:t>
            </a:fld>
            <a:endParaRPr lang="en-US"/>
          </a:p>
        </p:txBody>
      </p:sp>
    </p:spTree>
    <p:extLst>
      <p:ext uri="{BB962C8B-B14F-4D97-AF65-F5344CB8AC3E}">
        <p14:creationId xmlns:p14="http://schemas.microsoft.com/office/powerpoint/2010/main" val="2832656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8FA37-68C7-2C3D-5E08-FE773E77A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B105C-86DB-D68D-38D1-43D7F6FA6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E688F-4F5E-93D9-EFD2-9B2FDF0787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0F8D08-2D19-32B3-A670-0A9AB0F364D9}"/>
              </a:ext>
            </a:extLst>
          </p:cNvPr>
          <p:cNvSpPr>
            <a:spLocks noGrp="1"/>
          </p:cNvSpPr>
          <p:nvPr>
            <p:ph type="sldNum" sz="quarter" idx="5"/>
          </p:nvPr>
        </p:nvSpPr>
        <p:spPr/>
        <p:txBody>
          <a:bodyPr/>
          <a:lstStyle/>
          <a:p>
            <a:fld id="{0261E7D9-CDBC-43ED-B2AC-C42CC271B3BD}" type="slidenum">
              <a:rPr lang="en-US" smtClean="0"/>
              <a:t>44</a:t>
            </a:fld>
            <a:endParaRPr lang="en-US"/>
          </a:p>
        </p:txBody>
      </p:sp>
    </p:spTree>
    <p:extLst>
      <p:ext uri="{BB962C8B-B14F-4D97-AF65-F5344CB8AC3E}">
        <p14:creationId xmlns:p14="http://schemas.microsoft.com/office/powerpoint/2010/main" val="2110583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F01E4-BA6A-B4A2-546E-4834078C4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2635D-6D32-E400-3ACD-E810C504B9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40A8B-A250-000E-B23C-97BA4A90E6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policies have good intentions, but they create </a:t>
            </a:r>
            <a:r>
              <a:rPr lang="en-US" sz="1200" b="1" kern="1200" dirty="0">
                <a:solidFill>
                  <a:schemeClr val="tx1"/>
                </a:solidFill>
                <a:effectLst/>
                <a:latin typeface="+mn-lt"/>
                <a:ea typeface="+mn-ea"/>
                <a:cs typeface="+mn-cs"/>
              </a:rPr>
              <a:t>winners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losers</a:t>
            </a:r>
            <a:r>
              <a:rPr lang="en-US" sz="1200" kern="1200" dirty="0">
                <a:solidFill>
                  <a:schemeClr val="tx1"/>
                </a:solidFill>
                <a:effectLst/>
                <a:latin typeface="+mn-lt"/>
                <a:ea typeface="+mn-ea"/>
                <a:cs typeface="+mn-cs"/>
              </a:rPr>
              <a:t>. Winners: those who get rent control apt. Have you ever been in one? Losers: landlords, grocery store owners in Mugabe, etc. Diminishes their incentive to supply the good. But also consumers who couldn’t get one at equilibrium price even though they were prepared to pay for it. Examples of very wealthy people with summer homes in the </a:t>
            </a:r>
            <a:r>
              <a:rPr lang="en-US" sz="1200" kern="1200" dirty="0" err="1">
                <a:solidFill>
                  <a:schemeClr val="tx1"/>
                </a:solidFill>
                <a:effectLst/>
                <a:latin typeface="+mn-lt"/>
                <a:ea typeface="+mn-ea"/>
                <a:cs typeface="+mn-cs"/>
              </a:rPr>
              <a:t>hamptons</a:t>
            </a:r>
            <a:r>
              <a:rPr lang="en-US" sz="1200" kern="1200" dirty="0">
                <a:solidFill>
                  <a:schemeClr val="tx1"/>
                </a:solidFill>
                <a:effectLst/>
                <a:latin typeface="+mn-lt"/>
                <a:ea typeface="+mn-ea"/>
                <a:cs typeface="+mn-cs"/>
              </a:rPr>
              <a:t> and a barely used rent controlled apt. Why not keep it?</a:t>
            </a:r>
          </a:p>
          <a:p>
            <a:endParaRPr lang="en-US" dirty="0"/>
          </a:p>
          <a:p>
            <a:endParaRPr lang="en-US" dirty="0"/>
          </a:p>
          <a:p>
            <a:r>
              <a:rPr lang="en-US" dirty="0"/>
              <a:t>Other examples: </a:t>
            </a:r>
          </a:p>
          <a:p>
            <a:endParaRPr lang="en-US" dirty="0"/>
          </a:p>
          <a:p>
            <a:r>
              <a:rPr lang="en-US" sz="1200" i="1" kern="1200" dirty="0">
                <a:solidFill>
                  <a:schemeClr val="tx1"/>
                </a:solidFill>
                <a:effectLst/>
                <a:latin typeface="+mn-lt"/>
                <a:ea typeface="+mn-ea"/>
                <a:cs typeface="+mn-cs"/>
              </a:rPr>
              <a:t>Mugabe</a:t>
            </a:r>
            <a:r>
              <a:rPr lang="en-US" sz="1200" kern="1200" dirty="0">
                <a:solidFill>
                  <a:schemeClr val="tx1"/>
                </a:solidFill>
                <a:effectLst/>
                <a:latin typeface="+mn-lt"/>
                <a:ea typeface="+mn-ea"/>
                <a:cs typeface="+mn-cs"/>
              </a:rPr>
              <a:t> (Zimbabwe): puts a price ceiling on food in place so everyone can “afford” food.</a:t>
            </a:r>
          </a:p>
          <a:p>
            <a:r>
              <a:rPr lang="en-US" sz="1200" kern="1200" dirty="0">
                <a:solidFill>
                  <a:schemeClr val="tx1"/>
                </a:solidFill>
                <a:effectLst/>
                <a:latin typeface="+mn-lt"/>
                <a:ea typeface="+mn-ea"/>
                <a:cs typeface="+mn-cs"/>
              </a:rPr>
              <a:t>-draw shortage</a:t>
            </a: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Hurricane Sandy</a:t>
            </a:r>
            <a:r>
              <a:rPr lang="en-US" sz="1200" kern="1200" dirty="0">
                <a:solidFill>
                  <a:schemeClr val="tx1"/>
                </a:solidFill>
                <a:effectLst/>
                <a:latin typeface="+mn-lt"/>
                <a:ea typeface="+mn-ea"/>
                <a:cs typeface="+mn-cs"/>
              </a:rPr>
              <a:t>: price cap on gas stations – can’t raise price after hurricanes. Another shortage: gas stations ran out of gas when we needed it the most.</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Food subsidies </a:t>
            </a:r>
            <a:r>
              <a:rPr lang="en-US" sz="1200" kern="1200" dirty="0">
                <a:solidFill>
                  <a:schemeClr val="tx1"/>
                </a:solidFill>
                <a:effectLst/>
                <a:latin typeface="+mn-lt"/>
                <a:ea typeface="+mn-ea"/>
                <a:cs typeface="+mn-cs"/>
              </a:rPr>
              <a:t>– gov’t subsidizes production of corn through price floor [draw].Guarantees farmer price above floor, but consumer only pays floor. Costs HHs $390/yr, gives farmers $19k/yr. Vast majority goes to large farms, not family farms. Also for wheat, rice and cotton. Why twinkies are cheaper than carrots – already paid for it through taxes before you bought it. Economists disagree on a lot (health care reform, taxes), but not on this. Plus, leads to a surplus of one type of food: carbs. Now it is a public health problem.</a:t>
            </a:r>
          </a:p>
          <a:p>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C5E1DAE4-844F-9B5A-A265-F40DFF7C4C25}"/>
              </a:ext>
            </a:extLst>
          </p:cNvPr>
          <p:cNvSpPr>
            <a:spLocks noGrp="1"/>
          </p:cNvSpPr>
          <p:nvPr>
            <p:ph type="sldNum" sz="quarter" idx="5"/>
          </p:nvPr>
        </p:nvSpPr>
        <p:spPr/>
        <p:txBody>
          <a:bodyPr/>
          <a:lstStyle/>
          <a:p>
            <a:fld id="{0261E7D9-CDBC-43ED-B2AC-C42CC271B3BD}" type="slidenum">
              <a:rPr lang="en-US" smtClean="0"/>
              <a:t>46</a:t>
            </a:fld>
            <a:endParaRPr lang="en-US"/>
          </a:p>
        </p:txBody>
      </p:sp>
    </p:spTree>
    <p:extLst>
      <p:ext uri="{BB962C8B-B14F-4D97-AF65-F5344CB8AC3E}">
        <p14:creationId xmlns:p14="http://schemas.microsoft.com/office/powerpoint/2010/main" val="2382139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policies have good intentions, but they create </a:t>
            </a:r>
            <a:r>
              <a:rPr lang="en-US" sz="1200" b="1" kern="1200" dirty="0">
                <a:solidFill>
                  <a:schemeClr val="tx1"/>
                </a:solidFill>
                <a:effectLst/>
                <a:latin typeface="+mn-lt"/>
                <a:ea typeface="+mn-ea"/>
                <a:cs typeface="+mn-cs"/>
              </a:rPr>
              <a:t>winners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losers</a:t>
            </a:r>
            <a:r>
              <a:rPr lang="en-US" sz="1200" kern="1200" dirty="0">
                <a:solidFill>
                  <a:schemeClr val="tx1"/>
                </a:solidFill>
                <a:effectLst/>
                <a:latin typeface="+mn-lt"/>
                <a:ea typeface="+mn-ea"/>
                <a:cs typeface="+mn-cs"/>
              </a:rPr>
              <a:t>. Winners: those who get rent control apt. Have you ever been in one? Losers: landlords, grocery store owners in Mugabe, etc. Diminishes their incentive to supply the good. But also consumers who couldn’t get one at equilibrium price even though they were prepared to pay for it. Examples of very wealthy people with summer homes in the </a:t>
            </a:r>
            <a:r>
              <a:rPr lang="en-US" sz="1200" kern="1200" dirty="0" err="1">
                <a:solidFill>
                  <a:schemeClr val="tx1"/>
                </a:solidFill>
                <a:effectLst/>
                <a:latin typeface="+mn-lt"/>
                <a:ea typeface="+mn-ea"/>
                <a:cs typeface="+mn-cs"/>
              </a:rPr>
              <a:t>hamptons</a:t>
            </a:r>
            <a:r>
              <a:rPr lang="en-US" sz="1200" kern="1200" dirty="0">
                <a:solidFill>
                  <a:schemeClr val="tx1"/>
                </a:solidFill>
                <a:effectLst/>
                <a:latin typeface="+mn-lt"/>
                <a:ea typeface="+mn-ea"/>
                <a:cs typeface="+mn-cs"/>
              </a:rPr>
              <a:t> and a barely used rent controlled apt. Why not keep it?</a:t>
            </a:r>
          </a:p>
          <a:p>
            <a:endParaRPr lang="en-US" dirty="0"/>
          </a:p>
          <a:p>
            <a:endParaRPr lang="en-US" dirty="0"/>
          </a:p>
          <a:p>
            <a:r>
              <a:rPr lang="en-US" dirty="0"/>
              <a:t>Other examples: </a:t>
            </a:r>
          </a:p>
          <a:p>
            <a:endParaRPr lang="en-US" dirty="0"/>
          </a:p>
          <a:p>
            <a:r>
              <a:rPr lang="en-US" sz="1200" i="1" kern="1200" dirty="0">
                <a:solidFill>
                  <a:schemeClr val="tx1"/>
                </a:solidFill>
                <a:effectLst/>
                <a:latin typeface="+mn-lt"/>
                <a:ea typeface="+mn-ea"/>
                <a:cs typeface="+mn-cs"/>
              </a:rPr>
              <a:t>Mugabe</a:t>
            </a:r>
            <a:r>
              <a:rPr lang="en-US" sz="1200" kern="1200" dirty="0">
                <a:solidFill>
                  <a:schemeClr val="tx1"/>
                </a:solidFill>
                <a:effectLst/>
                <a:latin typeface="+mn-lt"/>
                <a:ea typeface="+mn-ea"/>
                <a:cs typeface="+mn-cs"/>
              </a:rPr>
              <a:t> (Zimbabwe): puts a price ceiling on food in place so everyone can “afford” food.</a:t>
            </a:r>
          </a:p>
          <a:p>
            <a:r>
              <a:rPr lang="en-US" sz="1200" kern="1200" dirty="0">
                <a:solidFill>
                  <a:schemeClr val="tx1"/>
                </a:solidFill>
                <a:effectLst/>
                <a:latin typeface="+mn-lt"/>
                <a:ea typeface="+mn-ea"/>
                <a:cs typeface="+mn-cs"/>
              </a:rPr>
              <a:t>-draw shortage</a:t>
            </a: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Hurricane Sandy</a:t>
            </a:r>
            <a:r>
              <a:rPr lang="en-US" sz="1200" kern="1200" dirty="0">
                <a:solidFill>
                  <a:schemeClr val="tx1"/>
                </a:solidFill>
                <a:effectLst/>
                <a:latin typeface="+mn-lt"/>
                <a:ea typeface="+mn-ea"/>
                <a:cs typeface="+mn-cs"/>
              </a:rPr>
              <a:t>: price cap on gas stations – can’t raise price after hurricanes. Another shortage: gas stations ran out of gas when we needed it the most.</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Food subsidies </a:t>
            </a:r>
            <a:r>
              <a:rPr lang="en-US" sz="1200" kern="1200" dirty="0">
                <a:solidFill>
                  <a:schemeClr val="tx1"/>
                </a:solidFill>
                <a:effectLst/>
                <a:latin typeface="+mn-lt"/>
                <a:ea typeface="+mn-ea"/>
                <a:cs typeface="+mn-cs"/>
              </a:rPr>
              <a:t>– gov’t subsidizes production of corn through price floor [draw].Guarantees farmer price above floor, but consumer only pays floor. Costs HHs $390/yr, gives farmers $19k/yr. Vast majority goes to large farms, not family farms. Also for wheat, rice and cotton. Why twinkies are cheaper than carrots – already paid for it through taxes before you bought it. Economists disagree on a lot (health care reform, taxes), but not on this. Plus, leads to a surplus of one type of food: carbs. Now it is a public health problem.</a:t>
            </a:r>
          </a:p>
          <a:p>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261E7D9-CDBC-43ED-B2AC-C42CC271B3BD}" type="slidenum">
              <a:rPr lang="en-US" smtClean="0"/>
              <a:t>47</a:t>
            </a:fld>
            <a:endParaRPr lang="en-US"/>
          </a:p>
        </p:txBody>
      </p:sp>
    </p:spTree>
    <p:extLst>
      <p:ext uri="{BB962C8B-B14F-4D97-AF65-F5344CB8AC3E}">
        <p14:creationId xmlns:p14="http://schemas.microsoft.com/office/powerpoint/2010/main" val="434174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8CD42-A31C-E537-E9C2-FC4750A8A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6BA14-105E-C605-708A-65F37C524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849F95-9366-E042-CF76-8E98D45C8DC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policies have good intentions, but they create </a:t>
            </a:r>
            <a:r>
              <a:rPr lang="en-US" sz="1200" b="1" kern="1200" dirty="0">
                <a:solidFill>
                  <a:schemeClr val="tx1"/>
                </a:solidFill>
                <a:effectLst/>
                <a:latin typeface="+mn-lt"/>
                <a:ea typeface="+mn-ea"/>
                <a:cs typeface="+mn-cs"/>
              </a:rPr>
              <a:t>winners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losers</a:t>
            </a:r>
            <a:r>
              <a:rPr lang="en-US" sz="1200" kern="1200" dirty="0">
                <a:solidFill>
                  <a:schemeClr val="tx1"/>
                </a:solidFill>
                <a:effectLst/>
                <a:latin typeface="+mn-lt"/>
                <a:ea typeface="+mn-ea"/>
                <a:cs typeface="+mn-cs"/>
              </a:rPr>
              <a:t>. Winners: those who get rent control apt. Have you ever been in one? Losers: landlords, grocery store owners in Mugabe, etc. Diminishes their incentive to supply the good. But also consumers who couldn’t get one at equilibrium price even though they were prepared to pay for it. Examples of very wealthy people with summer homes in the </a:t>
            </a:r>
            <a:r>
              <a:rPr lang="en-US" sz="1200" kern="1200" dirty="0" err="1">
                <a:solidFill>
                  <a:schemeClr val="tx1"/>
                </a:solidFill>
                <a:effectLst/>
                <a:latin typeface="+mn-lt"/>
                <a:ea typeface="+mn-ea"/>
                <a:cs typeface="+mn-cs"/>
              </a:rPr>
              <a:t>hamptons</a:t>
            </a:r>
            <a:r>
              <a:rPr lang="en-US" sz="1200" kern="1200" dirty="0">
                <a:solidFill>
                  <a:schemeClr val="tx1"/>
                </a:solidFill>
                <a:effectLst/>
                <a:latin typeface="+mn-lt"/>
                <a:ea typeface="+mn-ea"/>
                <a:cs typeface="+mn-cs"/>
              </a:rPr>
              <a:t> and a barely used rent controlled apt. Why not keep it?</a:t>
            </a:r>
          </a:p>
          <a:p>
            <a:endParaRPr lang="en-US" dirty="0"/>
          </a:p>
          <a:p>
            <a:endParaRPr lang="en-US" dirty="0"/>
          </a:p>
          <a:p>
            <a:r>
              <a:rPr lang="en-US" dirty="0"/>
              <a:t>Other examples: </a:t>
            </a:r>
          </a:p>
          <a:p>
            <a:endParaRPr lang="en-US" dirty="0"/>
          </a:p>
          <a:p>
            <a:r>
              <a:rPr lang="en-US" sz="1200" i="1" kern="1200" dirty="0">
                <a:solidFill>
                  <a:schemeClr val="tx1"/>
                </a:solidFill>
                <a:effectLst/>
                <a:latin typeface="+mn-lt"/>
                <a:ea typeface="+mn-ea"/>
                <a:cs typeface="+mn-cs"/>
              </a:rPr>
              <a:t>Mugabe</a:t>
            </a:r>
            <a:r>
              <a:rPr lang="en-US" sz="1200" kern="1200" dirty="0">
                <a:solidFill>
                  <a:schemeClr val="tx1"/>
                </a:solidFill>
                <a:effectLst/>
                <a:latin typeface="+mn-lt"/>
                <a:ea typeface="+mn-ea"/>
                <a:cs typeface="+mn-cs"/>
              </a:rPr>
              <a:t> (Zimbabwe): puts a price ceiling on food in place so everyone can “afford” food.</a:t>
            </a:r>
          </a:p>
          <a:p>
            <a:r>
              <a:rPr lang="en-US" sz="1200" kern="1200" dirty="0">
                <a:solidFill>
                  <a:schemeClr val="tx1"/>
                </a:solidFill>
                <a:effectLst/>
                <a:latin typeface="+mn-lt"/>
                <a:ea typeface="+mn-ea"/>
                <a:cs typeface="+mn-cs"/>
              </a:rPr>
              <a:t>-draw shortage</a:t>
            </a: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Hurricane Sandy</a:t>
            </a:r>
            <a:r>
              <a:rPr lang="en-US" sz="1200" kern="1200" dirty="0">
                <a:solidFill>
                  <a:schemeClr val="tx1"/>
                </a:solidFill>
                <a:effectLst/>
                <a:latin typeface="+mn-lt"/>
                <a:ea typeface="+mn-ea"/>
                <a:cs typeface="+mn-cs"/>
              </a:rPr>
              <a:t>: price cap on gas stations – can’t raise price after hurricanes. Another shortage: gas stations ran out of gas when we needed it the most.</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Food subsidies </a:t>
            </a:r>
            <a:r>
              <a:rPr lang="en-US" sz="1200" kern="1200" dirty="0">
                <a:solidFill>
                  <a:schemeClr val="tx1"/>
                </a:solidFill>
                <a:effectLst/>
                <a:latin typeface="+mn-lt"/>
                <a:ea typeface="+mn-ea"/>
                <a:cs typeface="+mn-cs"/>
              </a:rPr>
              <a:t>– gov’t subsidizes production of corn through price floor [draw].Guarantees farmer price above floor, but consumer only pays floor. Costs HHs $390/yr, gives farmers $19k/yr. Vast majority goes to large farms, not family farms. Also for wheat, rice and cotton. Why twinkies are cheaper than carrots – already paid for it through taxes before you bought it. Economists disagree on a lot (health care reform, taxes), but not on this. Plus, leads to a surplus of one type of food: carbs. Now it is a public health problem.</a:t>
            </a:r>
          </a:p>
          <a:p>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03C19E5E-87AF-A888-3F61-1E748A82F5BA}"/>
              </a:ext>
            </a:extLst>
          </p:cNvPr>
          <p:cNvSpPr>
            <a:spLocks noGrp="1"/>
          </p:cNvSpPr>
          <p:nvPr>
            <p:ph type="sldNum" sz="quarter" idx="5"/>
          </p:nvPr>
        </p:nvSpPr>
        <p:spPr/>
        <p:txBody>
          <a:bodyPr/>
          <a:lstStyle/>
          <a:p>
            <a:fld id="{0261E7D9-CDBC-43ED-B2AC-C42CC271B3BD}" type="slidenum">
              <a:rPr lang="en-US" smtClean="0"/>
              <a:t>48</a:t>
            </a:fld>
            <a:endParaRPr lang="en-US"/>
          </a:p>
        </p:txBody>
      </p:sp>
    </p:spTree>
    <p:extLst>
      <p:ext uri="{BB962C8B-B14F-4D97-AF65-F5344CB8AC3E}">
        <p14:creationId xmlns:p14="http://schemas.microsoft.com/office/powerpoint/2010/main" val="188832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E3D09-6175-B10F-05C9-EF6AF465A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8AAB4-E674-152E-2C18-B63144995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1D864-D3A7-A6D1-BF84-8E3D450DFD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policies have good intentions, but they create </a:t>
            </a:r>
            <a:r>
              <a:rPr lang="en-US" sz="1200" b="1" kern="1200" dirty="0">
                <a:solidFill>
                  <a:schemeClr val="tx1"/>
                </a:solidFill>
                <a:effectLst/>
                <a:latin typeface="+mn-lt"/>
                <a:ea typeface="+mn-ea"/>
                <a:cs typeface="+mn-cs"/>
              </a:rPr>
              <a:t>winners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losers</a:t>
            </a:r>
            <a:r>
              <a:rPr lang="en-US" sz="1200" kern="1200" dirty="0">
                <a:solidFill>
                  <a:schemeClr val="tx1"/>
                </a:solidFill>
                <a:effectLst/>
                <a:latin typeface="+mn-lt"/>
                <a:ea typeface="+mn-ea"/>
                <a:cs typeface="+mn-cs"/>
              </a:rPr>
              <a:t>. Winners: those who get rent control apt. Have you ever been in one? Losers: landlords, grocery store owners in Mugabe, etc. Diminishes their incentive to supply the good. But also consumers who couldn’t get one at equilibrium price even though they were prepared to pay for it. Examples of very wealthy people with summer homes in the </a:t>
            </a:r>
            <a:r>
              <a:rPr lang="en-US" sz="1200" kern="1200" dirty="0" err="1">
                <a:solidFill>
                  <a:schemeClr val="tx1"/>
                </a:solidFill>
                <a:effectLst/>
                <a:latin typeface="+mn-lt"/>
                <a:ea typeface="+mn-ea"/>
                <a:cs typeface="+mn-cs"/>
              </a:rPr>
              <a:t>hamptons</a:t>
            </a:r>
            <a:r>
              <a:rPr lang="en-US" sz="1200" kern="1200" dirty="0">
                <a:solidFill>
                  <a:schemeClr val="tx1"/>
                </a:solidFill>
                <a:effectLst/>
                <a:latin typeface="+mn-lt"/>
                <a:ea typeface="+mn-ea"/>
                <a:cs typeface="+mn-cs"/>
              </a:rPr>
              <a:t> and a barely used rent controlled apt. Why not keep it?</a:t>
            </a:r>
          </a:p>
          <a:p>
            <a:endParaRPr lang="en-US" dirty="0"/>
          </a:p>
          <a:p>
            <a:endParaRPr lang="en-US" dirty="0"/>
          </a:p>
          <a:p>
            <a:r>
              <a:rPr lang="en-US" dirty="0"/>
              <a:t>Other examples: </a:t>
            </a:r>
          </a:p>
          <a:p>
            <a:endParaRPr lang="en-US" dirty="0"/>
          </a:p>
          <a:p>
            <a:r>
              <a:rPr lang="en-US" sz="1200" i="1" kern="1200" dirty="0">
                <a:solidFill>
                  <a:schemeClr val="tx1"/>
                </a:solidFill>
                <a:effectLst/>
                <a:latin typeface="+mn-lt"/>
                <a:ea typeface="+mn-ea"/>
                <a:cs typeface="+mn-cs"/>
              </a:rPr>
              <a:t>Mugabe</a:t>
            </a:r>
            <a:r>
              <a:rPr lang="en-US" sz="1200" kern="1200" dirty="0">
                <a:solidFill>
                  <a:schemeClr val="tx1"/>
                </a:solidFill>
                <a:effectLst/>
                <a:latin typeface="+mn-lt"/>
                <a:ea typeface="+mn-ea"/>
                <a:cs typeface="+mn-cs"/>
              </a:rPr>
              <a:t> (Zimbabwe): puts a price ceiling on food in place so everyone can “afford” food.</a:t>
            </a:r>
          </a:p>
          <a:p>
            <a:r>
              <a:rPr lang="en-US" sz="1200" kern="1200" dirty="0">
                <a:solidFill>
                  <a:schemeClr val="tx1"/>
                </a:solidFill>
                <a:effectLst/>
                <a:latin typeface="+mn-lt"/>
                <a:ea typeface="+mn-ea"/>
                <a:cs typeface="+mn-cs"/>
              </a:rPr>
              <a:t>-draw shortage</a:t>
            </a: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Hurricane Sandy</a:t>
            </a:r>
            <a:r>
              <a:rPr lang="en-US" sz="1200" kern="1200" dirty="0">
                <a:solidFill>
                  <a:schemeClr val="tx1"/>
                </a:solidFill>
                <a:effectLst/>
                <a:latin typeface="+mn-lt"/>
                <a:ea typeface="+mn-ea"/>
                <a:cs typeface="+mn-cs"/>
              </a:rPr>
              <a:t>: price cap on gas stations – can’t raise price after hurricanes. Another shortage: gas stations ran out of gas when we needed it the most.</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Food subsidies </a:t>
            </a:r>
            <a:r>
              <a:rPr lang="en-US" sz="1200" kern="1200" dirty="0">
                <a:solidFill>
                  <a:schemeClr val="tx1"/>
                </a:solidFill>
                <a:effectLst/>
                <a:latin typeface="+mn-lt"/>
                <a:ea typeface="+mn-ea"/>
                <a:cs typeface="+mn-cs"/>
              </a:rPr>
              <a:t>– gov’t subsidizes production of corn through price floor [draw].Guarantees farmer price above floor, but consumer only pays floor. Costs HHs $390/yr, gives farmers $19k/yr. Vast majority goes to large farms, not family farms. Also for wheat, rice and cotton. Why twinkies are cheaper than carrots – already paid for it through taxes before you bought it. Economists disagree on a lot (health care reform, taxes), but not on this. Plus, leads to a surplus of one type of food: carbs. Now it is a public health problem.</a:t>
            </a:r>
          </a:p>
          <a:p>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944F4907-5E42-5CC8-C1C5-9139840B4588}"/>
              </a:ext>
            </a:extLst>
          </p:cNvPr>
          <p:cNvSpPr>
            <a:spLocks noGrp="1"/>
          </p:cNvSpPr>
          <p:nvPr>
            <p:ph type="sldNum" sz="quarter" idx="5"/>
          </p:nvPr>
        </p:nvSpPr>
        <p:spPr/>
        <p:txBody>
          <a:bodyPr/>
          <a:lstStyle/>
          <a:p>
            <a:fld id="{0261E7D9-CDBC-43ED-B2AC-C42CC271B3BD}" type="slidenum">
              <a:rPr lang="en-US" smtClean="0"/>
              <a:t>49</a:t>
            </a:fld>
            <a:endParaRPr lang="en-US"/>
          </a:p>
        </p:txBody>
      </p:sp>
    </p:spTree>
    <p:extLst>
      <p:ext uri="{BB962C8B-B14F-4D97-AF65-F5344CB8AC3E}">
        <p14:creationId xmlns:p14="http://schemas.microsoft.com/office/powerpoint/2010/main" val="38063577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A27F4-6DD8-5137-91BD-F24B1F5FD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3C43A-F13B-FBC8-3967-D2194077B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9DBEE-5ECD-1CD4-9E76-D630AEB6B9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policies have good intentions, but they create </a:t>
            </a:r>
            <a:r>
              <a:rPr lang="en-US" sz="1200" b="1" kern="1200" dirty="0">
                <a:solidFill>
                  <a:schemeClr val="tx1"/>
                </a:solidFill>
                <a:effectLst/>
                <a:latin typeface="+mn-lt"/>
                <a:ea typeface="+mn-ea"/>
                <a:cs typeface="+mn-cs"/>
              </a:rPr>
              <a:t>winners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losers</a:t>
            </a:r>
            <a:r>
              <a:rPr lang="en-US" sz="1200" kern="1200" dirty="0">
                <a:solidFill>
                  <a:schemeClr val="tx1"/>
                </a:solidFill>
                <a:effectLst/>
                <a:latin typeface="+mn-lt"/>
                <a:ea typeface="+mn-ea"/>
                <a:cs typeface="+mn-cs"/>
              </a:rPr>
              <a:t>. Winners: those who get rent control apt. Have you ever been in one? Losers: landlords, grocery store owners in Mugabe, etc. Diminishes their incentive to supply the good. But also consumers who couldn’t get one at equilibrium price even though they were prepared to pay for it. Examples of very wealthy people with summer homes in the </a:t>
            </a:r>
            <a:r>
              <a:rPr lang="en-US" sz="1200" kern="1200" dirty="0" err="1">
                <a:solidFill>
                  <a:schemeClr val="tx1"/>
                </a:solidFill>
                <a:effectLst/>
                <a:latin typeface="+mn-lt"/>
                <a:ea typeface="+mn-ea"/>
                <a:cs typeface="+mn-cs"/>
              </a:rPr>
              <a:t>hamptons</a:t>
            </a:r>
            <a:r>
              <a:rPr lang="en-US" sz="1200" kern="1200" dirty="0">
                <a:solidFill>
                  <a:schemeClr val="tx1"/>
                </a:solidFill>
                <a:effectLst/>
                <a:latin typeface="+mn-lt"/>
                <a:ea typeface="+mn-ea"/>
                <a:cs typeface="+mn-cs"/>
              </a:rPr>
              <a:t> and a barely used rent controlled apt. Why not keep it?</a:t>
            </a:r>
          </a:p>
          <a:p>
            <a:endParaRPr lang="en-US" dirty="0"/>
          </a:p>
          <a:p>
            <a:endParaRPr lang="en-US" dirty="0"/>
          </a:p>
          <a:p>
            <a:r>
              <a:rPr lang="en-US" dirty="0"/>
              <a:t>Other examples: </a:t>
            </a:r>
          </a:p>
          <a:p>
            <a:endParaRPr lang="en-US" dirty="0"/>
          </a:p>
          <a:p>
            <a:r>
              <a:rPr lang="en-US" sz="1200" i="1" kern="1200" dirty="0">
                <a:solidFill>
                  <a:schemeClr val="tx1"/>
                </a:solidFill>
                <a:effectLst/>
                <a:latin typeface="+mn-lt"/>
                <a:ea typeface="+mn-ea"/>
                <a:cs typeface="+mn-cs"/>
              </a:rPr>
              <a:t>Mugabe</a:t>
            </a:r>
            <a:r>
              <a:rPr lang="en-US" sz="1200" kern="1200" dirty="0">
                <a:solidFill>
                  <a:schemeClr val="tx1"/>
                </a:solidFill>
                <a:effectLst/>
                <a:latin typeface="+mn-lt"/>
                <a:ea typeface="+mn-ea"/>
                <a:cs typeface="+mn-cs"/>
              </a:rPr>
              <a:t> (Zimbabwe): puts a price ceiling on food in place so everyone can “afford” food.</a:t>
            </a:r>
          </a:p>
          <a:p>
            <a:r>
              <a:rPr lang="en-US" sz="1200" kern="1200" dirty="0">
                <a:solidFill>
                  <a:schemeClr val="tx1"/>
                </a:solidFill>
                <a:effectLst/>
                <a:latin typeface="+mn-lt"/>
                <a:ea typeface="+mn-ea"/>
                <a:cs typeface="+mn-cs"/>
              </a:rPr>
              <a:t>-draw shortage</a:t>
            </a: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Hurricane Sandy</a:t>
            </a:r>
            <a:r>
              <a:rPr lang="en-US" sz="1200" kern="1200" dirty="0">
                <a:solidFill>
                  <a:schemeClr val="tx1"/>
                </a:solidFill>
                <a:effectLst/>
                <a:latin typeface="+mn-lt"/>
                <a:ea typeface="+mn-ea"/>
                <a:cs typeface="+mn-cs"/>
              </a:rPr>
              <a:t>: price cap on gas stations – can’t raise price after hurricanes. Another shortage: gas stations ran out of gas when we needed it the most.</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Food subsidies </a:t>
            </a:r>
            <a:r>
              <a:rPr lang="en-US" sz="1200" kern="1200" dirty="0">
                <a:solidFill>
                  <a:schemeClr val="tx1"/>
                </a:solidFill>
                <a:effectLst/>
                <a:latin typeface="+mn-lt"/>
                <a:ea typeface="+mn-ea"/>
                <a:cs typeface="+mn-cs"/>
              </a:rPr>
              <a:t>– gov’t subsidizes production of corn through price floor [draw].Guarantees farmer price above floor, but consumer only pays floor. Costs HHs $390/yr, gives farmers $19k/yr. Vast majority goes to large farms, not family farms. Also for wheat, rice and cotton. Why twinkies are cheaper than carrots – already paid for it through taxes before you bought it. Economists disagree on a lot (health care reform, taxes), but not on this. Plus, leads to a surplus of one type of food: carbs. Now it is a public health problem.</a:t>
            </a:r>
          </a:p>
          <a:p>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418CF315-EB6B-64B3-3964-9E0EADF2A8EE}"/>
              </a:ext>
            </a:extLst>
          </p:cNvPr>
          <p:cNvSpPr>
            <a:spLocks noGrp="1"/>
          </p:cNvSpPr>
          <p:nvPr>
            <p:ph type="sldNum" sz="quarter" idx="5"/>
          </p:nvPr>
        </p:nvSpPr>
        <p:spPr/>
        <p:txBody>
          <a:bodyPr/>
          <a:lstStyle/>
          <a:p>
            <a:fld id="{0261E7D9-CDBC-43ED-B2AC-C42CC271B3BD}" type="slidenum">
              <a:rPr lang="en-US" smtClean="0"/>
              <a:t>50</a:t>
            </a:fld>
            <a:endParaRPr lang="en-US"/>
          </a:p>
        </p:txBody>
      </p:sp>
    </p:spTree>
    <p:extLst>
      <p:ext uri="{BB962C8B-B14F-4D97-AF65-F5344CB8AC3E}">
        <p14:creationId xmlns:p14="http://schemas.microsoft.com/office/powerpoint/2010/main" val="5491013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Winners: those who get rent control apt. Have you ever been in one? Losers: landlords, grocery store owners in Mugabe, etc. Diminishes their incentive to supply the good. But also consumers who couldn’t get one at equilibrium price even though they were prepared to pay for it. Examples of very wealthy people with summer homes in the </a:t>
            </a:r>
            <a:r>
              <a:rPr lang="en-US" sz="1200" kern="1200" dirty="0" err="1">
                <a:solidFill>
                  <a:schemeClr val="tx1"/>
                </a:solidFill>
                <a:effectLst/>
                <a:latin typeface="+mn-lt"/>
                <a:ea typeface="+mn-ea"/>
                <a:cs typeface="+mn-cs"/>
              </a:rPr>
              <a:t>hamptons</a:t>
            </a:r>
            <a:r>
              <a:rPr lang="en-US" sz="1200" kern="1200" dirty="0">
                <a:solidFill>
                  <a:schemeClr val="tx1"/>
                </a:solidFill>
                <a:effectLst/>
                <a:latin typeface="+mn-lt"/>
                <a:ea typeface="+mn-ea"/>
                <a:cs typeface="+mn-cs"/>
              </a:rPr>
              <a:t> and a barely used rent controlled apt. Why not keep it?</a:t>
            </a:r>
          </a:p>
          <a:p>
            <a:endParaRPr lang="en-US" dirty="0"/>
          </a:p>
        </p:txBody>
      </p:sp>
      <p:sp>
        <p:nvSpPr>
          <p:cNvPr id="4" name="Slide Number Placeholder 3"/>
          <p:cNvSpPr>
            <a:spLocks noGrp="1"/>
          </p:cNvSpPr>
          <p:nvPr>
            <p:ph type="sldNum" sz="quarter" idx="5"/>
          </p:nvPr>
        </p:nvSpPr>
        <p:spPr/>
        <p:txBody>
          <a:bodyPr/>
          <a:lstStyle/>
          <a:p>
            <a:fld id="{0261E7D9-CDBC-43ED-B2AC-C42CC271B3BD}" type="slidenum">
              <a:rPr lang="en-US" smtClean="0"/>
              <a:t>51</a:t>
            </a:fld>
            <a:endParaRPr lang="en-US"/>
          </a:p>
        </p:txBody>
      </p:sp>
    </p:spTree>
    <p:extLst>
      <p:ext uri="{BB962C8B-B14F-4D97-AF65-F5344CB8AC3E}">
        <p14:creationId xmlns:p14="http://schemas.microsoft.com/office/powerpoint/2010/main" val="2330851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These policies start from good intentions: keep rents affordable, protect farmers’ incomes, stabilize food </a:t>
            </a:r>
            <a:r>
              <a:rPr lang="en-US" sz="1200" b="0" i="0" kern="1200">
                <a:solidFill>
                  <a:schemeClr val="tx1"/>
                </a:solidFill>
                <a:effectLst/>
                <a:latin typeface="+mn-lt"/>
                <a:ea typeface="+mn-ea"/>
                <a:cs typeface="+mn-cs"/>
              </a:rPr>
              <a:t>prices.</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But because they control prices directly, they inevitably create winners and losers, and they distort incentives to supply the good.”</a:t>
            </a:r>
          </a:p>
          <a:p>
            <a:endParaRPr lang="en-US" dirty="0"/>
          </a:p>
        </p:txBody>
      </p:sp>
      <p:sp>
        <p:nvSpPr>
          <p:cNvPr id="4" name="Slide Number Placeholder 3"/>
          <p:cNvSpPr>
            <a:spLocks noGrp="1"/>
          </p:cNvSpPr>
          <p:nvPr>
            <p:ph type="sldNum" sz="quarter" idx="5"/>
          </p:nvPr>
        </p:nvSpPr>
        <p:spPr/>
        <p:txBody>
          <a:bodyPr/>
          <a:lstStyle/>
          <a:p>
            <a:fld id="{0261E7D9-CDBC-43ED-B2AC-C42CC271B3BD}" type="slidenum">
              <a:rPr lang="en-US" smtClean="0"/>
              <a:t>52</a:t>
            </a:fld>
            <a:endParaRPr lang="en-US"/>
          </a:p>
        </p:txBody>
      </p:sp>
    </p:spTree>
    <p:extLst>
      <p:ext uri="{BB962C8B-B14F-4D97-AF65-F5344CB8AC3E}">
        <p14:creationId xmlns:p14="http://schemas.microsoft.com/office/powerpoint/2010/main" val="1022522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0D28D-08D1-8D58-BAC7-9A074FAE98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9818CD-C2A7-8540-9B6B-9D145A9F9F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5E74DC-7634-96F8-829E-E92D10CB4E97}"/>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5" name="Footer Placeholder 4">
            <a:extLst>
              <a:ext uri="{FF2B5EF4-FFF2-40B4-BE49-F238E27FC236}">
                <a16:creationId xmlns:a16="http://schemas.microsoft.com/office/drawing/2014/main" id="{B8888303-5AFA-ECBB-1663-5FC8625EC1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D7782B-230E-9A7E-7433-1AB993F30A0B}"/>
              </a:ext>
            </a:extLst>
          </p:cNvPr>
          <p:cNvSpPr>
            <a:spLocks noGrp="1"/>
          </p:cNvSpPr>
          <p:nvPr>
            <p:ph type="sldNum" sz="quarter" idx="12"/>
          </p:nvPr>
        </p:nvSpPr>
        <p:spPr/>
        <p:txBody>
          <a:bodyPr/>
          <a:lstStyle/>
          <a:p>
            <a:fld id="{E243D5A1-2371-41C7-8B89-5B619DF6F99C}" type="slidenum">
              <a:rPr lang="en-US" smtClean="0"/>
              <a:t>‹#›</a:t>
            </a:fld>
            <a:endParaRPr lang="en-US"/>
          </a:p>
        </p:txBody>
      </p:sp>
    </p:spTree>
    <p:extLst>
      <p:ext uri="{BB962C8B-B14F-4D97-AF65-F5344CB8AC3E}">
        <p14:creationId xmlns:p14="http://schemas.microsoft.com/office/powerpoint/2010/main" val="2338883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12104-406E-9D9F-4809-B9A0E6C92F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28A655-4ABD-276E-F3DE-6FDEFB8AAE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D3294-0223-FB9C-6D18-058DCED098F5}"/>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5" name="Footer Placeholder 4">
            <a:extLst>
              <a:ext uri="{FF2B5EF4-FFF2-40B4-BE49-F238E27FC236}">
                <a16:creationId xmlns:a16="http://schemas.microsoft.com/office/drawing/2014/main" id="{CE465421-8898-9396-1D90-C147426E43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4A7E51-6EB8-8269-6FDE-02F3D2F5E547}"/>
              </a:ext>
            </a:extLst>
          </p:cNvPr>
          <p:cNvSpPr>
            <a:spLocks noGrp="1"/>
          </p:cNvSpPr>
          <p:nvPr>
            <p:ph type="sldNum" sz="quarter" idx="12"/>
          </p:nvPr>
        </p:nvSpPr>
        <p:spPr/>
        <p:txBody>
          <a:bodyPr/>
          <a:lstStyle/>
          <a:p>
            <a:fld id="{E243D5A1-2371-41C7-8B89-5B619DF6F99C}" type="slidenum">
              <a:rPr lang="en-US" smtClean="0"/>
              <a:t>‹#›</a:t>
            </a:fld>
            <a:endParaRPr lang="en-US"/>
          </a:p>
        </p:txBody>
      </p:sp>
      <p:cxnSp>
        <p:nvCxnSpPr>
          <p:cNvPr id="7" name="Straight Connector 6">
            <a:extLst>
              <a:ext uri="{FF2B5EF4-FFF2-40B4-BE49-F238E27FC236}">
                <a16:creationId xmlns:a16="http://schemas.microsoft.com/office/drawing/2014/main" id="{E11D0C1A-E71A-A92C-DA45-C5A7B5887672}"/>
              </a:ext>
            </a:extLst>
          </p:cNvPr>
          <p:cNvCxnSpPr/>
          <p:nvPr userDrawn="1"/>
        </p:nvCxnSpPr>
        <p:spPr>
          <a:xfrm>
            <a:off x="0" y="1581665"/>
            <a:ext cx="10676238" cy="0"/>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232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D0D07-D339-0C1D-26BE-435C857566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C554BA-7D89-A7B7-886A-7A9BFB94A2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01172D-5E59-30AF-8730-88027A912C64}"/>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5" name="Footer Placeholder 4">
            <a:extLst>
              <a:ext uri="{FF2B5EF4-FFF2-40B4-BE49-F238E27FC236}">
                <a16:creationId xmlns:a16="http://schemas.microsoft.com/office/drawing/2014/main" id="{15837221-90C6-BDCB-B6A5-05B6362B55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D82CBC-2D83-243D-FCAF-4FD7B86CD220}"/>
              </a:ext>
            </a:extLst>
          </p:cNvPr>
          <p:cNvSpPr>
            <a:spLocks noGrp="1"/>
          </p:cNvSpPr>
          <p:nvPr>
            <p:ph type="sldNum" sz="quarter" idx="12"/>
          </p:nvPr>
        </p:nvSpPr>
        <p:spPr/>
        <p:txBody>
          <a:bodyPr/>
          <a:lstStyle/>
          <a:p>
            <a:fld id="{E243D5A1-2371-41C7-8B89-5B619DF6F99C}" type="slidenum">
              <a:rPr lang="en-US" smtClean="0"/>
              <a:t>‹#›</a:t>
            </a:fld>
            <a:endParaRPr lang="en-US"/>
          </a:p>
        </p:txBody>
      </p:sp>
    </p:spTree>
    <p:extLst>
      <p:ext uri="{BB962C8B-B14F-4D97-AF65-F5344CB8AC3E}">
        <p14:creationId xmlns:p14="http://schemas.microsoft.com/office/powerpoint/2010/main" val="524619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3B16C-5606-DF39-8E7F-90FEC9B143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80EA84-5DC6-D482-7241-ED0BF4C938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4DCF74-3D8B-2629-FB12-760AD094B5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238483-F292-6B65-E11B-842585162B86}"/>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6" name="Footer Placeholder 5">
            <a:extLst>
              <a:ext uri="{FF2B5EF4-FFF2-40B4-BE49-F238E27FC236}">
                <a16:creationId xmlns:a16="http://schemas.microsoft.com/office/drawing/2014/main" id="{53474801-1B1C-7AF2-EEBA-236BECB137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2DBF12-98BA-9713-A1F0-1469B1C4E3C2}"/>
              </a:ext>
            </a:extLst>
          </p:cNvPr>
          <p:cNvSpPr>
            <a:spLocks noGrp="1"/>
          </p:cNvSpPr>
          <p:nvPr>
            <p:ph type="sldNum" sz="quarter" idx="12"/>
          </p:nvPr>
        </p:nvSpPr>
        <p:spPr/>
        <p:txBody>
          <a:bodyPr/>
          <a:lstStyle/>
          <a:p>
            <a:fld id="{E243D5A1-2371-41C7-8B89-5B619DF6F99C}" type="slidenum">
              <a:rPr lang="en-US" smtClean="0"/>
              <a:t>‹#›</a:t>
            </a:fld>
            <a:endParaRPr lang="en-US"/>
          </a:p>
        </p:txBody>
      </p:sp>
    </p:spTree>
    <p:extLst>
      <p:ext uri="{BB962C8B-B14F-4D97-AF65-F5344CB8AC3E}">
        <p14:creationId xmlns:p14="http://schemas.microsoft.com/office/powerpoint/2010/main" val="1994612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9700E-B383-CD14-B589-125D3B9D0E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8A7A8E-59DE-9C9B-7410-DD6B6E943D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360F83-83C6-BEE4-885E-5C5CB76CF2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B70DCD-1B14-9EA9-36C7-87A53376FE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BBD257-1E81-5CA3-D2DA-07DA61BBF8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09FCDA-0B3D-452A-F2FD-87EB348C0929}"/>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8" name="Footer Placeholder 7">
            <a:extLst>
              <a:ext uri="{FF2B5EF4-FFF2-40B4-BE49-F238E27FC236}">
                <a16:creationId xmlns:a16="http://schemas.microsoft.com/office/drawing/2014/main" id="{2B790D30-4189-BA45-D013-7F755E35E4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3A94B3-7EC2-AE03-2F75-7A5E9C4A6AE8}"/>
              </a:ext>
            </a:extLst>
          </p:cNvPr>
          <p:cNvSpPr>
            <a:spLocks noGrp="1"/>
          </p:cNvSpPr>
          <p:nvPr>
            <p:ph type="sldNum" sz="quarter" idx="12"/>
          </p:nvPr>
        </p:nvSpPr>
        <p:spPr/>
        <p:txBody>
          <a:bodyPr/>
          <a:lstStyle/>
          <a:p>
            <a:fld id="{E243D5A1-2371-41C7-8B89-5B619DF6F99C}" type="slidenum">
              <a:rPr lang="en-US" smtClean="0"/>
              <a:t>‹#›</a:t>
            </a:fld>
            <a:endParaRPr lang="en-US"/>
          </a:p>
        </p:txBody>
      </p:sp>
    </p:spTree>
    <p:extLst>
      <p:ext uri="{BB962C8B-B14F-4D97-AF65-F5344CB8AC3E}">
        <p14:creationId xmlns:p14="http://schemas.microsoft.com/office/powerpoint/2010/main" val="3956900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C8272-F26F-2ED7-53CA-08D61CC14E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7180BF-20C7-3269-3381-00653B9AFDDC}"/>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4" name="Footer Placeholder 3">
            <a:extLst>
              <a:ext uri="{FF2B5EF4-FFF2-40B4-BE49-F238E27FC236}">
                <a16:creationId xmlns:a16="http://schemas.microsoft.com/office/drawing/2014/main" id="{0A313AE9-CD5F-041B-6686-77E25E330C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0A8B76-2512-620B-3A65-EC46E72C6FCE}"/>
              </a:ext>
            </a:extLst>
          </p:cNvPr>
          <p:cNvSpPr>
            <a:spLocks noGrp="1"/>
          </p:cNvSpPr>
          <p:nvPr>
            <p:ph type="sldNum" sz="quarter" idx="12"/>
          </p:nvPr>
        </p:nvSpPr>
        <p:spPr/>
        <p:txBody>
          <a:bodyPr/>
          <a:lstStyle/>
          <a:p>
            <a:fld id="{E243D5A1-2371-41C7-8B89-5B619DF6F99C}" type="slidenum">
              <a:rPr lang="en-US" smtClean="0"/>
              <a:t>‹#›</a:t>
            </a:fld>
            <a:endParaRPr lang="en-US"/>
          </a:p>
        </p:txBody>
      </p:sp>
    </p:spTree>
    <p:extLst>
      <p:ext uri="{BB962C8B-B14F-4D97-AF65-F5344CB8AC3E}">
        <p14:creationId xmlns:p14="http://schemas.microsoft.com/office/powerpoint/2010/main" val="4053049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C7EEC5-2519-3D96-1BD2-ABB8357838E8}"/>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3" name="Footer Placeholder 2">
            <a:extLst>
              <a:ext uri="{FF2B5EF4-FFF2-40B4-BE49-F238E27FC236}">
                <a16:creationId xmlns:a16="http://schemas.microsoft.com/office/drawing/2014/main" id="{F0D066F8-4FE3-1FD3-1029-C902129DD1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E7FE93-D2CB-5481-2495-6FF2225EE64E}"/>
              </a:ext>
            </a:extLst>
          </p:cNvPr>
          <p:cNvSpPr>
            <a:spLocks noGrp="1"/>
          </p:cNvSpPr>
          <p:nvPr>
            <p:ph type="sldNum" sz="quarter" idx="12"/>
          </p:nvPr>
        </p:nvSpPr>
        <p:spPr/>
        <p:txBody>
          <a:bodyPr/>
          <a:lstStyle/>
          <a:p>
            <a:fld id="{E243D5A1-2371-41C7-8B89-5B619DF6F99C}" type="slidenum">
              <a:rPr lang="en-US" smtClean="0"/>
              <a:t>‹#›</a:t>
            </a:fld>
            <a:endParaRPr lang="en-US"/>
          </a:p>
        </p:txBody>
      </p:sp>
    </p:spTree>
    <p:extLst>
      <p:ext uri="{BB962C8B-B14F-4D97-AF65-F5344CB8AC3E}">
        <p14:creationId xmlns:p14="http://schemas.microsoft.com/office/powerpoint/2010/main" val="3796828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528A1-B0E2-8640-8366-9A4718FA8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B815A7-D9F2-A0A8-C39D-D9F98CA3DB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A6F3AB-9114-3E30-B042-E0476153E2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2B405-5C14-9029-325B-8D753C1A69F7}"/>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6" name="Footer Placeholder 5">
            <a:extLst>
              <a:ext uri="{FF2B5EF4-FFF2-40B4-BE49-F238E27FC236}">
                <a16:creationId xmlns:a16="http://schemas.microsoft.com/office/drawing/2014/main" id="{751C9659-529F-3463-51FB-9437A4687D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0C843B-25C9-D2B8-6972-B686728DED27}"/>
              </a:ext>
            </a:extLst>
          </p:cNvPr>
          <p:cNvSpPr>
            <a:spLocks noGrp="1"/>
          </p:cNvSpPr>
          <p:nvPr>
            <p:ph type="sldNum" sz="quarter" idx="12"/>
          </p:nvPr>
        </p:nvSpPr>
        <p:spPr/>
        <p:txBody>
          <a:bodyPr/>
          <a:lstStyle/>
          <a:p>
            <a:fld id="{E243D5A1-2371-41C7-8B89-5B619DF6F99C}" type="slidenum">
              <a:rPr lang="en-US" smtClean="0"/>
              <a:t>‹#›</a:t>
            </a:fld>
            <a:endParaRPr lang="en-US"/>
          </a:p>
        </p:txBody>
      </p:sp>
    </p:spTree>
    <p:extLst>
      <p:ext uri="{BB962C8B-B14F-4D97-AF65-F5344CB8AC3E}">
        <p14:creationId xmlns:p14="http://schemas.microsoft.com/office/powerpoint/2010/main" val="3200629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8B3A7-6DED-D2EE-59E8-CDEBB5BF91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1BB4F4-270A-3561-3365-E08A067B3C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1A5F00-87C3-A929-30C2-0E8E639931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8F5443-3EF9-C67C-9781-914B30D70EB8}"/>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6" name="Footer Placeholder 5">
            <a:extLst>
              <a:ext uri="{FF2B5EF4-FFF2-40B4-BE49-F238E27FC236}">
                <a16:creationId xmlns:a16="http://schemas.microsoft.com/office/drawing/2014/main" id="{59D4F20F-B896-D052-889D-893ED4F7C2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DAD0CB-509E-6696-854D-BCCF94F93E63}"/>
              </a:ext>
            </a:extLst>
          </p:cNvPr>
          <p:cNvSpPr>
            <a:spLocks noGrp="1"/>
          </p:cNvSpPr>
          <p:nvPr>
            <p:ph type="sldNum" sz="quarter" idx="12"/>
          </p:nvPr>
        </p:nvSpPr>
        <p:spPr/>
        <p:txBody>
          <a:bodyPr/>
          <a:lstStyle/>
          <a:p>
            <a:fld id="{E243D5A1-2371-41C7-8B89-5B619DF6F99C}" type="slidenum">
              <a:rPr lang="en-US" smtClean="0"/>
              <a:t>‹#›</a:t>
            </a:fld>
            <a:endParaRPr lang="en-US"/>
          </a:p>
        </p:txBody>
      </p:sp>
    </p:spTree>
    <p:extLst>
      <p:ext uri="{BB962C8B-B14F-4D97-AF65-F5344CB8AC3E}">
        <p14:creationId xmlns:p14="http://schemas.microsoft.com/office/powerpoint/2010/main" val="1915575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B60E4-EE2D-2D21-6F72-C656BAED09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BE2406-6A67-EE57-682C-D0C1F1B501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969CEB-16DC-A42B-45E8-05BC07C31224}"/>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5" name="Footer Placeholder 4">
            <a:extLst>
              <a:ext uri="{FF2B5EF4-FFF2-40B4-BE49-F238E27FC236}">
                <a16:creationId xmlns:a16="http://schemas.microsoft.com/office/drawing/2014/main" id="{8DF6002D-DCD0-C58D-DAFF-FA8CCCC684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260095-6B80-4EAF-8063-9E9057111910}"/>
              </a:ext>
            </a:extLst>
          </p:cNvPr>
          <p:cNvSpPr>
            <a:spLocks noGrp="1"/>
          </p:cNvSpPr>
          <p:nvPr>
            <p:ph type="sldNum" sz="quarter" idx="12"/>
          </p:nvPr>
        </p:nvSpPr>
        <p:spPr/>
        <p:txBody>
          <a:bodyPr/>
          <a:lstStyle/>
          <a:p>
            <a:fld id="{E243D5A1-2371-41C7-8B89-5B619DF6F99C}" type="slidenum">
              <a:rPr lang="en-US" smtClean="0"/>
              <a:t>‹#›</a:t>
            </a:fld>
            <a:endParaRPr lang="en-US"/>
          </a:p>
        </p:txBody>
      </p:sp>
    </p:spTree>
    <p:extLst>
      <p:ext uri="{BB962C8B-B14F-4D97-AF65-F5344CB8AC3E}">
        <p14:creationId xmlns:p14="http://schemas.microsoft.com/office/powerpoint/2010/main" val="2150378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097E25-A5AD-DE64-D196-285A7CB2D2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809B8E-F036-75C1-229B-8A29A69190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3086C1-3164-61ED-A472-911DA370C2FA}"/>
              </a:ext>
            </a:extLst>
          </p:cNvPr>
          <p:cNvSpPr>
            <a:spLocks noGrp="1"/>
          </p:cNvSpPr>
          <p:nvPr>
            <p:ph type="dt" sz="half" idx="10"/>
          </p:nvPr>
        </p:nvSpPr>
        <p:spPr/>
        <p:txBody>
          <a:bodyPr/>
          <a:lstStyle/>
          <a:p>
            <a:fld id="{F5D30CEE-0B39-4E08-8335-7F6012556D61}" type="datetimeFigureOut">
              <a:rPr lang="en-US" smtClean="0"/>
              <a:t>2/11/2026</a:t>
            </a:fld>
            <a:endParaRPr lang="en-US"/>
          </a:p>
        </p:txBody>
      </p:sp>
      <p:sp>
        <p:nvSpPr>
          <p:cNvPr id="5" name="Footer Placeholder 4">
            <a:extLst>
              <a:ext uri="{FF2B5EF4-FFF2-40B4-BE49-F238E27FC236}">
                <a16:creationId xmlns:a16="http://schemas.microsoft.com/office/drawing/2014/main" id="{3D40937F-0C24-7C2D-58BC-FAC8F73966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4A3D90-C69F-65F9-BDF2-A6CE106B620B}"/>
              </a:ext>
            </a:extLst>
          </p:cNvPr>
          <p:cNvSpPr>
            <a:spLocks noGrp="1"/>
          </p:cNvSpPr>
          <p:nvPr>
            <p:ph type="sldNum" sz="quarter" idx="12"/>
          </p:nvPr>
        </p:nvSpPr>
        <p:spPr/>
        <p:txBody>
          <a:bodyPr/>
          <a:lstStyle/>
          <a:p>
            <a:fld id="{E243D5A1-2371-41C7-8B89-5B619DF6F99C}" type="slidenum">
              <a:rPr lang="en-US" smtClean="0"/>
              <a:t>‹#›</a:t>
            </a:fld>
            <a:endParaRPr lang="en-US"/>
          </a:p>
        </p:txBody>
      </p:sp>
    </p:spTree>
    <p:extLst>
      <p:ext uri="{BB962C8B-B14F-4D97-AF65-F5344CB8AC3E}">
        <p14:creationId xmlns:p14="http://schemas.microsoft.com/office/powerpoint/2010/main" val="1124933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DD9A12F-7DD7-0E4A-B2BC-79A20AD69693}"/>
              </a:ext>
            </a:extLst>
          </p:cNvPr>
          <p:cNvPicPr>
            <a:picLocks noChangeAspect="1"/>
          </p:cNvPicPr>
          <p:nvPr userDrawn="1"/>
        </p:nvPicPr>
        <p:blipFill>
          <a:blip r:embed="rId13"/>
          <a:stretch>
            <a:fillRect/>
          </a:stretch>
        </p:blipFill>
        <p:spPr>
          <a:xfrm>
            <a:off x="0" y="6096"/>
            <a:ext cx="12192000" cy="6851904"/>
          </a:xfrm>
          <a:prstGeom prst="rect">
            <a:avLst/>
          </a:prstGeom>
        </p:spPr>
      </p:pic>
      <p:sp>
        <p:nvSpPr>
          <p:cNvPr id="2" name="Title Placeholder 1">
            <a:extLst>
              <a:ext uri="{FF2B5EF4-FFF2-40B4-BE49-F238E27FC236}">
                <a16:creationId xmlns:a16="http://schemas.microsoft.com/office/drawing/2014/main" id="{0166ABEC-80DB-3BBD-1E9C-4C79E5A4C3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9B15B1-E470-8957-9E6C-3C00E5F047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55CFB7-02D0-7B3B-9C47-1BB81CE9BC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D30CEE-0B39-4E08-8335-7F6012556D61}" type="datetimeFigureOut">
              <a:rPr lang="en-US" smtClean="0"/>
              <a:t>2/11/2026</a:t>
            </a:fld>
            <a:endParaRPr lang="en-US"/>
          </a:p>
        </p:txBody>
      </p:sp>
      <p:sp>
        <p:nvSpPr>
          <p:cNvPr id="5" name="Footer Placeholder 4">
            <a:extLst>
              <a:ext uri="{FF2B5EF4-FFF2-40B4-BE49-F238E27FC236}">
                <a16:creationId xmlns:a16="http://schemas.microsoft.com/office/drawing/2014/main" id="{6B7D4D9A-125F-094B-4EC3-F8884B777E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BE2561-A207-4AF0-779F-7AC8E7C0AB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43D5A1-2371-41C7-8B89-5B619DF6F99C}" type="slidenum">
              <a:rPr lang="en-US" smtClean="0"/>
              <a:t>‹#›</a:t>
            </a:fld>
            <a:endParaRPr lang="en-US"/>
          </a:p>
        </p:txBody>
      </p:sp>
      <p:pic>
        <p:nvPicPr>
          <p:cNvPr id="8" name="Picture 7" descr="CUIMC-ko-logo-large.png">
            <a:extLst>
              <a:ext uri="{FF2B5EF4-FFF2-40B4-BE49-F238E27FC236}">
                <a16:creationId xmlns:a16="http://schemas.microsoft.com/office/drawing/2014/main" id="{FB96512E-B710-8D41-955E-EC68340709C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580942" y="6426277"/>
            <a:ext cx="2479892" cy="347300"/>
          </a:xfrm>
          <a:prstGeom prst="rect">
            <a:avLst/>
          </a:prstGeom>
        </p:spPr>
      </p:pic>
    </p:spTree>
    <p:extLst>
      <p:ext uri="{BB962C8B-B14F-4D97-AF65-F5344CB8AC3E}">
        <p14:creationId xmlns:p14="http://schemas.microsoft.com/office/powerpoint/2010/main" val="388823246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Excel_Binary_Worksheet.xlsb"/><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78F06-3F03-4FE9-8C49-02B6A25C6A99}"/>
              </a:ext>
            </a:extLst>
          </p:cNvPr>
          <p:cNvSpPr>
            <a:spLocks noGrp="1"/>
          </p:cNvSpPr>
          <p:nvPr>
            <p:ph type="ctrTitle"/>
          </p:nvPr>
        </p:nvSpPr>
        <p:spPr/>
        <p:txBody>
          <a:bodyPr/>
          <a:lstStyle/>
          <a:p>
            <a:r>
              <a:rPr lang="en-US" dirty="0"/>
              <a:t>Week 4: Market Analysis </a:t>
            </a:r>
          </a:p>
        </p:txBody>
      </p:sp>
      <p:sp>
        <p:nvSpPr>
          <p:cNvPr id="3" name="Subtitle 2">
            <a:extLst>
              <a:ext uri="{FF2B5EF4-FFF2-40B4-BE49-F238E27FC236}">
                <a16:creationId xmlns:a16="http://schemas.microsoft.com/office/drawing/2014/main" id="{CB7E38E3-3E49-A181-01FC-E481FBD9B73A}"/>
              </a:ext>
            </a:extLst>
          </p:cNvPr>
          <p:cNvSpPr>
            <a:spLocks noGrp="1"/>
          </p:cNvSpPr>
          <p:nvPr>
            <p:ph type="subTitle" idx="1"/>
          </p:nvPr>
        </p:nvSpPr>
        <p:spPr/>
        <p:txBody>
          <a:bodyPr/>
          <a:lstStyle/>
          <a:p>
            <a:endParaRPr lang="en-US"/>
          </a:p>
        </p:txBody>
      </p:sp>
      <p:sp>
        <p:nvSpPr>
          <p:cNvPr id="4" name="Google Shape;56;p13">
            <a:extLst>
              <a:ext uri="{FF2B5EF4-FFF2-40B4-BE49-F238E27FC236}">
                <a16:creationId xmlns:a16="http://schemas.microsoft.com/office/drawing/2014/main" id="{26DA69AF-3E0A-C96D-76AF-A489672AF3FE}"/>
              </a:ext>
            </a:extLst>
          </p:cNvPr>
          <p:cNvSpPr txBox="1"/>
          <p:nvPr/>
        </p:nvSpPr>
        <p:spPr>
          <a:xfrm>
            <a:off x="9184243" y="4961730"/>
            <a:ext cx="2305348"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rgbClr val="000000"/>
                </a:solidFill>
              </a:rPr>
              <a:t>HPM 6503 </a:t>
            </a:r>
            <a:endParaRPr sz="1800" dirty="0">
              <a:solidFill>
                <a:srgbClr val="000000"/>
              </a:solidFill>
            </a:endParaRPr>
          </a:p>
          <a:p>
            <a:pPr marL="0" lvl="0" indent="0" algn="l" rtl="0">
              <a:spcBef>
                <a:spcPts val="0"/>
              </a:spcBef>
              <a:spcAft>
                <a:spcPts val="0"/>
              </a:spcAft>
              <a:buNone/>
            </a:pPr>
            <a:r>
              <a:rPr lang="en" sz="1800" dirty="0">
                <a:solidFill>
                  <a:srgbClr val="000000"/>
                </a:solidFill>
              </a:rPr>
              <a:t>Spring 2026 </a:t>
            </a:r>
            <a:endParaRPr sz="1800" dirty="0">
              <a:solidFill>
                <a:srgbClr val="000000"/>
              </a:solidFill>
            </a:endParaRPr>
          </a:p>
          <a:p>
            <a:pPr marL="0" lvl="0" indent="0" algn="l" rtl="0">
              <a:spcBef>
                <a:spcPts val="0"/>
              </a:spcBef>
              <a:spcAft>
                <a:spcPts val="0"/>
              </a:spcAft>
              <a:buNone/>
            </a:pPr>
            <a:r>
              <a:rPr lang="en" sz="1800" dirty="0">
                <a:solidFill>
                  <a:srgbClr val="000000"/>
                </a:solidFill>
              </a:rPr>
              <a:t>Nada Boualam, PhD</a:t>
            </a:r>
            <a:endParaRPr sz="1800" dirty="0">
              <a:solidFill>
                <a:srgbClr val="000000"/>
              </a:solidFill>
            </a:endParaRPr>
          </a:p>
        </p:txBody>
      </p:sp>
    </p:spTree>
    <p:extLst>
      <p:ext uri="{BB962C8B-B14F-4D97-AF65-F5344CB8AC3E}">
        <p14:creationId xmlns:p14="http://schemas.microsoft.com/office/powerpoint/2010/main" val="741819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4AEE5-DE48-33C4-C70A-A3273F033660}"/>
              </a:ext>
            </a:extLst>
          </p:cNvPr>
          <p:cNvSpPr>
            <a:spLocks noGrp="1"/>
          </p:cNvSpPr>
          <p:nvPr>
            <p:ph type="title"/>
          </p:nvPr>
        </p:nvSpPr>
        <p:spPr/>
        <p:txBody>
          <a:bodyPr/>
          <a:lstStyle/>
          <a:p>
            <a:r>
              <a:rPr lang="en-US" dirty="0"/>
              <a:t>Announcements </a:t>
            </a:r>
          </a:p>
        </p:txBody>
      </p:sp>
      <p:sp>
        <p:nvSpPr>
          <p:cNvPr id="3" name="Content Placeholder 2">
            <a:extLst>
              <a:ext uri="{FF2B5EF4-FFF2-40B4-BE49-F238E27FC236}">
                <a16:creationId xmlns:a16="http://schemas.microsoft.com/office/drawing/2014/main" id="{91B0243A-FB31-E8A7-B026-3BB10EA97666}"/>
              </a:ext>
            </a:extLst>
          </p:cNvPr>
          <p:cNvSpPr>
            <a:spLocks noGrp="1"/>
          </p:cNvSpPr>
          <p:nvPr>
            <p:ph idx="1"/>
          </p:nvPr>
        </p:nvSpPr>
        <p:spPr>
          <a:xfrm>
            <a:off x="838200" y="1690688"/>
            <a:ext cx="10515600" cy="4875365"/>
          </a:xfrm>
        </p:spPr>
        <p:txBody>
          <a:bodyPr>
            <a:normAutofit fontScale="85000" lnSpcReduction="20000"/>
          </a:bodyPr>
          <a:lstStyle/>
          <a:p>
            <a:r>
              <a:rPr lang="en-US" dirty="0"/>
              <a:t>Grading policy change</a:t>
            </a:r>
          </a:p>
          <a:p>
            <a:pPr lvl="1"/>
            <a:r>
              <a:rPr lang="en-US" dirty="0"/>
              <a:t>Only your top two exam grades will be weighted, and will make up 75% of your grade</a:t>
            </a:r>
          </a:p>
          <a:p>
            <a:r>
              <a:rPr lang="en-US" dirty="0"/>
              <a:t>Exam 1 will be 6pm-8:20pm next week in this room </a:t>
            </a:r>
          </a:p>
          <a:p>
            <a:endParaRPr lang="en-US" dirty="0"/>
          </a:p>
          <a:p>
            <a:r>
              <a:rPr lang="en-US" dirty="0"/>
              <a:t>I will hold a review session on Zoom on Monday 02/16 6-7:30pm </a:t>
            </a:r>
          </a:p>
          <a:p>
            <a:r>
              <a:rPr lang="en-US" dirty="0"/>
              <a:t>Problem Set 2 will be assigned after class today</a:t>
            </a:r>
          </a:p>
          <a:p>
            <a:pPr lvl="1"/>
            <a:r>
              <a:rPr lang="en-US" dirty="0"/>
              <a:t>Due 03/25 </a:t>
            </a:r>
          </a:p>
          <a:p>
            <a:pPr lvl="1"/>
            <a:r>
              <a:rPr lang="en-US" dirty="0"/>
              <a:t>We will review PS2 during the review session on Monday </a:t>
            </a:r>
          </a:p>
          <a:p>
            <a:pPr marL="0" indent="0">
              <a:buNone/>
            </a:pPr>
            <a:endParaRPr lang="en-US" dirty="0"/>
          </a:p>
          <a:p>
            <a:r>
              <a:rPr lang="en-US" dirty="0"/>
              <a:t>Changes we are implementing to class thanks to your feedback: </a:t>
            </a:r>
          </a:p>
          <a:p>
            <a:pPr lvl="1"/>
            <a:r>
              <a:rPr lang="en-US" dirty="0"/>
              <a:t>~Half of class will be problem-set based</a:t>
            </a:r>
          </a:p>
          <a:p>
            <a:pPr lvl="1"/>
            <a:r>
              <a:rPr lang="en-US" dirty="0"/>
              <a:t>~Half of class will be lectures </a:t>
            </a:r>
          </a:p>
          <a:p>
            <a:pPr lvl="1"/>
            <a:r>
              <a:rPr lang="en-US" dirty="0"/>
              <a:t>I will hold an office hour every Friday 9-10am starting 2/20</a:t>
            </a:r>
          </a:p>
          <a:p>
            <a:pPr lvl="1"/>
            <a:r>
              <a:rPr lang="en-US" dirty="0"/>
              <a:t>Please do email me to set up separate office hours should you need them </a:t>
            </a:r>
          </a:p>
          <a:p>
            <a:endParaRPr lang="en-US" dirty="0"/>
          </a:p>
        </p:txBody>
      </p:sp>
    </p:spTree>
    <p:extLst>
      <p:ext uri="{BB962C8B-B14F-4D97-AF65-F5344CB8AC3E}">
        <p14:creationId xmlns:p14="http://schemas.microsoft.com/office/powerpoint/2010/main" val="1214408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79CE5-2FCE-B47C-DB0E-3AC2BE4CB8D8}"/>
              </a:ext>
            </a:extLst>
          </p:cNvPr>
          <p:cNvSpPr>
            <a:spLocks noGrp="1"/>
          </p:cNvSpPr>
          <p:nvPr>
            <p:ph type="title"/>
          </p:nvPr>
        </p:nvSpPr>
        <p:spPr/>
        <p:txBody>
          <a:bodyPr/>
          <a:lstStyle/>
          <a:p>
            <a:r>
              <a:rPr lang="en-US" dirty="0"/>
              <a:t>Today’s Outline </a:t>
            </a:r>
          </a:p>
        </p:txBody>
      </p:sp>
      <p:sp>
        <p:nvSpPr>
          <p:cNvPr id="3" name="Content Placeholder 2">
            <a:extLst>
              <a:ext uri="{FF2B5EF4-FFF2-40B4-BE49-F238E27FC236}">
                <a16:creationId xmlns:a16="http://schemas.microsoft.com/office/drawing/2014/main" id="{B758EC7D-6B2C-1546-4628-35A9CFBE11BD}"/>
              </a:ext>
            </a:extLst>
          </p:cNvPr>
          <p:cNvSpPr>
            <a:spLocks noGrp="1"/>
          </p:cNvSpPr>
          <p:nvPr>
            <p:ph idx="1"/>
          </p:nvPr>
        </p:nvSpPr>
        <p:spPr/>
        <p:txBody>
          <a:bodyPr/>
          <a:lstStyle/>
          <a:p>
            <a:r>
              <a:rPr lang="en-US" dirty="0"/>
              <a:t>HW 1 Review </a:t>
            </a:r>
          </a:p>
          <a:p>
            <a:r>
              <a:rPr lang="en-US" dirty="0"/>
              <a:t>Last Class Review &amp; Example Problems </a:t>
            </a:r>
          </a:p>
          <a:p>
            <a:r>
              <a:rPr lang="en-US" dirty="0"/>
              <a:t>Market Analysis </a:t>
            </a:r>
          </a:p>
        </p:txBody>
      </p:sp>
    </p:spTree>
    <p:extLst>
      <p:ext uri="{BB962C8B-B14F-4D97-AF65-F5344CB8AC3E}">
        <p14:creationId xmlns:p14="http://schemas.microsoft.com/office/powerpoint/2010/main" val="2603262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3F5AC-6A14-4798-2E1B-1A87E7FDD87E}"/>
              </a:ext>
            </a:extLst>
          </p:cNvPr>
          <p:cNvSpPr>
            <a:spLocks noGrp="1"/>
          </p:cNvSpPr>
          <p:nvPr>
            <p:ph type="title"/>
          </p:nvPr>
        </p:nvSpPr>
        <p:spPr/>
        <p:txBody>
          <a:bodyPr/>
          <a:lstStyle/>
          <a:p>
            <a:r>
              <a:rPr lang="en-US" dirty="0"/>
              <a:t>HW 1 Review </a:t>
            </a:r>
          </a:p>
        </p:txBody>
      </p:sp>
      <p:sp>
        <p:nvSpPr>
          <p:cNvPr id="3" name="Content Placeholder 2">
            <a:extLst>
              <a:ext uri="{FF2B5EF4-FFF2-40B4-BE49-F238E27FC236}">
                <a16:creationId xmlns:a16="http://schemas.microsoft.com/office/drawing/2014/main" id="{393107BD-BEA7-EF28-90F0-DFB94969A66C}"/>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1557179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A8B534-D9AB-01AF-6D3F-D2AD77D38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260D6-91F7-2F4E-7FB2-7B7A2002A13E}"/>
              </a:ext>
            </a:extLst>
          </p:cNvPr>
          <p:cNvSpPr>
            <a:spLocks noGrp="1"/>
          </p:cNvSpPr>
          <p:nvPr>
            <p:ph type="title"/>
          </p:nvPr>
        </p:nvSpPr>
        <p:spPr/>
        <p:txBody>
          <a:bodyPr/>
          <a:lstStyle/>
          <a:p>
            <a:r>
              <a:rPr lang="en-US" dirty="0"/>
              <a:t>HW 1 Review </a:t>
            </a:r>
          </a:p>
        </p:txBody>
      </p:sp>
      <p:sp>
        <p:nvSpPr>
          <p:cNvPr id="3" name="Content Placeholder 2">
            <a:extLst>
              <a:ext uri="{FF2B5EF4-FFF2-40B4-BE49-F238E27FC236}">
                <a16:creationId xmlns:a16="http://schemas.microsoft.com/office/drawing/2014/main" id="{ED41C804-CB7A-88DE-DE0E-A3E6DE4A0ABC}"/>
              </a:ext>
            </a:extLst>
          </p:cNvPr>
          <p:cNvSpPr>
            <a:spLocks noGrp="1"/>
          </p:cNvSpPr>
          <p:nvPr>
            <p:ph idx="1"/>
          </p:nvPr>
        </p:nvSpPr>
        <p:spPr/>
        <p:txBody>
          <a:bodyPr/>
          <a:lstStyle/>
          <a:p>
            <a:pPr marL="0" indent="0">
              <a:buNone/>
            </a:pPr>
            <a:r>
              <a:rPr lang="en-US" dirty="0"/>
              <a:t>1. A health center in your neighborhood is distributing flyers announcing that it will be offering a free vaccination clinic for Covid, flu, and RSV shots. The flyer warns that the clinic anticipates high patient volume so patients should anticipate substantial wait times. Using terms discussed in class, explain why an economist would say that these vaccinations are not really “free” to patients. </a:t>
            </a:r>
          </a:p>
        </p:txBody>
      </p:sp>
    </p:spTree>
    <p:extLst>
      <p:ext uri="{BB962C8B-B14F-4D97-AF65-F5344CB8AC3E}">
        <p14:creationId xmlns:p14="http://schemas.microsoft.com/office/powerpoint/2010/main" val="1743801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9719A0-90AE-8C8B-BA9B-F60CF3D1E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8FB6C-46DC-0713-B42E-3245BAF0FB84}"/>
              </a:ext>
            </a:extLst>
          </p:cNvPr>
          <p:cNvSpPr>
            <a:spLocks noGrp="1"/>
          </p:cNvSpPr>
          <p:nvPr>
            <p:ph type="title"/>
          </p:nvPr>
        </p:nvSpPr>
        <p:spPr/>
        <p:txBody>
          <a:bodyPr/>
          <a:lstStyle/>
          <a:p>
            <a:r>
              <a:rPr lang="en-US" dirty="0"/>
              <a:t>HW 1 Review </a:t>
            </a:r>
          </a:p>
        </p:txBody>
      </p:sp>
      <p:sp>
        <p:nvSpPr>
          <p:cNvPr id="3" name="Content Placeholder 2">
            <a:extLst>
              <a:ext uri="{FF2B5EF4-FFF2-40B4-BE49-F238E27FC236}">
                <a16:creationId xmlns:a16="http://schemas.microsoft.com/office/drawing/2014/main" id="{EC2BD828-FCAF-1F7D-7B7B-A67D377A3FB6}"/>
              </a:ext>
            </a:extLst>
          </p:cNvPr>
          <p:cNvSpPr>
            <a:spLocks noGrp="1"/>
          </p:cNvSpPr>
          <p:nvPr>
            <p:ph idx="1"/>
          </p:nvPr>
        </p:nvSpPr>
        <p:spPr/>
        <p:txBody>
          <a:bodyPr/>
          <a:lstStyle/>
          <a:p>
            <a:pPr marL="0" indent="0">
              <a:buNone/>
            </a:pPr>
            <a:r>
              <a:rPr lang="en-US" dirty="0"/>
              <a:t>2. Suppose you’ve already studied for four hours for tomorrow’s exam. You’re debating whether to study for one more hour or to go to sleep earlier. What should you compare to make that decision at the margin?</a:t>
            </a:r>
          </a:p>
        </p:txBody>
      </p:sp>
    </p:spTree>
    <p:extLst>
      <p:ext uri="{BB962C8B-B14F-4D97-AF65-F5344CB8AC3E}">
        <p14:creationId xmlns:p14="http://schemas.microsoft.com/office/powerpoint/2010/main" val="2087906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0C5E0A-55A0-642E-68F5-BFA1C277E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832C2-1C9F-54E2-F827-C38C46B947F9}"/>
              </a:ext>
            </a:extLst>
          </p:cNvPr>
          <p:cNvSpPr>
            <a:spLocks noGrp="1"/>
          </p:cNvSpPr>
          <p:nvPr>
            <p:ph type="title"/>
          </p:nvPr>
        </p:nvSpPr>
        <p:spPr/>
        <p:txBody>
          <a:bodyPr/>
          <a:lstStyle/>
          <a:p>
            <a:r>
              <a:rPr lang="en-US" dirty="0"/>
              <a:t>HW 1 Review </a:t>
            </a:r>
          </a:p>
        </p:txBody>
      </p:sp>
      <p:sp>
        <p:nvSpPr>
          <p:cNvPr id="3" name="Content Placeholder 2">
            <a:extLst>
              <a:ext uri="{FF2B5EF4-FFF2-40B4-BE49-F238E27FC236}">
                <a16:creationId xmlns:a16="http://schemas.microsoft.com/office/drawing/2014/main" id="{C38AA7D0-0F5F-48FF-0E89-9C2409938854}"/>
              </a:ext>
            </a:extLst>
          </p:cNvPr>
          <p:cNvSpPr>
            <a:spLocks noGrp="1"/>
          </p:cNvSpPr>
          <p:nvPr>
            <p:ph idx="1"/>
          </p:nvPr>
        </p:nvSpPr>
        <p:spPr/>
        <p:txBody>
          <a:bodyPr/>
          <a:lstStyle/>
          <a:p>
            <a:pPr marL="0" indent="0">
              <a:buNone/>
            </a:pPr>
            <a:r>
              <a:rPr lang="en-US" dirty="0"/>
              <a:t>3) What are the eight factors that differentiate health economics from economics? In your own words, elaborate on 2 of them. </a:t>
            </a:r>
          </a:p>
        </p:txBody>
      </p:sp>
    </p:spTree>
    <p:extLst>
      <p:ext uri="{BB962C8B-B14F-4D97-AF65-F5344CB8AC3E}">
        <p14:creationId xmlns:p14="http://schemas.microsoft.com/office/powerpoint/2010/main" val="2285618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E9C6-F855-AF02-8BEB-AEDE9C7195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5CF7FB-6D93-C0F0-A61C-A000A50A8F2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40097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AD39B-CF6B-9D18-DB43-D072514E8FE0}"/>
              </a:ext>
            </a:extLst>
          </p:cNvPr>
          <p:cNvSpPr>
            <a:spLocks noGrp="1"/>
          </p:cNvSpPr>
          <p:nvPr>
            <p:ph type="title"/>
          </p:nvPr>
        </p:nvSpPr>
        <p:spPr/>
        <p:txBody>
          <a:bodyPr/>
          <a:lstStyle/>
          <a:p>
            <a:r>
              <a:rPr lang="en-US" dirty="0"/>
              <a:t>Last Class Review </a:t>
            </a:r>
          </a:p>
        </p:txBody>
      </p:sp>
      <p:sp>
        <p:nvSpPr>
          <p:cNvPr id="3" name="Content Placeholder 2">
            <a:extLst>
              <a:ext uri="{FF2B5EF4-FFF2-40B4-BE49-F238E27FC236}">
                <a16:creationId xmlns:a16="http://schemas.microsoft.com/office/drawing/2014/main" id="{A2D167E5-9904-ABEB-F6A8-38437572A3F9}"/>
              </a:ext>
            </a:extLst>
          </p:cNvPr>
          <p:cNvSpPr>
            <a:spLocks noGrp="1"/>
          </p:cNvSpPr>
          <p:nvPr>
            <p:ph idx="1"/>
          </p:nvPr>
        </p:nvSpPr>
        <p:spPr/>
        <p:txBody>
          <a:bodyPr/>
          <a:lstStyle/>
          <a:p>
            <a:r>
              <a:rPr lang="en-US" dirty="0" err="1"/>
              <a:t>Isocost</a:t>
            </a:r>
            <a:r>
              <a:rPr lang="en-US" dirty="0"/>
              <a:t> &amp; Isoquant Curves </a:t>
            </a:r>
          </a:p>
          <a:p>
            <a:r>
              <a:rPr lang="en-US" dirty="0"/>
              <a:t>Supply Curve &amp; Marginal Cost</a:t>
            </a:r>
          </a:p>
          <a:p>
            <a:r>
              <a:rPr lang="en-US" dirty="0"/>
              <a:t>Cost Structures </a:t>
            </a:r>
          </a:p>
          <a:p>
            <a:r>
              <a:rPr lang="en-US" dirty="0"/>
              <a:t>Marginal Productivity </a:t>
            </a:r>
          </a:p>
          <a:p>
            <a:endParaRPr lang="en-US" dirty="0"/>
          </a:p>
        </p:txBody>
      </p:sp>
    </p:spTree>
    <p:extLst>
      <p:ext uri="{BB962C8B-B14F-4D97-AF65-F5344CB8AC3E}">
        <p14:creationId xmlns:p14="http://schemas.microsoft.com/office/powerpoint/2010/main" val="3027232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D1E95-CC74-DC7B-663B-5013E4F09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BE655-31EC-8870-3F4F-6373CB18C465}"/>
              </a:ext>
            </a:extLst>
          </p:cNvPr>
          <p:cNvSpPr>
            <a:spLocks noGrp="1"/>
          </p:cNvSpPr>
          <p:nvPr>
            <p:ph type="title"/>
          </p:nvPr>
        </p:nvSpPr>
        <p:spPr/>
        <p:txBody>
          <a:bodyPr/>
          <a:lstStyle/>
          <a:p>
            <a:r>
              <a:rPr lang="en-US" dirty="0"/>
              <a:t>Last Class Review </a:t>
            </a:r>
          </a:p>
        </p:txBody>
      </p:sp>
      <p:sp>
        <p:nvSpPr>
          <p:cNvPr id="3" name="Content Placeholder 2">
            <a:extLst>
              <a:ext uri="{FF2B5EF4-FFF2-40B4-BE49-F238E27FC236}">
                <a16:creationId xmlns:a16="http://schemas.microsoft.com/office/drawing/2014/main" id="{2AFCAD7A-3ADB-2523-1EDE-93D9F5B365DB}"/>
              </a:ext>
            </a:extLst>
          </p:cNvPr>
          <p:cNvSpPr>
            <a:spLocks noGrp="1"/>
          </p:cNvSpPr>
          <p:nvPr>
            <p:ph idx="1"/>
          </p:nvPr>
        </p:nvSpPr>
        <p:spPr>
          <a:xfrm>
            <a:off x="838200" y="1825625"/>
            <a:ext cx="10515600" cy="568440"/>
          </a:xfrm>
        </p:spPr>
        <p:txBody>
          <a:bodyPr/>
          <a:lstStyle/>
          <a:p>
            <a:r>
              <a:rPr lang="en-US" dirty="0" err="1"/>
              <a:t>Isocost</a:t>
            </a:r>
            <a:r>
              <a:rPr lang="en-US" dirty="0"/>
              <a:t> &amp; Isoquant Curves </a:t>
            </a:r>
          </a:p>
          <a:p>
            <a:pPr marL="0" indent="0">
              <a:buNone/>
            </a:pPr>
            <a:endParaRPr lang="en-US" dirty="0"/>
          </a:p>
        </p:txBody>
      </p:sp>
      <p:pic>
        <p:nvPicPr>
          <p:cNvPr id="4" name="Picture 3">
            <a:extLst>
              <a:ext uri="{FF2B5EF4-FFF2-40B4-BE49-F238E27FC236}">
                <a16:creationId xmlns:a16="http://schemas.microsoft.com/office/drawing/2014/main" id="{72CE9186-4CD4-09C9-634A-145B3FE3FE91}"/>
              </a:ext>
            </a:extLst>
          </p:cNvPr>
          <p:cNvPicPr>
            <a:picLocks noChangeAspect="1"/>
          </p:cNvPicPr>
          <p:nvPr/>
        </p:nvPicPr>
        <p:blipFill>
          <a:blip r:embed="rId2"/>
          <a:stretch>
            <a:fillRect/>
          </a:stretch>
        </p:blipFill>
        <p:spPr>
          <a:xfrm>
            <a:off x="6352309" y="1963015"/>
            <a:ext cx="3810000" cy="4095750"/>
          </a:xfrm>
          <a:prstGeom prst="rect">
            <a:avLst/>
          </a:prstGeom>
        </p:spPr>
      </p:pic>
    </p:spTree>
    <p:extLst>
      <p:ext uri="{BB962C8B-B14F-4D97-AF65-F5344CB8AC3E}">
        <p14:creationId xmlns:p14="http://schemas.microsoft.com/office/powerpoint/2010/main" val="405364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733E1-9DA7-9605-2F53-29ED6C7A4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DBE6B-3938-E9BD-2A90-021B34CE3CEA}"/>
              </a:ext>
            </a:extLst>
          </p:cNvPr>
          <p:cNvSpPr>
            <a:spLocks noGrp="1"/>
          </p:cNvSpPr>
          <p:nvPr>
            <p:ph type="title"/>
          </p:nvPr>
        </p:nvSpPr>
        <p:spPr>
          <a:xfrm>
            <a:off x="838200" y="355486"/>
            <a:ext cx="10515600" cy="1325563"/>
          </a:xfrm>
        </p:spPr>
        <p:txBody>
          <a:bodyPr/>
          <a:lstStyle/>
          <a:p>
            <a:r>
              <a:rPr lang="en-US" dirty="0"/>
              <a:t>Last Class Review </a:t>
            </a:r>
          </a:p>
        </p:txBody>
      </p:sp>
      <p:sp>
        <p:nvSpPr>
          <p:cNvPr id="3" name="Content Placeholder 2">
            <a:extLst>
              <a:ext uri="{FF2B5EF4-FFF2-40B4-BE49-F238E27FC236}">
                <a16:creationId xmlns:a16="http://schemas.microsoft.com/office/drawing/2014/main" id="{1472242C-C1E5-C17B-E62B-83AB4234E204}"/>
              </a:ext>
            </a:extLst>
          </p:cNvPr>
          <p:cNvSpPr>
            <a:spLocks noGrp="1"/>
          </p:cNvSpPr>
          <p:nvPr>
            <p:ph idx="1"/>
          </p:nvPr>
        </p:nvSpPr>
        <p:spPr/>
        <p:txBody>
          <a:bodyPr/>
          <a:lstStyle/>
          <a:p>
            <a:r>
              <a:rPr lang="en-US" dirty="0"/>
              <a:t>Supply Curve: Marginal Cost Curve</a:t>
            </a:r>
          </a:p>
          <a:p>
            <a:endParaRPr lang="en-US" dirty="0"/>
          </a:p>
        </p:txBody>
      </p:sp>
      <p:pic>
        <p:nvPicPr>
          <p:cNvPr id="4" name="Picture 3">
            <a:extLst>
              <a:ext uri="{FF2B5EF4-FFF2-40B4-BE49-F238E27FC236}">
                <a16:creationId xmlns:a16="http://schemas.microsoft.com/office/drawing/2014/main" id="{CA6E08B0-3623-75E9-10CB-B48E6563E29D}"/>
              </a:ext>
            </a:extLst>
          </p:cNvPr>
          <p:cNvPicPr>
            <a:picLocks noChangeAspect="1"/>
          </p:cNvPicPr>
          <p:nvPr/>
        </p:nvPicPr>
        <p:blipFill>
          <a:blip r:embed="rId3"/>
          <a:stretch>
            <a:fillRect/>
          </a:stretch>
        </p:blipFill>
        <p:spPr>
          <a:xfrm>
            <a:off x="2948473" y="2534385"/>
            <a:ext cx="5481229" cy="3305347"/>
          </a:xfrm>
          <a:prstGeom prst="rect">
            <a:avLst/>
          </a:prstGeom>
        </p:spPr>
      </p:pic>
    </p:spTree>
    <p:extLst>
      <p:ext uri="{BB962C8B-B14F-4D97-AF65-F5344CB8AC3E}">
        <p14:creationId xmlns:p14="http://schemas.microsoft.com/office/powerpoint/2010/main" val="1698561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9232584-3F80-1265-88D6-8913724E2D7F}"/>
                  </a:ext>
                </a:extLst>
              </p:cNvPr>
              <p:cNvSpPr>
                <a:spLocks noGrp="1"/>
              </p:cNvSpPr>
              <p:nvPr>
                <p:ph idx="1"/>
              </p:nvPr>
            </p:nvSpPr>
            <p:spPr/>
            <p:txBody>
              <a:bodyPr/>
              <a:lstStyle/>
              <a:p>
                <a:r>
                  <a:rPr lang="en-US" dirty="0"/>
                  <a:t>Cost Structures </a:t>
                </a:r>
              </a:p>
              <a:p>
                <a:pPr lvl="1"/>
                <a:r>
                  <a:rPr lang="en-US" dirty="0"/>
                  <a:t>Fixed Costs </a:t>
                </a:r>
              </a:p>
              <a:p>
                <a:pPr lvl="1"/>
                <a:r>
                  <a:rPr lang="en-US" dirty="0"/>
                  <a:t>Variable Costs </a:t>
                </a:r>
              </a:p>
              <a:p>
                <a:pPr lvl="1"/>
                <a:r>
                  <a:rPr lang="en-US" dirty="0"/>
                  <a:t>Total Costs </a:t>
                </a:r>
              </a:p>
              <a:p>
                <a:pPr marL="457200" lvl="1" indent="0">
                  <a:buNone/>
                </a:pPr>
                <a:endParaRPr lang="en-US" dirty="0"/>
              </a:p>
              <a:p>
                <a:r>
                  <a:rPr lang="en-US" dirty="0"/>
                  <a:t>Marginal Costs</a:t>
                </a:r>
              </a:p>
              <a:p>
                <a:pPr lvl="1"/>
                <a14:m>
                  <m:oMath xmlns:m="http://schemas.openxmlformats.org/officeDocument/2006/math">
                    <m:r>
                      <a:rPr lang="en-US" b="0" i="1" dirty="0" smtClean="0">
                        <a:solidFill>
                          <a:schemeClr val="tx1"/>
                        </a:solidFill>
                        <a:latin typeface="Cambria Math" panose="02040503050406030204" pitchFamily="18" charset="0"/>
                      </a:rPr>
                      <m:t>𝑀</m:t>
                    </m:r>
                    <m:r>
                      <a:rPr lang="en-US" b="0" i="0" dirty="0">
                        <a:solidFill>
                          <a:schemeClr val="tx1"/>
                        </a:solidFill>
                        <a:latin typeface="Cambria Math" panose="02040503050406030204" pitchFamily="18" charset="0"/>
                      </a:rPr>
                      <m:t>⁢</m:t>
                    </m:r>
                    <m:r>
                      <a:rPr lang="en-US" b="0" i="1" dirty="0">
                        <a:solidFill>
                          <a:schemeClr val="tx1"/>
                        </a:solidFill>
                        <a:latin typeface="Cambria Math" panose="02040503050406030204" pitchFamily="18" charset="0"/>
                      </a:rPr>
                      <m:t>𝐶</m:t>
                    </m:r>
                    <m:r>
                      <a:rPr lang="en-US" b="0" i="0" dirty="0">
                        <a:solidFill>
                          <a:schemeClr val="tx1"/>
                        </a:solidFill>
                        <a:latin typeface="Cambria Math" panose="02040503050406030204" pitchFamily="18" charset="0"/>
                      </a:rPr>
                      <m:t>=</m:t>
                    </m:r>
                    <m:f>
                      <m:fPr>
                        <m:type m:val="lin"/>
                        <m:ctrlPr>
                          <a:rPr lang="en-US" b="0" i="1" dirty="0">
                            <a:solidFill>
                              <a:schemeClr val="tx1"/>
                            </a:solidFill>
                            <a:latin typeface="Cambria Math" panose="02040503050406030204" pitchFamily="18" charset="0"/>
                          </a:rPr>
                        </m:ctrlPr>
                      </m:fPr>
                      <m:num>
                        <m:d>
                          <m:dPr>
                            <m:ctrlPr>
                              <a:rPr lang="en-US" b="0" i="1" dirty="0">
                                <a:solidFill>
                                  <a:schemeClr val="tx1"/>
                                </a:solidFill>
                                <a:latin typeface="Cambria Math" panose="02040503050406030204" pitchFamily="18" charset="0"/>
                              </a:rPr>
                            </m:ctrlPr>
                          </m:dPr>
                          <m:e>
                            <m:r>
                              <a:rPr lang="en-US" b="0" i="1" dirty="0">
                                <a:solidFill>
                                  <a:schemeClr val="tx1"/>
                                </a:solidFill>
                                <a:latin typeface="Cambria Math" panose="02040503050406030204" pitchFamily="18" charset="0"/>
                              </a:rPr>
                              <m:t>𝛥</m:t>
                            </m:r>
                            <m:r>
                              <a:rPr lang="en-US" b="0" i="1" dirty="0">
                                <a:solidFill>
                                  <a:schemeClr val="tx1"/>
                                </a:solidFill>
                                <a:latin typeface="Cambria Math" panose="02040503050406030204" pitchFamily="18" charset="0"/>
                              </a:rPr>
                              <m:t> </m:t>
                            </m:r>
                            <m:r>
                              <a:rPr lang="en-US" b="0" i="1" dirty="0">
                                <a:solidFill>
                                  <a:schemeClr val="tx1"/>
                                </a:solidFill>
                                <a:latin typeface="Cambria Math" panose="02040503050406030204" pitchFamily="18" charset="0"/>
                              </a:rPr>
                              <m:t>𝑇</m:t>
                            </m:r>
                            <m:r>
                              <a:rPr lang="en-US" b="0" i="0" dirty="0">
                                <a:solidFill>
                                  <a:schemeClr val="tx1"/>
                                </a:solidFill>
                                <a:latin typeface="Cambria Math" panose="02040503050406030204" pitchFamily="18" charset="0"/>
                              </a:rPr>
                              <m:t>⁢</m:t>
                            </m:r>
                            <m:r>
                              <a:rPr lang="en-US" b="0" i="1" dirty="0">
                                <a:solidFill>
                                  <a:schemeClr val="tx1"/>
                                </a:solidFill>
                                <a:latin typeface="Cambria Math" panose="02040503050406030204" pitchFamily="18" charset="0"/>
                              </a:rPr>
                              <m:t>𝐶</m:t>
                            </m:r>
                          </m:e>
                        </m:d>
                      </m:num>
                      <m:den>
                        <m:d>
                          <m:dPr>
                            <m:ctrlPr>
                              <a:rPr lang="en-US" b="0" i="1" dirty="0">
                                <a:solidFill>
                                  <a:schemeClr val="tx1"/>
                                </a:solidFill>
                                <a:latin typeface="Cambria Math" panose="02040503050406030204" pitchFamily="18" charset="0"/>
                              </a:rPr>
                            </m:ctrlPr>
                          </m:dPr>
                          <m:e>
                            <m:r>
                              <a:rPr lang="en-US" b="0" i="1" dirty="0">
                                <a:solidFill>
                                  <a:schemeClr val="tx1"/>
                                </a:solidFill>
                                <a:latin typeface="Cambria Math" panose="02040503050406030204" pitchFamily="18" charset="0"/>
                              </a:rPr>
                              <m:t>𝛥</m:t>
                            </m:r>
                            <m:r>
                              <a:rPr lang="en-US" b="0" i="1" dirty="0">
                                <a:solidFill>
                                  <a:schemeClr val="tx1"/>
                                </a:solidFill>
                                <a:latin typeface="Cambria Math" panose="02040503050406030204" pitchFamily="18" charset="0"/>
                              </a:rPr>
                              <m:t> </m:t>
                            </m:r>
                            <m:r>
                              <a:rPr lang="en-US" b="0" i="1" dirty="0">
                                <a:solidFill>
                                  <a:schemeClr val="tx1"/>
                                </a:solidFill>
                                <a:latin typeface="Cambria Math" panose="02040503050406030204" pitchFamily="18" charset="0"/>
                              </a:rPr>
                              <m:t>𝑄</m:t>
                            </m:r>
                          </m:e>
                        </m:d>
                      </m:den>
                    </m:f>
                    <m:r>
                      <a:rPr lang="en-US" b="0" i="1" dirty="0">
                        <a:solidFill>
                          <a:schemeClr val="tx1"/>
                        </a:solidFill>
                        <a:latin typeface="Cambria Math" panose="02040503050406030204" pitchFamily="18" charset="0"/>
                      </a:rPr>
                      <m:t> </m:t>
                    </m:r>
                    <m:r>
                      <a:rPr lang="en-US" b="0" i="0" dirty="0">
                        <a:solidFill>
                          <a:schemeClr val="tx1"/>
                        </a:solidFill>
                        <a:latin typeface="Cambria Math" panose="02040503050406030204" pitchFamily="18" charset="0"/>
                      </a:rPr>
                      <m:t>=</m:t>
                    </m:r>
                    <m:r>
                      <a:rPr lang="en-US" b="0" i="1" dirty="0">
                        <a:solidFill>
                          <a:schemeClr val="tx1"/>
                        </a:solidFill>
                        <a:latin typeface="Cambria Math" panose="02040503050406030204" pitchFamily="18" charset="0"/>
                      </a:rPr>
                      <m:t> </m:t>
                    </m:r>
                    <m:f>
                      <m:fPr>
                        <m:type m:val="lin"/>
                        <m:ctrlPr>
                          <a:rPr lang="en-US" b="0" i="1" dirty="0">
                            <a:solidFill>
                              <a:schemeClr val="tx1"/>
                            </a:solidFill>
                            <a:latin typeface="Cambria Math" panose="02040503050406030204" pitchFamily="18" charset="0"/>
                          </a:rPr>
                        </m:ctrlPr>
                      </m:fPr>
                      <m:num>
                        <m:d>
                          <m:dPr>
                            <m:ctrlPr>
                              <a:rPr lang="en-US" b="0" i="1" dirty="0">
                                <a:solidFill>
                                  <a:schemeClr val="tx1"/>
                                </a:solidFill>
                                <a:latin typeface="Cambria Math" panose="02040503050406030204" pitchFamily="18" charset="0"/>
                              </a:rPr>
                            </m:ctrlPr>
                          </m:dPr>
                          <m:e>
                            <m:r>
                              <a:rPr lang="en-US" b="0" i="1" dirty="0">
                                <a:solidFill>
                                  <a:schemeClr val="tx1"/>
                                </a:solidFill>
                                <a:latin typeface="Cambria Math" panose="02040503050406030204" pitchFamily="18" charset="0"/>
                              </a:rPr>
                              <m:t>𝑇</m:t>
                            </m:r>
                            <m:r>
                              <a:rPr lang="en-US" b="0" i="0" dirty="0">
                                <a:solidFill>
                                  <a:schemeClr val="tx1"/>
                                </a:solidFill>
                                <a:latin typeface="Cambria Math" panose="02040503050406030204" pitchFamily="18" charset="0"/>
                              </a:rPr>
                              <m:t>⁢</m:t>
                            </m:r>
                            <m:sSub>
                              <m:sSubPr>
                                <m:ctrlPr>
                                  <a:rPr lang="en-US" b="0" i="1" dirty="0">
                                    <a:solidFill>
                                      <a:schemeClr val="tx1"/>
                                    </a:solidFill>
                                    <a:latin typeface="Cambria Math" panose="02040503050406030204" pitchFamily="18" charset="0"/>
                                  </a:rPr>
                                </m:ctrlPr>
                              </m:sSubPr>
                              <m:e>
                                <m:r>
                                  <a:rPr lang="en-US" b="0" i="1" dirty="0">
                                    <a:solidFill>
                                      <a:schemeClr val="tx1"/>
                                    </a:solidFill>
                                    <a:latin typeface="Cambria Math" panose="02040503050406030204" pitchFamily="18" charset="0"/>
                                  </a:rPr>
                                  <m:t>𝐶</m:t>
                                </m:r>
                              </m:e>
                              <m:sub>
                                <m:r>
                                  <a:rPr lang="en-US" b="0" i="0" dirty="0">
                                    <a:solidFill>
                                      <a:schemeClr val="tx1"/>
                                    </a:solidFill>
                                    <a:latin typeface="Cambria Math" panose="02040503050406030204" pitchFamily="18" charset="0"/>
                                  </a:rPr>
                                  <m:t>2</m:t>
                                </m:r>
                              </m:sub>
                            </m:sSub>
                            <m:r>
                              <a:rPr lang="en-US" b="0" i="0" dirty="0">
                                <a:solidFill>
                                  <a:schemeClr val="tx1"/>
                                </a:solidFill>
                                <a:latin typeface="Cambria Math" panose="02040503050406030204" pitchFamily="18" charset="0"/>
                              </a:rPr>
                              <m:t> –</m:t>
                            </m:r>
                            <m:r>
                              <a:rPr lang="en-US" b="0" i="1" dirty="0">
                                <a:solidFill>
                                  <a:schemeClr val="tx1"/>
                                </a:solidFill>
                                <a:latin typeface="Cambria Math" panose="02040503050406030204" pitchFamily="18" charset="0"/>
                              </a:rPr>
                              <m:t> </m:t>
                            </m:r>
                            <m:r>
                              <a:rPr lang="en-US" b="0" i="1" dirty="0">
                                <a:solidFill>
                                  <a:schemeClr val="tx1"/>
                                </a:solidFill>
                                <a:latin typeface="Cambria Math" panose="02040503050406030204" pitchFamily="18" charset="0"/>
                              </a:rPr>
                              <m:t>𝑇</m:t>
                            </m:r>
                            <m:r>
                              <a:rPr lang="en-US" b="0" i="0" dirty="0">
                                <a:solidFill>
                                  <a:schemeClr val="tx1"/>
                                </a:solidFill>
                                <a:latin typeface="Cambria Math" panose="02040503050406030204" pitchFamily="18" charset="0"/>
                              </a:rPr>
                              <m:t>⁢</m:t>
                            </m:r>
                            <m:sSub>
                              <m:sSubPr>
                                <m:ctrlPr>
                                  <a:rPr lang="en-US" b="0" i="1" dirty="0">
                                    <a:solidFill>
                                      <a:schemeClr val="tx1"/>
                                    </a:solidFill>
                                    <a:latin typeface="Cambria Math" panose="02040503050406030204" pitchFamily="18" charset="0"/>
                                  </a:rPr>
                                </m:ctrlPr>
                              </m:sSubPr>
                              <m:e>
                                <m:r>
                                  <a:rPr lang="en-US" b="0" i="1" dirty="0">
                                    <a:solidFill>
                                      <a:schemeClr val="tx1"/>
                                    </a:solidFill>
                                    <a:latin typeface="Cambria Math" panose="02040503050406030204" pitchFamily="18" charset="0"/>
                                  </a:rPr>
                                  <m:t>𝐶</m:t>
                                </m:r>
                              </m:e>
                              <m:sub>
                                <m:r>
                                  <a:rPr lang="en-US" b="0" i="0" dirty="0">
                                    <a:solidFill>
                                      <a:schemeClr val="tx1"/>
                                    </a:solidFill>
                                    <a:latin typeface="Cambria Math" panose="02040503050406030204" pitchFamily="18" charset="0"/>
                                  </a:rPr>
                                  <m:t>1</m:t>
                                </m:r>
                              </m:sub>
                            </m:sSub>
                          </m:e>
                        </m:d>
                      </m:num>
                      <m:den>
                        <m:d>
                          <m:dPr>
                            <m:ctrlPr>
                              <a:rPr lang="en-US" b="0" i="1" dirty="0">
                                <a:solidFill>
                                  <a:schemeClr val="tx1"/>
                                </a:solidFill>
                                <a:latin typeface="Cambria Math" panose="02040503050406030204" pitchFamily="18" charset="0"/>
                              </a:rPr>
                            </m:ctrlPr>
                          </m:dPr>
                          <m:e>
                            <m:sSub>
                              <m:sSubPr>
                                <m:ctrlPr>
                                  <a:rPr lang="en-US" b="0" i="1" dirty="0">
                                    <a:solidFill>
                                      <a:schemeClr val="tx1"/>
                                    </a:solidFill>
                                    <a:latin typeface="Cambria Math" panose="02040503050406030204" pitchFamily="18" charset="0"/>
                                  </a:rPr>
                                </m:ctrlPr>
                              </m:sSubPr>
                              <m:e>
                                <m:r>
                                  <a:rPr lang="en-US" b="0" i="1" dirty="0">
                                    <a:solidFill>
                                      <a:schemeClr val="tx1"/>
                                    </a:solidFill>
                                    <a:latin typeface="Cambria Math" panose="02040503050406030204" pitchFamily="18" charset="0"/>
                                  </a:rPr>
                                  <m:t>𝑄</m:t>
                                </m:r>
                              </m:e>
                              <m:sub>
                                <m:r>
                                  <a:rPr lang="en-US" b="0" i="0" dirty="0">
                                    <a:solidFill>
                                      <a:schemeClr val="tx1"/>
                                    </a:solidFill>
                                    <a:latin typeface="Cambria Math" panose="02040503050406030204" pitchFamily="18" charset="0"/>
                                  </a:rPr>
                                  <m:t>2</m:t>
                                </m:r>
                              </m:sub>
                            </m:sSub>
                            <m:r>
                              <a:rPr lang="en-US" b="0" i="0" dirty="0">
                                <a:solidFill>
                                  <a:schemeClr val="tx1"/>
                                </a:solidFill>
                                <a:latin typeface="Cambria Math" panose="02040503050406030204" pitchFamily="18" charset="0"/>
                              </a:rPr>
                              <m:t>−</m:t>
                            </m:r>
                            <m:sSub>
                              <m:sSubPr>
                                <m:ctrlPr>
                                  <a:rPr lang="en-US" b="0" i="1" dirty="0">
                                    <a:solidFill>
                                      <a:schemeClr val="tx1"/>
                                    </a:solidFill>
                                    <a:latin typeface="Cambria Math" panose="02040503050406030204" pitchFamily="18" charset="0"/>
                                  </a:rPr>
                                </m:ctrlPr>
                              </m:sSubPr>
                              <m:e>
                                <m:r>
                                  <a:rPr lang="en-US" b="0" i="1" dirty="0">
                                    <a:solidFill>
                                      <a:schemeClr val="tx1"/>
                                    </a:solidFill>
                                    <a:latin typeface="Cambria Math" panose="02040503050406030204" pitchFamily="18" charset="0"/>
                                  </a:rPr>
                                  <m:t>𝑄</m:t>
                                </m:r>
                              </m:e>
                              <m:sub>
                                <m:r>
                                  <a:rPr lang="en-US" b="0" i="0" dirty="0">
                                    <a:solidFill>
                                      <a:schemeClr val="tx1"/>
                                    </a:solidFill>
                                    <a:latin typeface="Cambria Math" panose="02040503050406030204" pitchFamily="18" charset="0"/>
                                  </a:rPr>
                                  <m:t>1</m:t>
                                </m:r>
                              </m:sub>
                            </m:sSub>
                          </m:e>
                        </m:d>
                      </m:den>
                    </m:f>
                  </m:oMath>
                </a14:m>
                <a:endParaRPr lang="en-US" dirty="0">
                  <a:solidFill>
                    <a:schemeClr val="tx1"/>
                  </a:solidFill>
                </a:endParaRPr>
              </a:p>
              <a:p>
                <a:pPr lvl="1"/>
                <a:r>
                  <a:rPr lang="en-US" dirty="0"/>
                  <a:t>MC = Supply Curve </a:t>
                </a:r>
                <a:r>
                  <a:rPr lang="en-US" dirty="0">
                    <a:solidFill>
                      <a:schemeClr val="tx1"/>
                    </a:solidFill>
                  </a:rPr>
                  <a:t> </a:t>
                </a:r>
              </a:p>
              <a:p>
                <a:pPr marL="457200" lvl="1" indent="0">
                  <a:buNone/>
                </a:pPr>
                <a:endParaRPr lang="en-US" dirty="0"/>
              </a:p>
              <a:p>
                <a:pPr marL="457200" lvl="1" indent="0">
                  <a:buNone/>
                </a:pPr>
                <a:endParaRPr lang="en-US" dirty="0"/>
              </a:p>
            </p:txBody>
          </p:sp>
        </mc:Choice>
        <mc:Fallback>
          <p:sp>
            <p:nvSpPr>
              <p:cNvPr id="3" name="Content Placeholder 2">
                <a:extLst>
                  <a:ext uri="{FF2B5EF4-FFF2-40B4-BE49-F238E27FC236}">
                    <a16:creationId xmlns:a16="http://schemas.microsoft.com/office/drawing/2014/main" id="{C9232584-3F80-1265-88D6-8913724E2D7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87ED087B-5F5B-7CED-E4A2-E38D96CBFF55}"/>
              </a:ext>
            </a:extLst>
          </p:cNvPr>
          <p:cNvSpPr txBox="1">
            <a:spLocks/>
          </p:cNvSpPr>
          <p:nvPr/>
        </p:nvSpPr>
        <p:spPr>
          <a:xfrm>
            <a:off x="838200" y="26476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Last Class Review </a:t>
            </a:r>
          </a:p>
        </p:txBody>
      </p:sp>
    </p:spTree>
    <p:extLst>
      <p:ext uri="{BB962C8B-B14F-4D97-AF65-F5344CB8AC3E}">
        <p14:creationId xmlns:p14="http://schemas.microsoft.com/office/powerpoint/2010/main" val="1910043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0036F-11A1-69A3-EFBE-851DD6EA1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B68A7-5121-E967-0D40-285E35BE53E1}"/>
              </a:ext>
            </a:extLst>
          </p:cNvPr>
          <p:cNvSpPr>
            <a:spLocks noGrp="1"/>
          </p:cNvSpPr>
          <p:nvPr>
            <p:ph type="title"/>
          </p:nvPr>
        </p:nvSpPr>
        <p:spPr/>
        <p:txBody>
          <a:bodyPr/>
          <a:lstStyle/>
          <a:p>
            <a:r>
              <a:rPr lang="en-US" dirty="0"/>
              <a:t>Last Class Review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942CFE5-5187-120D-C04E-DDACEC39F1ED}"/>
                  </a:ext>
                </a:extLst>
              </p:cNvPr>
              <p:cNvSpPr>
                <a:spLocks noGrp="1"/>
              </p:cNvSpPr>
              <p:nvPr>
                <p:ph idx="1"/>
              </p:nvPr>
            </p:nvSpPr>
            <p:spPr/>
            <p:txBody>
              <a:bodyPr/>
              <a:lstStyle/>
              <a:p>
                <a:r>
                  <a:rPr lang="en-US" dirty="0"/>
                  <a:t>Marginal Productivity </a:t>
                </a:r>
                <a:r>
                  <a:rPr lang="en-US" dirty="0">
                    <a:sym typeface="Wingdings" panose="05000000000000000000" pitchFamily="2" charset="2"/>
                  </a:rPr>
                  <a:t> What creates costs?</a:t>
                </a:r>
              </a:p>
              <a:p>
                <a:r>
                  <a:rPr lang="en-US" dirty="0">
                    <a:sym typeface="Wingdings" panose="05000000000000000000" pitchFamily="2" charset="2"/>
                  </a:rPr>
                  <a:t>Production function </a:t>
                </a:r>
                <a14:m>
                  <m:oMath xmlns:m="http://schemas.openxmlformats.org/officeDocument/2006/math">
                    <m:r>
                      <a:rPr lang="en-US" i="1"/>
                      <m:t>𝑌</m:t>
                    </m:r>
                    <m:r>
                      <a:rPr lang="en-US" i="1"/>
                      <m:t>=</m:t>
                    </m:r>
                    <m:r>
                      <a:rPr lang="en-US" i="1"/>
                      <m:t>𝑓</m:t>
                    </m:r>
                    <m:r>
                      <a:rPr lang="en-US" i="1"/>
                      <m:t>(</m:t>
                    </m:r>
                    <m:r>
                      <a:rPr lang="en-US" i="1"/>
                      <m:t>𝐾</m:t>
                    </m:r>
                    <m:r>
                      <a:rPr lang="en-US" i="1"/>
                      <m:t>,</m:t>
                    </m:r>
                    <m:r>
                      <a:rPr lang="en-US" i="1"/>
                      <m:t>𝐿</m:t>
                    </m:r>
                    <m:r>
                      <a:rPr lang="en-US" i="1"/>
                      <m:t>)</m:t>
                    </m:r>
                  </m:oMath>
                </a14:m>
                <a:endParaRPr lang="en-US" dirty="0"/>
              </a:p>
              <a:p>
                <a:endParaRPr lang="en-US" dirty="0"/>
              </a:p>
            </p:txBody>
          </p:sp>
        </mc:Choice>
        <mc:Fallback>
          <p:sp>
            <p:nvSpPr>
              <p:cNvPr id="3" name="Content Placeholder 2">
                <a:extLst>
                  <a:ext uri="{FF2B5EF4-FFF2-40B4-BE49-F238E27FC236}">
                    <a16:creationId xmlns:a16="http://schemas.microsoft.com/office/drawing/2014/main" id="{7942CFE5-5187-120D-C04E-DDACEC39F1ED}"/>
                  </a:ext>
                </a:extLst>
              </p:cNvPr>
              <p:cNvSpPr>
                <a:spLocks noGrp="1" noRot="1" noChangeAspect="1" noMove="1" noResize="1" noEditPoints="1" noAdjustHandles="1" noChangeArrowheads="1" noChangeShapeType="1" noTextEdit="1"/>
              </p:cNvSpPr>
              <p:nvPr>
                <p:ph idx="1"/>
              </p:nvPr>
            </p:nvSpPr>
            <p:spPr>
              <a:blipFill>
                <a:blip r:embed="rId2"/>
                <a:stretch>
                  <a:fillRect l="-1043" t="-280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EA1E0FF-3BD1-DF08-B0BA-372576904D4E}"/>
              </a:ext>
            </a:extLst>
          </p:cNvPr>
          <p:cNvPicPr>
            <a:picLocks noChangeAspect="1"/>
          </p:cNvPicPr>
          <p:nvPr/>
        </p:nvPicPr>
        <p:blipFill>
          <a:blip r:embed="rId3"/>
          <a:stretch>
            <a:fillRect/>
          </a:stretch>
        </p:blipFill>
        <p:spPr>
          <a:xfrm>
            <a:off x="3951835" y="2892828"/>
            <a:ext cx="3485570" cy="3134505"/>
          </a:xfrm>
          <a:prstGeom prst="rect">
            <a:avLst/>
          </a:prstGeom>
        </p:spPr>
      </p:pic>
    </p:spTree>
    <p:extLst>
      <p:ext uri="{BB962C8B-B14F-4D97-AF65-F5344CB8AC3E}">
        <p14:creationId xmlns:p14="http://schemas.microsoft.com/office/powerpoint/2010/main" val="961263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A2D27-48FA-0686-3E52-45736E6F6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25AA1-A1C8-BD28-F62B-F238460B11BF}"/>
              </a:ext>
            </a:extLst>
          </p:cNvPr>
          <p:cNvSpPr>
            <a:spLocks noGrp="1"/>
          </p:cNvSpPr>
          <p:nvPr>
            <p:ph type="title"/>
          </p:nvPr>
        </p:nvSpPr>
        <p:spPr/>
        <p:txBody>
          <a:bodyPr/>
          <a:lstStyle/>
          <a:p>
            <a:r>
              <a:rPr lang="en-US" dirty="0"/>
              <a:t>Last Class Review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D61BCD0-4F83-0995-6FE4-504B5495DF5E}"/>
                  </a:ext>
                </a:extLst>
              </p:cNvPr>
              <p:cNvSpPr>
                <a:spLocks noGrp="1"/>
              </p:cNvSpPr>
              <p:nvPr>
                <p:ph idx="1"/>
              </p:nvPr>
            </p:nvSpPr>
            <p:spPr>
              <a:xfrm>
                <a:off x="838200" y="1825625"/>
                <a:ext cx="10733116" cy="4351338"/>
              </a:xfrm>
            </p:spPr>
            <p:txBody>
              <a:bodyPr/>
              <a:lstStyle/>
              <a:p>
                <a:r>
                  <a:rPr lang="en-US" dirty="0"/>
                  <a:t>Marginal Product </a:t>
                </a:r>
                <a14:m>
                  <m:oMath xmlns:m="http://schemas.openxmlformats.org/officeDocument/2006/math">
                    <m:r>
                      <a:rPr lang="en-US" i="1">
                        <a:latin typeface="Cambria Math" panose="02040503050406030204" pitchFamily="18" charset="0"/>
                      </a:rPr>
                      <m:t>𝑀𝑃</m:t>
                    </m:r>
                    <m:r>
                      <a:rPr lang="en-US" i="1">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Δ</m:t>
                        </m:r>
                        <m:r>
                          <a:rPr lang="en-US" i="1">
                            <a:latin typeface="Cambria Math" panose="02040503050406030204" pitchFamily="18" charset="0"/>
                          </a:rPr>
                          <m:t>𝑌</m:t>
                        </m:r>
                      </m:num>
                      <m:den>
                        <m:r>
                          <m:rPr>
                            <m:sty m:val="p"/>
                          </m:rPr>
                          <a:rPr lang="en-US">
                            <a:latin typeface="Cambria Math" panose="02040503050406030204" pitchFamily="18" charset="0"/>
                          </a:rPr>
                          <m:t>Δ</m:t>
                        </m:r>
                        <m:r>
                          <a:rPr lang="en-US" i="1">
                            <a:latin typeface="Cambria Math" panose="02040503050406030204" pitchFamily="18" charset="0"/>
                          </a:rPr>
                          <m:t>𝐹</m:t>
                        </m:r>
                      </m:den>
                    </m:f>
                  </m:oMath>
                </a14:m>
                <a:r>
                  <a:rPr lang="en-US" dirty="0"/>
                  <a:t> </a:t>
                </a:r>
              </a:p>
              <a:p>
                <a:pPr lvl="1"/>
                <a:r>
                  <a:rPr lang="en-US" dirty="0"/>
                  <a:t>How much does output change with a given change in input F? </a:t>
                </a:r>
              </a:p>
              <a:p>
                <a:pPr lvl="1"/>
                <a:endParaRPr lang="en-US" dirty="0"/>
              </a:p>
              <a:p>
                <a:r>
                  <a:rPr lang="en-US" b="1" dirty="0"/>
                  <a:t>Law of Diminishing Returns: </a:t>
                </a:r>
                <a:r>
                  <a:rPr lang="en-US" dirty="0">
                    <a:solidFill>
                      <a:schemeClr val="accent1"/>
                    </a:solidFill>
                  </a:rPr>
                  <a:t>Ceteris paribus </a:t>
                </a:r>
                <a:r>
                  <a:rPr lang="en-US" dirty="0"/>
                  <a:t>(holding everything else constant), if we increase only factor F (L or K), then the corresponding increase in Y will get smaller with each additional unit of F employed. </a:t>
                </a:r>
              </a:p>
            </p:txBody>
          </p:sp>
        </mc:Choice>
        <mc:Fallback>
          <p:sp>
            <p:nvSpPr>
              <p:cNvPr id="3" name="Content Placeholder 2">
                <a:extLst>
                  <a:ext uri="{FF2B5EF4-FFF2-40B4-BE49-F238E27FC236}">
                    <a16:creationId xmlns:a16="http://schemas.microsoft.com/office/drawing/2014/main" id="{BD61BCD0-4F83-0995-6FE4-504B5495DF5E}"/>
                  </a:ext>
                </a:extLst>
              </p:cNvPr>
              <p:cNvSpPr>
                <a:spLocks noGrp="1" noRot="1" noChangeAspect="1" noMove="1" noResize="1" noEditPoints="1" noAdjustHandles="1" noChangeArrowheads="1" noChangeShapeType="1" noTextEdit="1"/>
              </p:cNvSpPr>
              <p:nvPr>
                <p:ph idx="1"/>
              </p:nvPr>
            </p:nvSpPr>
            <p:spPr>
              <a:xfrm>
                <a:off x="838200" y="1825625"/>
                <a:ext cx="10733116" cy="4351338"/>
              </a:xfrm>
              <a:blipFill>
                <a:blip r:embed="rId2"/>
                <a:stretch>
                  <a:fillRect l="-1023"/>
                </a:stretch>
              </a:blipFill>
            </p:spPr>
            <p:txBody>
              <a:bodyPr/>
              <a:lstStyle/>
              <a:p>
                <a:r>
                  <a:rPr lang="en-US">
                    <a:noFill/>
                  </a:rPr>
                  <a:t> </a:t>
                </a:r>
              </a:p>
            </p:txBody>
          </p:sp>
        </mc:Fallback>
      </mc:AlternateContent>
    </p:spTree>
    <p:extLst>
      <p:ext uri="{BB962C8B-B14F-4D97-AF65-F5344CB8AC3E}">
        <p14:creationId xmlns:p14="http://schemas.microsoft.com/office/powerpoint/2010/main" val="3209378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218AB-566C-09E8-F8CC-B90396CAEECA}"/>
              </a:ext>
            </a:extLst>
          </p:cNvPr>
          <p:cNvSpPr>
            <a:spLocks noGrp="1"/>
          </p:cNvSpPr>
          <p:nvPr>
            <p:ph type="title"/>
          </p:nvPr>
        </p:nvSpPr>
        <p:spPr/>
        <p:txBody>
          <a:bodyPr/>
          <a:lstStyle/>
          <a:p>
            <a:r>
              <a:rPr lang="en-US" dirty="0"/>
              <a:t>Example problems</a:t>
            </a:r>
          </a:p>
        </p:txBody>
      </p:sp>
      <p:sp>
        <p:nvSpPr>
          <p:cNvPr id="3" name="Content Placeholder 2">
            <a:extLst>
              <a:ext uri="{FF2B5EF4-FFF2-40B4-BE49-F238E27FC236}">
                <a16:creationId xmlns:a16="http://schemas.microsoft.com/office/drawing/2014/main" id="{D87046FC-6F14-1F7C-873D-F9B85F7021B7}"/>
              </a:ext>
            </a:extLst>
          </p:cNvPr>
          <p:cNvSpPr>
            <a:spLocks noGrp="1"/>
          </p:cNvSpPr>
          <p:nvPr>
            <p:ph idx="1"/>
          </p:nvPr>
        </p:nvSpPr>
        <p:spPr/>
        <p:txBody>
          <a:bodyPr/>
          <a:lstStyle/>
          <a:p>
            <a:r>
              <a:rPr lang="en-US" dirty="0"/>
              <a:t>Get into groups of 4-5</a:t>
            </a:r>
          </a:p>
        </p:txBody>
      </p:sp>
    </p:spTree>
    <p:extLst>
      <p:ext uri="{BB962C8B-B14F-4D97-AF65-F5344CB8AC3E}">
        <p14:creationId xmlns:p14="http://schemas.microsoft.com/office/powerpoint/2010/main" val="132893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9A43B-21F7-08AA-BC32-F8468D7A9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7A030-F4C8-FA9F-8F0A-22BD939DEDCA}"/>
              </a:ext>
            </a:extLst>
          </p:cNvPr>
          <p:cNvSpPr>
            <a:spLocks noGrp="1"/>
          </p:cNvSpPr>
          <p:nvPr>
            <p:ph type="title"/>
          </p:nvPr>
        </p:nvSpPr>
        <p:spPr/>
        <p:txBody>
          <a:bodyPr/>
          <a:lstStyle/>
          <a:p>
            <a:r>
              <a:rPr lang="en-US" dirty="0"/>
              <a:t>Example problems</a:t>
            </a:r>
          </a:p>
        </p:txBody>
      </p:sp>
      <p:sp>
        <p:nvSpPr>
          <p:cNvPr id="3" name="Content Placeholder 2">
            <a:extLst>
              <a:ext uri="{FF2B5EF4-FFF2-40B4-BE49-F238E27FC236}">
                <a16:creationId xmlns:a16="http://schemas.microsoft.com/office/drawing/2014/main" id="{1860D032-498D-60E1-D245-BA2E2F0A82FD}"/>
              </a:ext>
            </a:extLst>
          </p:cNvPr>
          <p:cNvSpPr>
            <a:spLocks noGrp="1"/>
          </p:cNvSpPr>
          <p:nvPr>
            <p:ph idx="1"/>
          </p:nvPr>
        </p:nvSpPr>
        <p:spPr/>
        <p:txBody>
          <a:bodyPr/>
          <a:lstStyle/>
          <a:p>
            <a:r>
              <a:rPr lang="en-US" dirty="0"/>
              <a:t>Assume the price of blueberries is 6 and the price of labor is 100. Fill in the table. Here, </a:t>
            </a:r>
            <a:r>
              <a:rPr lang="en-US" b="1" dirty="0"/>
              <a:t>profits = total revenue minus total labor costs.</a:t>
            </a:r>
            <a:r>
              <a:rPr lang="en-US" dirty="0"/>
              <a:t> What is the profit-maximizing amount of labor to hire?</a:t>
            </a:r>
          </a:p>
        </p:txBody>
      </p:sp>
    </p:spTree>
    <p:extLst>
      <p:ext uri="{BB962C8B-B14F-4D97-AF65-F5344CB8AC3E}">
        <p14:creationId xmlns:p14="http://schemas.microsoft.com/office/powerpoint/2010/main" val="3299498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CC0B3-E81B-9473-03A6-D416B6C2A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BD600-DFB9-1CD1-7AFD-4BB134060245}"/>
              </a:ext>
            </a:extLst>
          </p:cNvPr>
          <p:cNvSpPr>
            <a:spLocks noGrp="1"/>
          </p:cNvSpPr>
          <p:nvPr>
            <p:ph type="title"/>
          </p:nvPr>
        </p:nvSpPr>
        <p:spPr/>
        <p:txBody>
          <a:bodyPr/>
          <a:lstStyle/>
          <a:p>
            <a:r>
              <a:rPr lang="en-US" dirty="0"/>
              <a:t>Example problem 1</a:t>
            </a:r>
          </a:p>
        </p:txBody>
      </p:sp>
      <p:graphicFrame>
        <p:nvGraphicFramePr>
          <p:cNvPr id="8" name="Object 7">
            <a:extLst>
              <a:ext uri="{FF2B5EF4-FFF2-40B4-BE49-F238E27FC236}">
                <a16:creationId xmlns:a16="http://schemas.microsoft.com/office/drawing/2014/main" id="{4941C0AF-8177-8B70-60F8-1DC08280C342}"/>
              </a:ext>
            </a:extLst>
          </p:cNvPr>
          <p:cNvGraphicFramePr>
            <a:graphicFrameLocks noChangeAspect="1"/>
          </p:cNvGraphicFramePr>
          <p:nvPr>
            <p:extLst>
              <p:ext uri="{D42A27DB-BD31-4B8C-83A1-F6EECF244321}">
                <p14:modId xmlns:p14="http://schemas.microsoft.com/office/powerpoint/2010/main" val="2880042794"/>
              </p:ext>
            </p:extLst>
          </p:nvPr>
        </p:nvGraphicFramePr>
        <p:xfrm>
          <a:off x="720389" y="1905000"/>
          <a:ext cx="10633411" cy="3771900"/>
        </p:xfrm>
        <a:graphic>
          <a:graphicData uri="http://schemas.openxmlformats.org/presentationml/2006/ole">
            <mc:AlternateContent xmlns:mc="http://schemas.openxmlformats.org/markup-compatibility/2006">
              <mc:Choice xmlns:v="urn:schemas-microsoft-com:vml" Requires="v">
                <p:oleObj name="Binary Worksheet" r:id="rId2" imgW="7867650" imgH="2790825" progId="Excel.SheetBinaryMacroEnabled.12">
                  <p:embed/>
                </p:oleObj>
              </mc:Choice>
              <mc:Fallback>
                <p:oleObj name="Binary Worksheet" r:id="rId2" imgW="7867650" imgH="2790825" progId="Excel.SheetBinaryMacroEnabled.12">
                  <p:embed/>
                  <p:pic>
                    <p:nvPicPr>
                      <p:cNvPr id="0" name=""/>
                      <p:cNvPicPr/>
                      <p:nvPr/>
                    </p:nvPicPr>
                    <p:blipFill>
                      <a:blip r:embed="rId3"/>
                      <a:stretch>
                        <a:fillRect/>
                      </a:stretch>
                    </p:blipFill>
                    <p:spPr>
                      <a:xfrm>
                        <a:off x="720389" y="1905000"/>
                        <a:ext cx="10633411" cy="3771900"/>
                      </a:xfrm>
                      <a:prstGeom prst="rect">
                        <a:avLst/>
                      </a:prstGeom>
                    </p:spPr>
                  </p:pic>
                </p:oleObj>
              </mc:Fallback>
            </mc:AlternateContent>
          </a:graphicData>
        </a:graphic>
      </p:graphicFrame>
    </p:spTree>
    <p:extLst>
      <p:ext uri="{BB962C8B-B14F-4D97-AF65-F5344CB8AC3E}">
        <p14:creationId xmlns:p14="http://schemas.microsoft.com/office/powerpoint/2010/main" val="2393805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0E38F-826F-3F1F-FFC1-FFBFF8A82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02314-5D6B-BAA6-BCBF-01D60E73BF64}"/>
              </a:ext>
            </a:extLst>
          </p:cNvPr>
          <p:cNvSpPr>
            <a:spLocks noGrp="1"/>
          </p:cNvSpPr>
          <p:nvPr>
            <p:ph type="title"/>
          </p:nvPr>
        </p:nvSpPr>
        <p:spPr/>
        <p:txBody>
          <a:bodyPr/>
          <a:lstStyle/>
          <a:p>
            <a:r>
              <a:rPr lang="en-US" dirty="0"/>
              <a:t>Example problem 1</a:t>
            </a:r>
          </a:p>
        </p:txBody>
      </p:sp>
      <p:graphicFrame>
        <p:nvGraphicFramePr>
          <p:cNvPr id="8" name="Table 7">
            <a:extLst>
              <a:ext uri="{FF2B5EF4-FFF2-40B4-BE49-F238E27FC236}">
                <a16:creationId xmlns:a16="http://schemas.microsoft.com/office/drawing/2014/main" id="{1C8CA5F2-0C28-28A4-C6E3-E95B4C375CCA}"/>
              </a:ext>
            </a:extLst>
          </p:cNvPr>
          <p:cNvGraphicFramePr>
            <a:graphicFrameLocks noGrp="1"/>
          </p:cNvGraphicFramePr>
          <p:nvPr>
            <p:extLst>
              <p:ext uri="{D42A27DB-BD31-4B8C-83A1-F6EECF244321}">
                <p14:modId xmlns:p14="http://schemas.microsoft.com/office/powerpoint/2010/main" val="2007063167"/>
              </p:ext>
            </p:extLst>
          </p:nvPr>
        </p:nvGraphicFramePr>
        <p:xfrm>
          <a:off x="1238251" y="1965721"/>
          <a:ext cx="9715498" cy="3596880"/>
        </p:xfrm>
        <a:graphic>
          <a:graphicData uri="http://schemas.openxmlformats.org/drawingml/2006/table">
            <a:tbl>
              <a:tblPr/>
              <a:tblGrid>
                <a:gridCol w="1176210">
                  <a:extLst>
                    <a:ext uri="{9D8B030D-6E8A-4147-A177-3AD203B41FA5}">
                      <a16:colId xmlns:a16="http://schemas.microsoft.com/office/drawing/2014/main" val="3039110645"/>
                    </a:ext>
                  </a:extLst>
                </a:gridCol>
                <a:gridCol w="1427136">
                  <a:extLst>
                    <a:ext uri="{9D8B030D-6E8A-4147-A177-3AD203B41FA5}">
                      <a16:colId xmlns:a16="http://schemas.microsoft.com/office/drawing/2014/main" val="2269594495"/>
                    </a:ext>
                  </a:extLst>
                </a:gridCol>
                <a:gridCol w="1599646">
                  <a:extLst>
                    <a:ext uri="{9D8B030D-6E8A-4147-A177-3AD203B41FA5}">
                      <a16:colId xmlns:a16="http://schemas.microsoft.com/office/drawing/2014/main" val="200314743"/>
                    </a:ext>
                  </a:extLst>
                </a:gridCol>
                <a:gridCol w="1944668">
                  <a:extLst>
                    <a:ext uri="{9D8B030D-6E8A-4147-A177-3AD203B41FA5}">
                      <a16:colId xmlns:a16="http://schemas.microsoft.com/office/drawing/2014/main" val="179660428"/>
                    </a:ext>
                  </a:extLst>
                </a:gridCol>
                <a:gridCol w="1380087">
                  <a:extLst>
                    <a:ext uri="{9D8B030D-6E8A-4147-A177-3AD203B41FA5}">
                      <a16:colId xmlns:a16="http://schemas.microsoft.com/office/drawing/2014/main" val="1652380802"/>
                    </a:ext>
                  </a:extLst>
                </a:gridCol>
                <a:gridCol w="1399690">
                  <a:extLst>
                    <a:ext uri="{9D8B030D-6E8A-4147-A177-3AD203B41FA5}">
                      <a16:colId xmlns:a16="http://schemas.microsoft.com/office/drawing/2014/main" val="1541611707"/>
                    </a:ext>
                  </a:extLst>
                </a:gridCol>
                <a:gridCol w="788061">
                  <a:extLst>
                    <a:ext uri="{9D8B030D-6E8A-4147-A177-3AD203B41FA5}">
                      <a16:colId xmlns:a16="http://schemas.microsoft.com/office/drawing/2014/main" val="877767535"/>
                    </a:ext>
                  </a:extLst>
                </a:gridCol>
              </a:tblGrid>
              <a:tr h="1188233">
                <a:tc>
                  <a:txBody>
                    <a:bodyPr/>
                    <a:lstStyle/>
                    <a:p>
                      <a:pPr algn="ctr" fontAlgn="ctr">
                        <a:buNone/>
                      </a:pPr>
                      <a:r>
                        <a:rPr lang="en-US" sz="1600" b="1" i="0" u="none" strike="noStrike">
                          <a:solidFill>
                            <a:srgbClr val="FFFFFF"/>
                          </a:solidFill>
                          <a:effectLst/>
                          <a:latin typeface="Calibri" panose="020F0502020204030204" pitchFamily="34" charset="0"/>
                        </a:rPr>
                        <a:t># of Workers</a:t>
                      </a:r>
                    </a:p>
                  </a:txBody>
                  <a:tcPr marL="9525" marR="9525" marT="9525" marB="0" anchor="ctr">
                    <a:lnL w="6350" cap="flat" cmpd="sng" algn="ctr">
                      <a:solidFill>
                        <a:srgbClr val="5B9BD5"/>
                      </a:solidFill>
                      <a:prstDash val="solid"/>
                      <a:round/>
                      <a:headEnd type="none" w="med" len="med"/>
                      <a:tailEnd type="none" w="med" len="med"/>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5B9BD5"/>
                    </a:solidFill>
                  </a:tcPr>
                </a:tc>
                <a:tc>
                  <a:txBody>
                    <a:bodyPr/>
                    <a:lstStyle/>
                    <a:p>
                      <a:pPr algn="ctr" fontAlgn="ctr">
                        <a:buNone/>
                      </a:pPr>
                      <a:r>
                        <a:rPr lang="en-US" sz="1600" b="1" i="0" u="none" strike="noStrike">
                          <a:solidFill>
                            <a:srgbClr val="FFFFFF"/>
                          </a:solidFill>
                          <a:effectLst/>
                          <a:latin typeface="Calibri" panose="020F0502020204030204" pitchFamily="34" charset="0"/>
                        </a:rPr>
                        <a:t>Total Output, pounds</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5B9BD5"/>
                    </a:solidFill>
                  </a:tcPr>
                </a:tc>
                <a:tc>
                  <a:txBody>
                    <a:bodyPr/>
                    <a:lstStyle/>
                    <a:p>
                      <a:pPr algn="ctr" fontAlgn="ctr">
                        <a:buNone/>
                      </a:pPr>
                      <a:r>
                        <a:rPr lang="en-US" sz="1600" b="1" i="0" u="none" strike="noStrike">
                          <a:solidFill>
                            <a:srgbClr val="FFFFFF"/>
                          </a:solidFill>
                          <a:effectLst/>
                          <a:latin typeface="Calibri" panose="020F0502020204030204" pitchFamily="34" charset="0"/>
                        </a:rPr>
                        <a:t>Total revenue (P x Q), dollars</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5B9BD5"/>
                    </a:solidFill>
                  </a:tcPr>
                </a:tc>
                <a:tc>
                  <a:txBody>
                    <a:bodyPr/>
                    <a:lstStyle/>
                    <a:p>
                      <a:pPr algn="ctr" fontAlgn="ctr">
                        <a:buNone/>
                      </a:pPr>
                      <a:r>
                        <a:rPr lang="en-US" sz="1600" b="1" i="0" u="none" strike="noStrike">
                          <a:solidFill>
                            <a:srgbClr val="FFFFFF"/>
                          </a:solidFill>
                          <a:effectLst/>
                          <a:latin typeface="Calibri" panose="020F0502020204030204" pitchFamily="34" charset="0"/>
                        </a:rPr>
                        <a:t>Marginal revenue, dollars</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5B9BD5"/>
                    </a:solidFill>
                  </a:tcPr>
                </a:tc>
                <a:tc>
                  <a:txBody>
                    <a:bodyPr/>
                    <a:lstStyle/>
                    <a:p>
                      <a:pPr algn="ctr" fontAlgn="ctr">
                        <a:buNone/>
                      </a:pPr>
                      <a:r>
                        <a:rPr lang="en-US" sz="1600" b="1" i="0" u="none" strike="noStrike">
                          <a:solidFill>
                            <a:srgbClr val="FFFFFF"/>
                          </a:solidFill>
                          <a:effectLst/>
                          <a:latin typeface="Calibri" panose="020F0502020204030204" pitchFamily="34" charset="0"/>
                        </a:rPr>
                        <a:t>Total labor costs, dollars</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5B9BD5"/>
                    </a:solidFill>
                  </a:tcPr>
                </a:tc>
                <a:tc>
                  <a:txBody>
                    <a:bodyPr/>
                    <a:lstStyle/>
                    <a:p>
                      <a:pPr algn="ctr" fontAlgn="ctr">
                        <a:buNone/>
                      </a:pPr>
                      <a:r>
                        <a:rPr lang="en-US" sz="1600" b="1" i="0" u="none" strike="noStrike">
                          <a:solidFill>
                            <a:srgbClr val="FFFFFF"/>
                          </a:solidFill>
                          <a:effectLst/>
                          <a:latin typeface="Calibri" panose="020F0502020204030204" pitchFamily="34" charset="0"/>
                        </a:rPr>
                        <a:t>Marginal labor cost, dollars</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5B9BD5"/>
                    </a:solidFill>
                  </a:tcPr>
                </a:tc>
                <a:tc>
                  <a:txBody>
                    <a:bodyPr/>
                    <a:lstStyle/>
                    <a:p>
                      <a:pPr algn="ctr" fontAlgn="ctr">
                        <a:buNone/>
                      </a:pPr>
                      <a:r>
                        <a:rPr lang="en-US" sz="1600" b="1" i="0" u="none" strike="noStrike">
                          <a:solidFill>
                            <a:srgbClr val="FFFFFF"/>
                          </a:solidFill>
                          <a:effectLst/>
                          <a:latin typeface="Calibri" panose="020F0502020204030204" pitchFamily="34" charset="0"/>
                        </a:rPr>
                        <a:t>Profits</a:t>
                      </a:r>
                    </a:p>
                  </a:txBody>
                  <a:tcPr marL="9525" marR="9525" marT="9525" marB="0" anchor="ctr">
                    <a:lnL>
                      <a:noFill/>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801407602"/>
                  </a:ext>
                </a:extLst>
              </a:tr>
              <a:tr h="329239">
                <a:tc>
                  <a:txBody>
                    <a:bodyPr/>
                    <a:lstStyle/>
                    <a:p>
                      <a:pPr algn="ctr" fontAlgn="ctr">
                        <a:buNone/>
                      </a:pPr>
                      <a:r>
                        <a:rPr lang="en-US" sz="1600" b="0" i="0" u="none" strike="noStrike">
                          <a:solidFill>
                            <a:srgbClr val="000000"/>
                          </a:solidFill>
                          <a:effectLst/>
                          <a:latin typeface="Calibri" panose="020F0502020204030204" pitchFamily="34" charset="0"/>
                        </a:rPr>
                        <a:t>0</a:t>
                      </a:r>
                    </a:p>
                  </a:txBody>
                  <a:tcPr marL="9525" marR="9525" marT="9525" marB="0" anchor="ctr">
                    <a:lnL w="6350" cap="flat" cmpd="sng" algn="ctr">
                      <a:solidFill>
                        <a:srgbClr val="5B9BD5"/>
                      </a:solidFill>
                      <a:prstDash val="solid"/>
                      <a:round/>
                      <a:headEnd type="none" w="med" len="med"/>
                      <a:tailEnd type="none" w="med" len="med"/>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NA</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NA</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NA</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0</a:t>
                      </a:r>
                    </a:p>
                  </a:txBody>
                  <a:tcPr marL="9525" marR="9525" marT="9525" marB="0" anchor="ctr">
                    <a:lnL>
                      <a:noFill/>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4076228136"/>
                  </a:ext>
                </a:extLst>
              </a:tr>
              <a:tr h="346568">
                <a:tc>
                  <a:txBody>
                    <a:bodyPr/>
                    <a:lstStyle/>
                    <a:p>
                      <a:pPr algn="ctr" fontAlgn="ctr">
                        <a:buNone/>
                      </a:pPr>
                      <a:r>
                        <a:rPr lang="en-US" sz="16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5B9BD5"/>
                      </a:solidFill>
                      <a:prstDash val="solid"/>
                      <a:round/>
                      <a:headEnd type="none" w="med" len="med"/>
                      <a:tailEnd type="none" w="med" len="med"/>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70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420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420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320</a:t>
                      </a:r>
                    </a:p>
                  </a:txBody>
                  <a:tcPr marL="9525" marR="9525" marT="9525" marB="0" anchor="ctr">
                    <a:lnL>
                      <a:noFill/>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499039799"/>
                  </a:ext>
                </a:extLst>
              </a:tr>
              <a:tr h="346568">
                <a:tc>
                  <a:txBody>
                    <a:bodyPr/>
                    <a:lstStyle/>
                    <a:p>
                      <a:pPr algn="ctr" fontAlgn="ctr">
                        <a:buNone/>
                      </a:pPr>
                      <a:r>
                        <a:rPr lang="en-US" sz="16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5B9BD5"/>
                      </a:solidFill>
                      <a:prstDash val="solid"/>
                      <a:round/>
                      <a:headEnd type="none" w="med" len="med"/>
                      <a:tailEnd type="none" w="med" len="med"/>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130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780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360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200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580</a:t>
                      </a:r>
                    </a:p>
                  </a:txBody>
                  <a:tcPr marL="9525" marR="9525" marT="9525" marB="0" anchor="ctr">
                    <a:lnL>
                      <a:noFill/>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893908377"/>
                  </a:ext>
                </a:extLst>
              </a:tr>
              <a:tr h="346568">
                <a:tc>
                  <a:txBody>
                    <a:bodyPr/>
                    <a:lstStyle/>
                    <a:p>
                      <a:pPr algn="ctr" fontAlgn="ctr">
                        <a:buNone/>
                      </a:pPr>
                      <a:r>
                        <a:rPr lang="en-US" sz="16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5B9BD5"/>
                      </a:solidFill>
                      <a:prstDash val="solid"/>
                      <a:round/>
                      <a:headEnd type="none" w="med" len="med"/>
                      <a:tailEnd type="none" w="med" len="med"/>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180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1080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300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300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780</a:t>
                      </a:r>
                    </a:p>
                  </a:txBody>
                  <a:tcPr marL="9525" marR="9525" marT="9525" marB="0" anchor="ctr">
                    <a:lnL>
                      <a:noFill/>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2050753182"/>
                  </a:ext>
                </a:extLst>
              </a:tr>
              <a:tr h="346568">
                <a:tc>
                  <a:txBody>
                    <a:bodyPr/>
                    <a:lstStyle/>
                    <a:p>
                      <a:pPr algn="ctr" fontAlgn="ctr">
                        <a:buNone/>
                      </a:pPr>
                      <a:r>
                        <a:rPr lang="en-US" sz="16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5B9BD5"/>
                      </a:solidFill>
                      <a:prstDash val="solid"/>
                      <a:round/>
                      <a:headEnd type="none" w="med" len="med"/>
                      <a:tailEnd type="none" w="med" len="med"/>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220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1320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240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400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920</a:t>
                      </a:r>
                    </a:p>
                  </a:txBody>
                  <a:tcPr marL="9525" marR="9525" marT="9525" marB="0" anchor="ctr">
                    <a:lnL>
                      <a:noFill/>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1307077396"/>
                  </a:ext>
                </a:extLst>
              </a:tr>
              <a:tr h="346568">
                <a:tc>
                  <a:txBody>
                    <a:bodyPr/>
                    <a:lstStyle/>
                    <a:p>
                      <a:pPr algn="ctr" fontAlgn="ctr">
                        <a:buNone/>
                      </a:pPr>
                      <a:r>
                        <a:rPr lang="en-US" sz="16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5B9BD5"/>
                      </a:solidFill>
                      <a:prstDash val="solid"/>
                      <a:round/>
                      <a:headEnd type="none" w="med" len="med"/>
                      <a:tailEnd type="none" w="med" len="med"/>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250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1500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180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500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1000</a:t>
                      </a:r>
                    </a:p>
                  </a:txBody>
                  <a:tcPr marL="9525" marR="9525" marT="9525" marB="0" anchor="ctr">
                    <a:lnL>
                      <a:noFill/>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3824182625"/>
                  </a:ext>
                </a:extLst>
              </a:tr>
              <a:tr h="346568">
                <a:tc>
                  <a:txBody>
                    <a:bodyPr/>
                    <a:lstStyle/>
                    <a:p>
                      <a:pPr algn="ctr" fontAlgn="ctr">
                        <a:buNone/>
                      </a:pPr>
                      <a:r>
                        <a:rPr lang="en-US" sz="16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5B9BD5"/>
                      </a:solidFill>
                      <a:prstDash val="solid"/>
                      <a:round/>
                      <a:headEnd type="none" w="med" len="med"/>
                      <a:tailEnd type="none" w="med" len="med"/>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260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1560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60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600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Calibri" panose="020F0502020204030204" pitchFamily="34" charset="0"/>
                        </a:rPr>
                        <a:t>100</a:t>
                      </a:r>
                    </a:p>
                  </a:txBody>
                  <a:tcPr marL="9525" marR="9525" marT="9525" marB="0" anchor="ctr">
                    <a:lnL>
                      <a:noFill/>
                    </a:lnL>
                    <a:lnR>
                      <a:noFill/>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ctr" fontAlgn="ctr">
                        <a:buNone/>
                      </a:pPr>
                      <a:r>
                        <a:rPr lang="en-US" sz="1600" b="0" i="0" u="none" strike="noStrike" dirty="0">
                          <a:solidFill>
                            <a:srgbClr val="000000"/>
                          </a:solidFill>
                          <a:effectLst/>
                          <a:latin typeface="Calibri" panose="020F0502020204030204" pitchFamily="34" charset="0"/>
                        </a:rPr>
                        <a:t>960</a:t>
                      </a:r>
                    </a:p>
                  </a:txBody>
                  <a:tcPr marL="9525" marR="9525" marT="9525" marB="0" anchor="ctr">
                    <a:lnL>
                      <a:noFill/>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2197800162"/>
                  </a:ext>
                </a:extLst>
              </a:tr>
            </a:tbl>
          </a:graphicData>
        </a:graphic>
      </p:graphicFrame>
    </p:spTree>
    <p:extLst>
      <p:ext uri="{BB962C8B-B14F-4D97-AF65-F5344CB8AC3E}">
        <p14:creationId xmlns:p14="http://schemas.microsoft.com/office/powerpoint/2010/main" val="321488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6579D-2C13-3601-80E4-E4F932EFA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4DCD4-84E2-0515-2E0F-20F376D833CC}"/>
              </a:ext>
            </a:extLst>
          </p:cNvPr>
          <p:cNvSpPr>
            <a:spLocks noGrp="1"/>
          </p:cNvSpPr>
          <p:nvPr>
            <p:ph type="title"/>
          </p:nvPr>
        </p:nvSpPr>
        <p:spPr>
          <a:xfrm>
            <a:off x="620684" y="250825"/>
            <a:ext cx="10515600" cy="1325563"/>
          </a:xfrm>
        </p:spPr>
        <p:txBody>
          <a:bodyPr/>
          <a:lstStyle/>
          <a:p>
            <a:r>
              <a:rPr lang="en-US" dirty="0"/>
              <a:t>One step further</a:t>
            </a:r>
          </a:p>
        </p:txBody>
      </p:sp>
      <p:sp>
        <p:nvSpPr>
          <p:cNvPr id="3" name="Content Placeholder 2">
            <a:extLst>
              <a:ext uri="{FF2B5EF4-FFF2-40B4-BE49-F238E27FC236}">
                <a16:creationId xmlns:a16="http://schemas.microsoft.com/office/drawing/2014/main" id="{20F240A2-8422-D0D7-537A-0805AEA45B32}"/>
              </a:ext>
            </a:extLst>
          </p:cNvPr>
          <p:cNvSpPr>
            <a:spLocks noGrp="1"/>
          </p:cNvSpPr>
          <p:nvPr>
            <p:ph idx="1"/>
          </p:nvPr>
        </p:nvSpPr>
        <p:spPr>
          <a:xfrm>
            <a:off x="620684" y="1825625"/>
            <a:ext cx="10733116" cy="4351338"/>
          </a:xfrm>
        </p:spPr>
        <p:txBody>
          <a:bodyPr/>
          <a:lstStyle/>
          <a:p>
            <a:r>
              <a:rPr lang="en-US" dirty="0"/>
              <a:t>We compare the marginal revenue from labor to the marginal cost of labor to answer the question: </a:t>
            </a:r>
          </a:p>
          <a:p>
            <a:pPr marL="0" indent="0">
              <a:buNone/>
            </a:pPr>
            <a:r>
              <a:rPr lang="en-US" dirty="0">
                <a:solidFill>
                  <a:schemeClr val="accent1"/>
                </a:solidFill>
              </a:rPr>
              <a:t>"How much more money do we make from investing in another unit of some factor of production?”</a:t>
            </a:r>
          </a:p>
          <a:p>
            <a:r>
              <a:rPr lang="en-US" dirty="0"/>
              <a:t>To maximize profits, we want the marginal revenue (MR) from employing an extra unit of factor to be greater than the marginal cost (MC)</a:t>
            </a:r>
            <a:endParaRPr lang="en-US" dirty="0">
              <a:solidFill>
                <a:schemeClr val="accent1"/>
              </a:solidFill>
            </a:endParaRPr>
          </a:p>
          <a:p>
            <a:pPr marL="0" indent="0">
              <a:buNone/>
            </a:pPr>
            <a:endParaRPr lang="en-US" dirty="0">
              <a:solidFill>
                <a:schemeClr val="accent1"/>
              </a:solidFill>
            </a:endParaRPr>
          </a:p>
          <a:p>
            <a:endParaRPr lang="en-US" dirty="0"/>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6607945-91E6-A012-F05B-6C63F48789D1}"/>
                  </a:ext>
                </a:extLst>
              </p:cNvPr>
              <p:cNvSpPr txBox="1"/>
              <p:nvPr/>
            </p:nvSpPr>
            <p:spPr>
              <a:xfrm>
                <a:off x="3049386" y="4682937"/>
                <a:ext cx="6093228" cy="7837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1" i="1" smtClean="0">
                              <a:latin typeface="Cambria Math" panose="02040503050406030204" pitchFamily="18" charset="0"/>
                            </a:rPr>
                            <m:t>𝑴𝑹</m:t>
                          </m:r>
                        </m:num>
                        <m:den>
                          <m:r>
                            <a:rPr lang="en-US" sz="2400" b="1" i="1">
                              <a:latin typeface="Cambria Math" panose="02040503050406030204" pitchFamily="18" charset="0"/>
                            </a:rPr>
                            <m:t>𝑴</m:t>
                          </m:r>
                          <m:r>
                            <a:rPr lang="en-US" sz="2400" b="1" i="1" smtClean="0">
                              <a:latin typeface="Cambria Math" panose="02040503050406030204" pitchFamily="18" charset="0"/>
                            </a:rPr>
                            <m:t>𝑪</m:t>
                          </m:r>
                        </m:den>
                      </m:f>
                      <m:r>
                        <a:rPr lang="en-US" sz="2400" b="0" i="0" smtClean="0">
                          <a:latin typeface="Cambria Math" panose="02040503050406030204" pitchFamily="18" charset="0"/>
                        </a:rPr>
                        <m:t>&gt;</m:t>
                      </m:r>
                      <m:r>
                        <a:rPr lang="en-US" sz="2400" b="0" i="0" smtClean="0">
                          <a:latin typeface="Cambria Math" panose="02040503050406030204" pitchFamily="18" charset="0"/>
                        </a:rPr>
                        <m:t>1</m:t>
                      </m:r>
                    </m:oMath>
                  </m:oMathPara>
                </a14:m>
                <a:endParaRPr lang="en-US" sz="2400" dirty="0"/>
              </a:p>
            </p:txBody>
          </p:sp>
        </mc:Choice>
        <mc:Fallback>
          <p:sp>
            <p:nvSpPr>
              <p:cNvPr id="6" name="TextBox 5">
                <a:extLst>
                  <a:ext uri="{FF2B5EF4-FFF2-40B4-BE49-F238E27FC236}">
                    <a16:creationId xmlns:a16="http://schemas.microsoft.com/office/drawing/2014/main" id="{96607945-91E6-A012-F05B-6C63F48789D1}"/>
                  </a:ext>
                </a:extLst>
              </p:cNvPr>
              <p:cNvSpPr txBox="1">
                <a:spLocks noRot="1" noChangeAspect="1" noMove="1" noResize="1" noEditPoints="1" noAdjustHandles="1" noChangeArrowheads="1" noChangeShapeType="1" noTextEdit="1"/>
              </p:cNvSpPr>
              <p:nvPr/>
            </p:nvSpPr>
            <p:spPr>
              <a:xfrm>
                <a:off x="3049386" y="4682937"/>
                <a:ext cx="6093228" cy="783741"/>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98608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309AD-625D-A6F4-3BE0-9F218D01803B}"/>
              </a:ext>
            </a:extLst>
          </p:cNvPr>
          <p:cNvSpPr>
            <a:spLocks noGrp="1"/>
          </p:cNvSpPr>
          <p:nvPr>
            <p:ph type="title"/>
          </p:nvPr>
        </p:nvSpPr>
        <p:spPr/>
        <p:txBody>
          <a:bodyPr/>
          <a:lstStyle/>
          <a:p>
            <a:r>
              <a:rPr lang="en-US" dirty="0"/>
              <a:t>Example Problem 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868B229-0FEF-0C7C-78E0-F1079F0CD19C}"/>
                  </a:ext>
                </a:extLst>
              </p:cNvPr>
              <p:cNvSpPr>
                <a:spLocks noGrp="1"/>
              </p:cNvSpPr>
              <p:nvPr>
                <p:ph idx="1"/>
              </p:nvPr>
            </p:nvSpPr>
            <p:spPr/>
            <p:txBody>
              <a:bodyPr>
                <a:normAutofit lnSpcReduction="10000"/>
              </a:bodyPr>
              <a:lstStyle/>
              <a:p>
                <a:pPr lvl="0"/>
                <a:r>
                  <a:rPr lang="en-US" dirty="0"/>
                  <a:t>Consider a firm maximizing profits. We will use isoquants and </a:t>
                </a:r>
                <a:r>
                  <a:rPr lang="en-US" dirty="0" err="1"/>
                  <a:t>isocost</a:t>
                </a:r>
                <a:r>
                  <a:rPr lang="en-US" dirty="0"/>
                  <a:t> curves to model firm decisions. Consider a production function Q, such that Q=K</a:t>
                </a:r>
                <a:r>
                  <a:rPr lang="en-US" baseline="30000" dirty="0"/>
                  <a:t>0.4</a:t>
                </a:r>
                <a:r>
                  <a:rPr lang="en-US" dirty="0"/>
                  <a:t>L</a:t>
                </a:r>
                <a:r>
                  <a:rPr lang="en-US" baseline="30000" dirty="0"/>
                  <a:t>0.6</a:t>
                </a:r>
                <a:r>
                  <a:rPr lang="en-US" dirty="0"/>
                  <a:t>.</a:t>
                </a:r>
                <a:endParaRPr lang="en-US" sz="2400" dirty="0"/>
              </a:p>
              <a:p>
                <a:endParaRPr lang="en-US" sz="2400" dirty="0"/>
              </a:p>
              <a:p>
                <a:pPr marL="914400" lvl="1" indent="-457200">
                  <a:buFont typeface="+mj-lt"/>
                  <a:buAutoNum type="arabicPeriod"/>
                </a:pPr>
                <a:r>
                  <a:rPr lang="en-US" dirty="0"/>
                  <a:t>Sketch the isoquant for Q=100 </a:t>
                </a:r>
              </a:p>
              <a:p>
                <a:pPr marL="914400" lvl="1" indent="-457200">
                  <a:buFont typeface="+mj-lt"/>
                  <a:buAutoNum type="arabicPeriod"/>
                </a:pPr>
                <a:endParaRPr lang="en-US" dirty="0"/>
              </a:p>
              <a:p>
                <a:pPr marL="914400" lvl="1" indent="-457200">
                  <a:buFont typeface="+mj-lt"/>
                  <a:buAutoNum type="arabicPeriod"/>
                </a:pPr>
                <a:r>
                  <a:rPr lang="en-US" dirty="0"/>
                  <a:t>If w=1 and r=1, draw the </a:t>
                </a:r>
                <a:r>
                  <a:rPr lang="en-US" dirty="0" err="1"/>
                  <a:t>isocost</a:t>
                </a:r>
                <a:r>
                  <a:rPr lang="en-US" dirty="0"/>
                  <a:t> curve for a budget of 200. Remember, the </a:t>
                </a:r>
                <a:r>
                  <a:rPr lang="en-US" dirty="0" err="1"/>
                  <a:t>isocost</a:t>
                </a:r>
                <a:r>
                  <a:rPr lang="en-US" dirty="0"/>
                  <a:t> curve represents the all combinations of input that have the same cost such that: </a:t>
                </a:r>
                <a14:m>
                  <m:oMath xmlns:m="http://schemas.openxmlformats.org/officeDocument/2006/math">
                    <m:r>
                      <a:rPr lang="en-US" b="1" i="1"/>
                      <m:t>𝑪</m:t>
                    </m:r>
                    <m:r>
                      <a:rPr lang="en-US" b="1" i="1"/>
                      <m:t>=</m:t>
                    </m:r>
                    <m:r>
                      <a:rPr lang="en-US" b="1" i="1"/>
                      <m:t>𝒘𝑳</m:t>
                    </m:r>
                    <m:r>
                      <a:rPr lang="en-US" b="1" i="1"/>
                      <m:t>+</m:t>
                    </m:r>
                    <m:r>
                      <a:rPr lang="en-US" b="1" i="1"/>
                      <m:t>𝒓𝑲</m:t>
                    </m:r>
                  </m:oMath>
                </a14:m>
                <a:endParaRPr lang="en-US" dirty="0"/>
              </a:p>
              <a:p>
                <a:pPr marL="914400" lvl="1" indent="-457200">
                  <a:buFont typeface="+mj-lt"/>
                  <a:buAutoNum type="arabicPeriod"/>
                </a:pPr>
                <a:endParaRPr lang="en-US" dirty="0"/>
              </a:p>
              <a:p>
                <a:pPr marL="914400" lvl="1" indent="-457200">
                  <a:buFont typeface="+mj-lt"/>
                  <a:buAutoNum type="arabicPeriod"/>
                </a:pPr>
                <a:r>
                  <a:rPr lang="en-US" dirty="0"/>
                  <a:t>Find the optimal choice of K and L for the firm using the isoquant and </a:t>
                </a:r>
                <a:r>
                  <a:rPr lang="en-US" dirty="0" err="1"/>
                  <a:t>isocost</a:t>
                </a:r>
                <a:r>
                  <a:rPr lang="en-US" dirty="0"/>
                  <a:t> curve. </a:t>
                </a:r>
              </a:p>
            </p:txBody>
          </p:sp>
        </mc:Choice>
        <mc:Fallback>
          <p:sp>
            <p:nvSpPr>
              <p:cNvPr id="3" name="Content Placeholder 2">
                <a:extLst>
                  <a:ext uri="{FF2B5EF4-FFF2-40B4-BE49-F238E27FC236}">
                    <a16:creationId xmlns:a16="http://schemas.microsoft.com/office/drawing/2014/main" id="{4868B229-0FEF-0C7C-78E0-F1079F0CD19C}"/>
                  </a:ext>
                </a:extLst>
              </p:cNvPr>
              <p:cNvSpPr>
                <a:spLocks noGrp="1" noRot="1" noChangeAspect="1" noMove="1" noResize="1" noEditPoints="1" noAdjustHandles="1" noChangeArrowheads="1" noChangeShapeType="1" noTextEdit="1"/>
              </p:cNvSpPr>
              <p:nvPr>
                <p:ph idx="1"/>
              </p:nvPr>
            </p:nvSpPr>
            <p:spPr>
              <a:blipFill>
                <a:blip r:embed="rId2"/>
                <a:stretch>
                  <a:fillRect l="-1043" t="-3081" r="-232"/>
                </a:stretch>
              </a:blipFill>
            </p:spPr>
            <p:txBody>
              <a:bodyPr/>
              <a:lstStyle/>
              <a:p>
                <a:r>
                  <a:rPr lang="en-US">
                    <a:noFill/>
                  </a:rPr>
                  <a:t> </a:t>
                </a:r>
              </a:p>
            </p:txBody>
          </p:sp>
        </mc:Fallback>
      </mc:AlternateContent>
    </p:spTree>
    <p:extLst>
      <p:ext uri="{BB962C8B-B14F-4D97-AF65-F5344CB8AC3E}">
        <p14:creationId xmlns:p14="http://schemas.microsoft.com/office/powerpoint/2010/main" val="3706689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DD8E3-1205-9052-B847-5C9BA5515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13A1C1-9868-6B58-E899-F26D7C1FD5DF}"/>
              </a:ext>
            </a:extLst>
          </p:cNvPr>
          <p:cNvSpPr>
            <a:spLocks noGrp="1"/>
          </p:cNvSpPr>
          <p:nvPr>
            <p:ph type="title"/>
          </p:nvPr>
        </p:nvSpPr>
        <p:spPr/>
        <p:txBody>
          <a:bodyPr/>
          <a:lstStyle/>
          <a:p>
            <a:r>
              <a:rPr lang="en-US" dirty="0"/>
              <a:t>Example Problem 2</a:t>
            </a:r>
          </a:p>
        </p:txBody>
      </p:sp>
      <p:graphicFrame>
        <p:nvGraphicFramePr>
          <p:cNvPr id="6" name="Chart 5">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2806477903"/>
              </p:ext>
            </p:extLst>
          </p:nvPr>
        </p:nvGraphicFramePr>
        <p:xfrm>
          <a:off x="6414604" y="2454275"/>
          <a:ext cx="4595191" cy="283845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374AC902-6465-765E-0345-0A2B6849CD21}"/>
              </a:ext>
            </a:extLst>
          </p:cNvPr>
          <p:cNvSpPr txBox="1"/>
          <p:nvPr/>
        </p:nvSpPr>
        <p:spPr>
          <a:xfrm>
            <a:off x="838200" y="1749841"/>
            <a:ext cx="4939197" cy="4247317"/>
          </a:xfrm>
          <a:prstGeom prst="rect">
            <a:avLst/>
          </a:prstGeom>
          <a:noFill/>
        </p:spPr>
        <p:txBody>
          <a:bodyPr wrap="square">
            <a:spAutoFit/>
          </a:bodyPr>
          <a:lstStyle/>
          <a:p>
            <a:r>
              <a:rPr lang="en-US" dirty="0">
                <a:solidFill>
                  <a:schemeClr val="tx2"/>
                </a:solidFill>
              </a:rPr>
              <a:t>Isoquant for Q=100 (blue line)</a:t>
            </a:r>
            <a:r>
              <a:rPr lang="en-US" dirty="0"/>
              <a:t>		</a:t>
            </a:r>
          </a:p>
          <a:p>
            <a:r>
              <a:rPr lang="en-US" dirty="0"/>
              <a:t>K	L	Q</a:t>
            </a:r>
          </a:p>
          <a:p>
            <a:r>
              <a:rPr lang="en-US" dirty="0"/>
              <a:t>25	400	100</a:t>
            </a:r>
          </a:p>
          <a:p>
            <a:r>
              <a:rPr lang="en-US" dirty="0"/>
              <a:t>50	200	100</a:t>
            </a:r>
          </a:p>
          <a:p>
            <a:r>
              <a:rPr lang="en-US" dirty="0"/>
              <a:t>100	100	100</a:t>
            </a:r>
          </a:p>
          <a:p>
            <a:r>
              <a:rPr lang="en-US" dirty="0"/>
              <a:t>200	50	100</a:t>
            </a:r>
          </a:p>
          <a:p>
            <a:r>
              <a:rPr lang="en-US" dirty="0"/>
              <a:t>400	25	100</a:t>
            </a:r>
          </a:p>
          <a:p>
            <a:r>
              <a:rPr lang="en-US" dirty="0"/>
              <a:t>		</a:t>
            </a:r>
          </a:p>
          <a:p>
            <a:r>
              <a:rPr lang="en-US" dirty="0">
                <a:solidFill>
                  <a:schemeClr val="accent2"/>
                </a:solidFill>
              </a:rPr>
              <a:t>IC curve for r=1, w=1 (orange line)</a:t>
            </a:r>
            <a:r>
              <a:rPr lang="en-US" dirty="0"/>
              <a:t>		</a:t>
            </a:r>
          </a:p>
          <a:p>
            <a:r>
              <a:rPr lang="en-US" dirty="0"/>
              <a:t>K	L	B</a:t>
            </a:r>
          </a:p>
          <a:p>
            <a:r>
              <a:rPr lang="en-US" dirty="0"/>
              <a:t>200	0	200</a:t>
            </a:r>
          </a:p>
          <a:p>
            <a:r>
              <a:rPr lang="en-US" dirty="0"/>
              <a:t>150	50	200</a:t>
            </a:r>
          </a:p>
          <a:p>
            <a:r>
              <a:rPr lang="en-US" dirty="0"/>
              <a:t>100	100	200</a:t>
            </a:r>
          </a:p>
          <a:p>
            <a:r>
              <a:rPr lang="en-US" dirty="0"/>
              <a:t>50	150	200</a:t>
            </a:r>
          </a:p>
          <a:p>
            <a:r>
              <a:rPr lang="en-US" dirty="0"/>
              <a:t>0	200	200</a:t>
            </a:r>
          </a:p>
        </p:txBody>
      </p:sp>
    </p:spTree>
    <p:extLst>
      <p:ext uri="{BB962C8B-B14F-4D97-AF65-F5344CB8AC3E}">
        <p14:creationId xmlns:p14="http://schemas.microsoft.com/office/powerpoint/2010/main" val="4160359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0EF32-520B-B2D2-C952-D924056E9AE5}"/>
              </a:ext>
            </a:extLst>
          </p:cNvPr>
          <p:cNvSpPr>
            <a:spLocks noGrp="1"/>
          </p:cNvSpPr>
          <p:nvPr>
            <p:ph type="title"/>
          </p:nvPr>
        </p:nvSpPr>
        <p:spPr/>
        <p:txBody>
          <a:bodyPr/>
          <a:lstStyle/>
          <a:p>
            <a:r>
              <a:rPr lang="en-US" dirty="0"/>
              <a:t>Example problem 3 </a:t>
            </a:r>
          </a:p>
        </p:txBody>
      </p:sp>
      <p:sp>
        <p:nvSpPr>
          <p:cNvPr id="3" name="Content Placeholder 2">
            <a:extLst>
              <a:ext uri="{FF2B5EF4-FFF2-40B4-BE49-F238E27FC236}">
                <a16:creationId xmlns:a16="http://schemas.microsoft.com/office/drawing/2014/main" id="{67E78BCF-CCEB-41B9-54DA-59AEF6D427B5}"/>
              </a:ext>
            </a:extLst>
          </p:cNvPr>
          <p:cNvSpPr>
            <a:spLocks noGrp="1"/>
          </p:cNvSpPr>
          <p:nvPr>
            <p:ph idx="1"/>
          </p:nvPr>
        </p:nvSpPr>
        <p:spPr/>
        <p:txBody>
          <a:bodyPr>
            <a:normAutofit/>
          </a:bodyPr>
          <a:lstStyle/>
          <a:p>
            <a:pPr lvl="0"/>
            <a:r>
              <a:rPr lang="en-US" dirty="0"/>
              <a:t>An urgent care clinic employs an ER physician who works a 10-hour shift and uses an MRI machine purchased for $50,000. The ER physician can treat 20 patients per shift and earns $100 per hour. The ER physician exhibits diminishing marginal productivity throughout the course of her shift. For simplicity, assume that all patients are identical. </a:t>
            </a:r>
          </a:p>
        </p:txBody>
      </p:sp>
    </p:spTree>
    <p:extLst>
      <p:ext uri="{BB962C8B-B14F-4D97-AF65-F5344CB8AC3E}">
        <p14:creationId xmlns:p14="http://schemas.microsoft.com/office/powerpoint/2010/main" val="3545763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EDF90-39C4-DA0A-ADA4-34EE225A837C}"/>
              </a:ext>
            </a:extLst>
          </p:cNvPr>
          <p:cNvSpPr>
            <a:spLocks noGrp="1"/>
          </p:cNvSpPr>
          <p:nvPr>
            <p:ph type="title"/>
          </p:nvPr>
        </p:nvSpPr>
        <p:spPr/>
        <p:txBody>
          <a:bodyPr/>
          <a:lstStyle/>
          <a:p>
            <a:r>
              <a:rPr lang="en-US" dirty="0"/>
              <a:t>Example Problem 3</a:t>
            </a:r>
          </a:p>
        </p:txBody>
      </p:sp>
      <p:sp>
        <p:nvSpPr>
          <p:cNvPr id="3" name="Content Placeholder 2">
            <a:extLst>
              <a:ext uri="{FF2B5EF4-FFF2-40B4-BE49-F238E27FC236}">
                <a16:creationId xmlns:a16="http://schemas.microsoft.com/office/drawing/2014/main" id="{3C09E151-AE70-A48F-5EFA-F31A2F1699A4}"/>
              </a:ext>
            </a:extLst>
          </p:cNvPr>
          <p:cNvSpPr>
            <a:spLocks noGrp="1"/>
          </p:cNvSpPr>
          <p:nvPr>
            <p:ph idx="1"/>
          </p:nvPr>
        </p:nvSpPr>
        <p:spPr/>
        <p:txBody>
          <a:bodyPr>
            <a:normAutofit/>
          </a:bodyPr>
          <a:lstStyle/>
          <a:p>
            <a:pPr marL="514350" lvl="0" indent="-514350">
              <a:buFont typeface="+mj-lt"/>
              <a:buAutoNum type="arabicPeriod"/>
            </a:pPr>
            <a:r>
              <a:rPr lang="en-US" dirty="0"/>
              <a:t>What is the average product for this doctor? </a:t>
            </a:r>
          </a:p>
          <a:p>
            <a:pPr marL="514350" indent="-514350">
              <a:buFont typeface="+mj-lt"/>
              <a:buAutoNum type="arabicPeriod"/>
            </a:pPr>
            <a:r>
              <a:rPr lang="en-US" dirty="0"/>
              <a:t>What is the average variable cost of ER physician visit per patient?</a:t>
            </a:r>
          </a:p>
          <a:p>
            <a:pPr marL="514350" lvl="0" indent="-514350">
              <a:buFont typeface="+mj-lt"/>
              <a:buAutoNum type="arabicPeriod"/>
            </a:pPr>
            <a:r>
              <a:rPr lang="en-US" dirty="0"/>
              <a:t>What is the average total cost of the ER physician visit per patient? </a:t>
            </a:r>
          </a:p>
          <a:p>
            <a:pPr marL="514350" lvl="0" indent="-514350">
              <a:buFont typeface="+mj-lt"/>
              <a:buAutoNum type="arabicPeriod"/>
            </a:pPr>
            <a:r>
              <a:rPr lang="en-US" dirty="0"/>
              <a:t>Based only on the information above, it can be assumed that the ER doctor will spend more than _______ minutes treating their final patient of the day. </a:t>
            </a:r>
          </a:p>
        </p:txBody>
      </p:sp>
    </p:spTree>
    <p:extLst>
      <p:ext uri="{BB962C8B-B14F-4D97-AF65-F5344CB8AC3E}">
        <p14:creationId xmlns:p14="http://schemas.microsoft.com/office/powerpoint/2010/main" val="2953475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B5FA5-B300-E238-BEE4-41B3DB735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38B27-0FFF-C544-190B-4934C9FA929A}"/>
              </a:ext>
            </a:extLst>
          </p:cNvPr>
          <p:cNvSpPr>
            <a:spLocks noGrp="1"/>
          </p:cNvSpPr>
          <p:nvPr>
            <p:ph type="title"/>
          </p:nvPr>
        </p:nvSpPr>
        <p:spPr/>
        <p:txBody>
          <a:bodyPr/>
          <a:lstStyle/>
          <a:p>
            <a:r>
              <a:rPr lang="en-US" dirty="0"/>
              <a:t>Example Problem 3</a:t>
            </a:r>
          </a:p>
        </p:txBody>
      </p:sp>
      <p:sp>
        <p:nvSpPr>
          <p:cNvPr id="3" name="Content Placeholder 2">
            <a:extLst>
              <a:ext uri="{FF2B5EF4-FFF2-40B4-BE49-F238E27FC236}">
                <a16:creationId xmlns:a16="http://schemas.microsoft.com/office/drawing/2014/main" id="{4CC16B5B-6D55-09DC-712B-04AFF638713D}"/>
              </a:ext>
            </a:extLst>
          </p:cNvPr>
          <p:cNvSpPr>
            <a:spLocks noGrp="1"/>
          </p:cNvSpPr>
          <p:nvPr>
            <p:ph idx="1"/>
          </p:nvPr>
        </p:nvSpPr>
        <p:spPr/>
        <p:txBody>
          <a:bodyPr>
            <a:normAutofit/>
          </a:bodyPr>
          <a:lstStyle/>
          <a:p>
            <a:pPr marL="514350" lvl="0" indent="-514350">
              <a:buFont typeface="+mj-lt"/>
              <a:buAutoNum type="arabicPeriod"/>
            </a:pPr>
            <a:r>
              <a:rPr lang="en-US" b="1" dirty="0"/>
              <a:t>What is the average product for this doctor? </a:t>
            </a:r>
          </a:p>
          <a:p>
            <a:pPr marL="0" lvl="0" indent="0">
              <a:buNone/>
            </a:pPr>
            <a:r>
              <a:rPr lang="en-US" dirty="0"/>
              <a:t>AP = Q/L </a:t>
            </a:r>
          </a:p>
          <a:p>
            <a:pPr marL="0" lvl="0" indent="0">
              <a:buNone/>
            </a:pPr>
            <a:r>
              <a:rPr lang="en-US" dirty="0"/>
              <a:t>Q= 20 patients, L = 10 hours </a:t>
            </a:r>
            <a:r>
              <a:rPr lang="en-US" dirty="0">
                <a:sym typeface="Wingdings" panose="05000000000000000000" pitchFamily="2" charset="2"/>
              </a:rPr>
              <a:t> AP = 20/10 = 2 </a:t>
            </a:r>
          </a:p>
          <a:p>
            <a:pPr marL="0" lvl="0" indent="0">
              <a:buNone/>
            </a:pPr>
            <a:r>
              <a:rPr lang="en-US" dirty="0">
                <a:sym typeface="Wingdings" panose="05000000000000000000" pitchFamily="2" charset="2"/>
              </a:rPr>
              <a:t>This doctor can see 2 patients per hour.</a:t>
            </a:r>
            <a:endParaRPr lang="en-US" dirty="0"/>
          </a:p>
        </p:txBody>
      </p:sp>
    </p:spTree>
    <p:extLst>
      <p:ext uri="{BB962C8B-B14F-4D97-AF65-F5344CB8AC3E}">
        <p14:creationId xmlns:p14="http://schemas.microsoft.com/office/powerpoint/2010/main" val="2849684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AE650-D349-BD33-2D03-C63F8A581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5CD00-3B41-4B2D-77C1-ED703FDCF6F6}"/>
              </a:ext>
            </a:extLst>
          </p:cNvPr>
          <p:cNvSpPr>
            <a:spLocks noGrp="1"/>
          </p:cNvSpPr>
          <p:nvPr>
            <p:ph type="title"/>
          </p:nvPr>
        </p:nvSpPr>
        <p:spPr/>
        <p:txBody>
          <a:bodyPr/>
          <a:lstStyle/>
          <a:p>
            <a:r>
              <a:rPr lang="en-US" dirty="0"/>
              <a:t>Example Problem 3</a:t>
            </a:r>
          </a:p>
        </p:txBody>
      </p:sp>
      <p:sp>
        <p:nvSpPr>
          <p:cNvPr id="3" name="Content Placeholder 2">
            <a:extLst>
              <a:ext uri="{FF2B5EF4-FFF2-40B4-BE49-F238E27FC236}">
                <a16:creationId xmlns:a16="http://schemas.microsoft.com/office/drawing/2014/main" id="{7F44B9E1-D2BB-B8D0-150B-BB0861D0E242}"/>
              </a:ext>
            </a:extLst>
          </p:cNvPr>
          <p:cNvSpPr>
            <a:spLocks noGrp="1"/>
          </p:cNvSpPr>
          <p:nvPr>
            <p:ph idx="1"/>
          </p:nvPr>
        </p:nvSpPr>
        <p:spPr/>
        <p:txBody>
          <a:bodyPr>
            <a:normAutofit/>
          </a:bodyPr>
          <a:lstStyle/>
          <a:p>
            <a:pPr marL="0" lvl="0" indent="0">
              <a:buNone/>
            </a:pPr>
            <a:endParaRPr lang="en-US" dirty="0"/>
          </a:p>
          <a:p>
            <a:pPr marL="0" lvl="0" indent="0">
              <a:buNone/>
            </a:pPr>
            <a:r>
              <a:rPr lang="en-US" b="1" dirty="0"/>
              <a:t>2. What is the average variable cost of the ER physician per patient? </a:t>
            </a:r>
          </a:p>
          <a:p>
            <a:pPr marL="0" lvl="0" indent="0">
              <a:buNone/>
            </a:pPr>
            <a:r>
              <a:rPr lang="en-US" dirty="0"/>
              <a:t>AVC per patient = wage per hour / patients per hour = 100/2 = $50</a:t>
            </a:r>
          </a:p>
          <a:p>
            <a:pPr marL="0" lvl="0" indent="0">
              <a:buNone/>
            </a:pPr>
            <a:endParaRPr lang="en-US" dirty="0"/>
          </a:p>
          <a:p>
            <a:pPr marL="0" lvl="0" indent="0">
              <a:buNone/>
            </a:pPr>
            <a:r>
              <a:rPr lang="en-US" dirty="0"/>
              <a:t>AVC per patient = total wage / total patients = 100*10/20 = $50 </a:t>
            </a:r>
          </a:p>
          <a:p>
            <a:pPr marL="0" lvl="0" indent="0">
              <a:buNone/>
            </a:pPr>
            <a:endParaRPr lang="en-US" dirty="0"/>
          </a:p>
        </p:txBody>
      </p:sp>
    </p:spTree>
    <p:extLst>
      <p:ext uri="{BB962C8B-B14F-4D97-AF65-F5344CB8AC3E}">
        <p14:creationId xmlns:p14="http://schemas.microsoft.com/office/powerpoint/2010/main" val="299262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E43AB-531C-BEE2-1B4A-D065B05F8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9F808-8BE8-D4A8-0EF9-086D12695D5E}"/>
              </a:ext>
            </a:extLst>
          </p:cNvPr>
          <p:cNvSpPr>
            <a:spLocks noGrp="1"/>
          </p:cNvSpPr>
          <p:nvPr>
            <p:ph type="title"/>
          </p:nvPr>
        </p:nvSpPr>
        <p:spPr/>
        <p:txBody>
          <a:bodyPr/>
          <a:lstStyle/>
          <a:p>
            <a:r>
              <a:rPr lang="en-US" dirty="0"/>
              <a:t>Example Problem 3</a:t>
            </a:r>
          </a:p>
        </p:txBody>
      </p:sp>
      <p:sp>
        <p:nvSpPr>
          <p:cNvPr id="3" name="Content Placeholder 2">
            <a:extLst>
              <a:ext uri="{FF2B5EF4-FFF2-40B4-BE49-F238E27FC236}">
                <a16:creationId xmlns:a16="http://schemas.microsoft.com/office/drawing/2014/main" id="{512E27F0-37A3-F6EA-CB3E-A70089F1A32F}"/>
              </a:ext>
            </a:extLst>
          </p:cNvPr>
          <p:cNvSpPr>
            <a:spLocks noGrp="1"/>
          </p:cNvSpPr>
          <p:nvPr>
            <p:ph idx="1"/>
          </p:nvPr>
        </p:nvSpPr>
        <p:spPr/>
        <p:txBody>
          <a:bodyPr>
            <a:normAutofit/>
          </a:bodyPr>
          <a:lstStyle/>
          <a:p>
            <a:pPr marL="0" lvl="0" indent="0">
              <a:buNone/>
            </a:pPr>
            <a:r>
              <a:rPr lang="en-US" b="1" dirty="0"/>
              <a:t>3. What is the average total cost of the ER physician per patient? </a:t>
            </a:r>
          </a:p>
          <a:p>
            <a:pPr marL="0" lvl="0" indent="0">
              <a:buNone/>
            </a:pPr>
            <a:endParaRPr lang="en-US" dirty="0"/>
          </a:p>
          <a:p>
            <a:pPr marL="0" lvl="0" indent="0">
              <a:buNone/>
            </a:pPr>
            <a:r>
              <a:rPr lang="en-US" dirty="0"/>
              <a:t>ATC per patient = (total wage + fixed cost) / total patients </a:t>
            </a:r>
          </a:p>
          <a:p>
            <a:pPr marL="0" lvl="0" indent="0">
              <a:buNone/>
            </a:pPr>
            <a:r>
              <a:rPr lang="en-US" dirty="0"/>
              <a:t>ATC per patient = (50,000+100*10)/20 = $2,550 per patient</a:t>
            </a:r>
          </a:p>
          <a:p>
            <a:pPr marL="0" lvl="0" indent="0">
              <a:buNone/>
            </a:pPr>
            <a:endParaRPr lang="en-US" dirty="0"/>
          </a:p>
        </p:txBody>
      </p:sp>
    </p:spTree>
    <p:extLst>
      <p:ext uri="{BB962C8B-B14F-4D97-AF65-F5344CB8AC3E}">
        <p14:creationId xmlns:p14="http://schemas.microsoft.com/office/powerpoint/2010/main" val="2948691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C33E2-21BE-FEA9-E6D9-67DD6C79F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646A7-72C0-B7A3-26C3-5EA9AD3C752E}"/>
              </a:ext>
            </a:extLst>
          </p:cNvPr>
          <p:cNvSpPr>
            <a:spLocks noGrp="1"/>
          </p:cNvSpPr>
          <p:nvPr>
            <p:ph type="title"/>
          </p:nvPr>
        </p:nvSpPr>
        <p:spPr/>
        <p:txBody>
          <a:bodyPr/>
          <a:lstStyle/>
          <a:p>
            <a:r>
              <a:rPr lang="en-US" dirty="0"/>
              <a:t>Example Problem 3</a:t>
            </a:r>
          </a:p>
        </p:txBody>
      </p:sp>
      <p:sp>
        <p:nvSpPr>
          <p:cNvPr id="3" name="Content Placeholder 2">
            <a:extLst>
              <a:ext uri="{FF2B5EF4-FFF2-40B4-BE49-F238E27FC236}">
                <a16:creationId xmlns:a16="http://schemas.microsoft.com/office/drawing/2014/main" id="{13EEE8CE-C0E1-C3B3-6DBE-1F936970D793}"/>
              </a:ext>
            </a:extLst>
          </p:cNvPr>
          <p:cNvSpPr>
            <a:spLocks noGrp="1"/>
          </p:cNvSpPr>
          <p:nvPr>
            <p:ph idx="1"/>
          </p:nvPr>
        </p:nvSpPr>
        <p:spPr/>
        <p:txBody>
          <a:bodyPr>
            <a:normAutofit/>
          </a:bodyPr>
          <a:lstStyle/>
          <a:p>
            <a:pPr marL="0" lvl="0" indent="0">
              <a:buNone/>
            </a:pPr>
            <a:r>
              <a:rPr lang="en-US" b="1" dirty="0"/>
              <a:t>4. Based only on the information above, it can be assumed that the ER doctor will spend more than _______ minutes treating their final patient of the day. </a:t>
            </a:r>
          </a:p>
          <a:p>
            <a:pPr marL="0" lvl="0" indent="0">
              <a:buNone/>
            </a:pPr>
            <a:endParaRPr lang="en-US" dirty="0"/>
          </a:p>
          <a:p>
            <a:pPr marL="0" lvl="0" indent="0">
              <a:buNone/>
            </a:pPr>
            <a:r>
              <a:rPr lang="en-US" dirty="0"/>
              <a:t>Average time per patient = 10 hours / 20 patients = </a:t>
            </a:r>
            <a:r>
              <a:rPr lang="en-US" b="1" dirty="0"/>
              <a:t>30 min / patient </a:t>
            </a:r>
          </a:p>
          <a:p>
            <a:pPr marL="0" lvl="0" indent="0">
              <a:buNone/>
            </a:pPr>
            <a:endParaRPr lang="en-US" dirty="0"/>
          </a:p>
          <a:p>
            <a:pPr marL="0" lvl="0" indent="0">
              <a:buNone/>
            </a:pPr>
            <a:r>
              <a:rPr lang="en-US" b="1" dirty="0"/>
              <a:t>Due to diminishing marginal returns</a:t>
            </a:r>
            <a:r>
              <a:rPr lang="en-US" dirty="0"/>
              <a:t>, the marginal product should exceed the average time. </a:t>
            </a:r>
          </a:p>
        </p:txBody>
      </p:sp>
      <p:sp>
        <p:nvSpPr>
          <p:cNvPr id="4" name="Rectangle 3">
            <a:extLst>
              <a:ext uri="{FF2B5EF4-FFF2-40B4-BE49-F238E27FC236}">
                <a16:creationId xmlns:a16="http://schemas.microsoft.com/office/drawing/2014/main" id="{130A63BF-B64D-9C52-3DD9-720949613242}"/>
              </a:ext>
            </a:extLst>
          </p:cNvPr>
          <p:cNvSpPr/>
          <p:nvPr/>
        </p:nvSpPr>
        <p:spPr>
          <a:xfrm>
            <a:off x="838200" y="4330700"/>
            <a:ext cx="10744200" cy="13255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2351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C4B9C-6FE9-3D64-2638-B16BC606E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C6CC9-7148-3774-8616-B96FFB3ACA52}"/>
              </a:ext>
            </a:extLst>
          </p:cNvPr>
          <p:cNvSpPr>
            <a:spLocks noGrp="1"/>
          </p:cNvSpPr>
          <p:nvPr>
            <p:ph type="title"/>
          </p:nvPr>
        </p:nvSpPr>
        <p:spPr/>
        <p:txBody>
          <a:bodyPr/>
          <a:lstStyle/>
          <a:p>
            <a:r>
              <a:rPr lang="en-US" dirty="0"/>
              <a:t>Example Problem 3</a:t>
            </a:r>
          </a:p>
        </p:txBody>
      </p:sp>
      <p:sp>
        <p:nvSpPr>
          <p:cNvPr id="3" name="Content Placeholder 2">
            <a:extLst>
              <a:ext uri="{FF2B5EF4-FFF2-40B4-BE49-F238E27FC236}">
                <a16:creationId xmlns:a16="http://schemas.microsoft.com/office/drawing/2014/main" id="{89F6270D-5C4E-8B71-CACB-41CF13DAC031}"/>
              </a:ext>
            </a:extLst>
          </p:cNvPr>
          <p:cNvSpPr>
            <a:spLocks noGrp="1"/>
          </p:cNvSpPr>
          <p:nvPr>
            <p:ph idx="1"/>
          </p:nvPr>
        </p:nvSpPr>
        <p:spPr/>
        <p:txBody>
          <a:bodyPr>
            <a:normAutofit/>
          </a:bodyPr>
          <a:lstStyle/>
          <a:p>
            <a:pPr marL="0" lvl="0" indent="0">
              <a:buNone/>
            </a:pPr>
            <a:r>
              <a:rPr lang="en-US" b="1" dirty="0"/>
              <a:t>4. Based only on the information above, it can be assumed that the ER doctor will spend more than _______ minutes treating their final patient of the day. </a:t>
            </a:r>
          </a:p>
          <a:p>
            <a:pPr marL="0" lvl="0" indent="0">
              <a:buNone/>
            </a:pPr>
            <a:endParaRPr lang="en-US" dirty="0"/>
          </a:p>
          <a:p>
            <a:pPr marL="0" lvl="0" indent="0">
              <a:buNone/>
            </a:pPr>
            <a:r>
              <a:rPr lang="en-US" dirty="0"/>
              <a:t>Average time per patient = 10 hours / 20 patients = </a:t>
            </a:r>
            <a:r>
              <a:rPr lang="en-US" b="1" dirty="0"/>
              <a:t>30 min / patient </a:t>
            </a:r>
          </a:p>
          <a:p>
            <a:pPr marL="0" lvl="0" indent="0">
              <a:buNone/>
            </a:pPr>
            <a:endParaRPr lang="en-US" dirty="0"/>
          </a:p>
          <a:p>
            <a:pPr marL="0" lvl="0" indent="0">
              <a:buNone/>
            </a:pPr>
            <a:r>
              <a:rPr lang="en-US" b="1" dirty="0"/>
              <a:t>Due to diminishing marginal returns</a:t>
            </a:r>
            <a:r>
              <a:rPr lang="en-US" dirty="0"/>
              <a:t>, the marginal product should exceed the average time. </a:t>
            </a:r>
          </a:p>
        </p:txBody>
      </p:sp>
    </p:spTree>
    <p:extLst>
      <p:ext uri="{BB962C8B-B14F-4D97-AF65-F5344CB8AC3E}">
        <p14:creationId xmlns:p14="http://schemas.microsoft.com/office/powerpoint/2010/main" val="3690981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A5FFF-C513-E827-70B6-73A896D89A32}"/>
              </a:ext>
            </a:extLst>
          </p:cNvPr>
          <p:cNvSpPr>
            <a:spLocks noGrp="1"/>
          </p:cNvSpPr>
          <p:nvPr>
            <p:ph type="title"/>
          </p:nvPr>
        </p:nvSpPr>
        <p:spPr/>
        <p:txBody>
          <a:bodyPr/>
          <a:lstStyle/>
          <a:p>
            <a:r>
              <a:rPr lang="en-US" dirty="0"/>
              <a:t>Break, Questions  </a:t>
            </a:r>
          </a:p>
        </p:txBody>
      </p:sp>
      <p:sp>
        <p:nvSpPr>
          <p:cNvPr id="3" name="Content Placeholder 2">
            <a:extLst>
              <a:ext uri="{FF2B5EF4-FFF2-40B4-BE49-F238E27FC236}">
                <a16:creationId xmlns:a16="http://schemas.microsoft.com/office/drawing/2014/main" id="{39855B0C-F7C8-49B9-86F0-EB159DEF9792}"/>
              </a:ext>
            </a:extLst>
          </p:cNvPr>
          <p:cNvSpPr>
            <a:spLocks noGrp="1"/>
          </p:cNvSpPr>
          <p:nvPr>
            <p:ph idx="1"/>
          </p:nvPr>
        </p:nvSpPr>
        <p:spPr/>
        <p:txBody>
          <a:bodyPr/>
          <a:lstStyle/>
          <a:p>
            <a:endParaRPr lang="en-US" dirty="0"/>
          </a:p>
        </p:txBody>
      </p:sp>
      <p:sp>
        <p:nvSpPr>
          <p:cNvPr id="5" name="TextBox 4">
            <a:extLst>
              <a:ext uri="{FF2B5EF4-FFF2-40B4-BE49-F238E27FC236}">
                <a16:creationId xmlns:a16="http://schemas.microsoft.com/office/drawing/2014/main" id="{7A7840B7-3C7C-70E8-9AB7-7F322C4376CD}"/>
              </a:ext>
            </a:extLst>
          </p:cNvPr>
          <p:cNvSpPr txBox="1"/>
          <p:nvPr/>
        </p:nvSpPr>
        <p:spPr>
          <a:xfrm>
            <a:off x="3049030" y="3244334"/>
            <a:ext cx="6098058" cy="369332"/>
          </a:xfrm>
          <a:prstGeom prst="rect">
            <a:avLst/>
          </a:prstGeom>
          <a:noFill/>
        </p:spPr>
        <p:txBody>
          <a:bodyPr wrap="square">
            <a:spAutoFit/>
          </a:bodyPr>
          <a:lstStyle/>
          <a:p>
            <a:r>
              <a:rPr lang="en-US" dirty="0"/>
              <a:t> </a:t>
            </a:r>
          </a:p>
        </p:txBody>
      </p:sp>
    </p:spTree>
    <p:extLst>
      <p:ext uri="{BB962C8B-B14F-4D97-AF65-F5344CB8AC3E}">
        <p14:creationId xmlns:p14="http://schemas.microsoft.com/office/powerpoint/2010/main" val="1212864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CF87A-8771-5C8E-3E80-8156FA56BCA6}"/>
              </a:ext>
            </a:extLst>
          </p:cNvPr>
          <p:cNvSpPr>
            <a:spLocks noGrp="1"/>
          </p:cNvSpPr>
          <p:nvPr>
            <p:ph type="title"/>
          </p:nvPr>
        </p:nvSpPr>
        <p:spPr/>
        <p:txBody>
          <a:bodyPr/>
          <a:lstStyle/>
          <a:p>
            <a:r>
              <a:rPr lang="en-US" dirty="0"/>
              <a:t>Market Analysis</a:t>
            </a:r>
          </a:p>
        </p:txBody>
      </p:sp>
      <p:sp>
        <p:nvSpPr>
          <p:cNvPr id="3" name="Content Placeholder 2">
            <a:extLst>
              <a:ext uri="{FF2B5EF4-FFF2-40B4-BE49-F238E27FC236}">
                <a16:creationId xmlns:a16="http://schemas.microsoft.com/office/drawing/2014/main" id="{9D5DBC74-0220-B94E-E14A-40BADB1F1700}"/>
              </a:ext>
            </a:extLst>
          </p:cNvPr>
          <p:cNvSpPr>
            <a:spLocks noGrp="1"/>
          </p:cNvSpPr>
          <p:nvPr>
            <p:ph idx="1"/>
          </p:nvPr>
        </p:nvSpPr>
        <p:spPr>
          <a:xfrm>
            <a:off x="838200" y="1665150"/>
            <a:ext cx="10515600" cy="4351338"/>
          </a:xfrm>
        </p:spPr>
        <p:txBody>
          <a:bodyPr/>
          <a:lstStyle/>
          <a:p>
            <a:r>
              <a:rPr lang="en-US" dirty="0"/>
              <a:t>So far, we’ve seen </a:t>
            </a:r>
          </a:p>
          <a:p>
            <a:pPr lvl="1"/>
            <a:r>
              <a:rPr lang="en-US" dirty="0"/>
              <a:t>Demand</a:t>
            </a:r>
          </a:p>
          <a:p>
            <a:pPr lvl="1"/>
            <a:r>
              <a:rPr lang="en-US" dirty="0"/>
              <a:t>Supply </a:t>
            </a:r>
          </a:p>
          <a:p>
            <a:pPr marL="457200" lvl="1" indent="0">
              <a:buNone/>
            </a:pPr>
            <a:endParaRPr lang="en-US" dirty="0"/>
          </a:p>
        </p:txBody>
      </p:sp>
      <p:pic>
        <p:nvPicPr>
          <p:cNvPr id="4" name="Google Shape;210;p34">
            <a:extLst>
              <a:ext uri="{FF2B5EF4-FFF2-40B4-BE49-F238E27FC236}">
                <a16:creationId xmlns:a16="http://schemas.microsoft.com/office/drawing/2014/main" id="{8A15C193-A96D-312A-274F-F43B808B650A}"/>
              </a:ext>
            </a:extLst>
          </p:cNvPr>
          <p:cNvPicPr preferRelativeResize="0"/>
          <p:nvPr/>
        </p:nvPicPr>
        <p:blipFill>
          <a:blip r:embed="rId3">
            <a:alphaModFix/>
          </a:blip>
          <a:stretch>
            <a:fillRect/>
          </a:stretch>
        </p:blipFill>
        <p:spPr>
          <a:xfrm>
            <a:off x="9929034" y="2096916"/>
            <a:ext cx="1722199" cy="1743903"/>
          </a:xfrm>
          <a:prstGeom prst="rect">
            <a:avLst/>
          </a:prstGeom>
          <a:noFill/>
          <a:ln>
            <a:noFill/>
          </a:ln>
        </p:spPr>
      </p:pic>
      <p:pic>
        <p:nvPicPr>
          <p:cNvPr id="23" name="Picture 22">
            <a:extLst>
              <a:ext uri="{FF2B5EF4-FFF2-40B4-BE49-F238E27FC236}">
                <a16:creationId xmlns:a16="http://schemas.microsoft.com/office/drawing/2014/main" id="{0D1D4FA2-BA65-3FC9-5F4C-B74E31432D36}"/>
              </a:ext>
            </a:extLst>
          </p:cNvPr>
          <p:cNvPicPr>
            <a:picLocks noChangeAspect="1"/>
          </p:cNvPicPr>
          <p:nvPr/>
        </p:nvPicPr>
        <p:blipFill>
          <a:blip r:embed="rId4"/>
          <a:srcRect b="7344"/>
          <a:stretch>
            <a:fillRect/>
          </a:stretch>
        </p:blipFill>
        <p:spPr>
          <a:xfrm>
            <a:off x="3103739" y="3164204"/>
            <a:ext cx="5618770" cy="2852284"/>
          </a:xfrm>
          <a:prstGeom prst="rect">
            <a:avLst/>
          </a:prstGeom>
        </p:spPr>
      </p:pic>
      <p:sp>
        <p:nvSpPr>
          <p:cNvPr id="24" name="TextBox 23">
            <a:extLst>
              <a:ext uri="{FF2B5EF4-FFF2-40B4-BE49-F238E27FC236}">
                <a16:creationId xmlns:a16="http://schemas.microsoft.com/office/drawing/2014/main" id="{E3A963D7-2088-0B04-C8D3-7070066D8B6E}"/>
              </a:ext>
            </a:extLst>
          </p:cNvPr>
          <p:cNvSpPr txBox="1"/>
          <p:nvPr/>
        </p:nvSpPr>
        <p:spPr>
          <a:xfrm>
            <a:off x="6480313" y="6016488"/>
            <a:ext cx="2120348" cy="369332"/>
          </a:xfrm>
          <a:prstGeom prst="rect">
            <a:avLst/>
          </a:prstGeom>
          <a:noFill/>
        </p:spPr>
        <p:txBody>
          <a:bodyPr wrap="square" rtlCol="0">
            <a:spAutoFit/>
          </a:bodyPr>
          <a:lstStyle/>
          <a:p>
            <a:r>
              <a:rPr lang="en-US" dirty="0"/>
              <a:t>Physician services </a:t>
            </a:r>
          </a:p>
        </p:txBody>
      </p:sp>
      <p:cxnSp>
        <p:nvCxnSpPr>
          <p:cNvPr id="26" name="Straight Arrow Connector 25">
            <a:extLst>
              <a:ext uri="{FF2B5EF4-FFF2-40B4-BE49-F238E27FC236}">
                <a16:creationId xmlns:a16="http://schemas.microsoft.com/office/drawing/2014/main" id="{B91BE6D5-6072-CC9B-0A4B-3A6CF5EC1DCB}"/>
              </a:ext>
            </a:extLst>
          </p:cNvPr>
          <p:cNvCxnSpPr/>
          <p:nvPr/>
        </p:nvCxnSpPr>
        <p:spPr>
          <a:xfrm flipH="1">
            <a:off x="5579165" y="2796209"/>
            <a:ext cx="185531" cy="1113182"/>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DD9BC7F-99EE-8943-D479-D92C4BA787B0}"/>
              </a:ext>
            </a:extLst>
          </p:cNvPr>
          <p:cNvSpPr txBox="1"/>
          <p:nvPr/>
        </p:nvSpPr>
        <p:spPr>
          <a:xfrm>
            <a:off x="4976114" y="2343053"/>
            <a:ext cx="2830711" cy="369332"/>
          </a:xfrm>
          <a:prstGeom prst="rect">
            <a:avLst/>
          </a:prstGeom>
          <a:noFill/>
        </p:spPr>
        <p:txBody>
          <a:bodyPr wrap="none" rtlCol="0">
            <a:spAutoFit/>
          </a:bodyPr>
          <a:lstStyle/>
          <a:p>
            <a:r>
              <a:rPr lang="en-US" dirty="0">
                <a:solidFill>
                  <a:srgbClr val="FF0000"/>
                </a:solidFill>
              </a:rPr>
              <a:t>Today’s Focus: Equilibrium</a:t>
            </a:r>
          </a:p>
        </p:txBody>
      </p:sp>
    </p:spTree>
    <p:extLst>
      <p:ext uri="{BB962C8B-B14F-4D97-AF65-F5344CB8AC3E}">
        <p14:creationId xmlns:p14="http://schemas.microsoft.com/office/powerpoint/2010/main" val="4264613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0328C-8703-9ABD-B6D2-ADA1DC62CDAE}"/>
              </a:ext>
            </a:extLst>
          </p:cNvPr>
          <p:cNvSpPr>
            <a:spLocks noGrp="1"/>
          </p:cNvSpPr>
          <p:nvPr>
            <p:ph type="title"/>
          </p:nvPr>
        </p:nvSpPr>
        <p:spPr/>
        <p:txBody>
          <a:bodyPr/>
          <a:lstStyle/>
          <a:p>
            <a:r>
              <a:rPr lang="en-US" dirty="0"/>
              <a:t>Comparative Statics </a:t>
            </a:r>
          </a:p>
        </p:txBody>
      </p:sp>
      <p:sp>
        <p:nvSpPr>
          <p:cNvPr id="3" name="Content Placeholder 2">
            <a:extLst>
              <a:ext uri="{FF2B5EF4-FFF2-40B4-BE49-F238E27FC236}">
                <a16:creationId xmlns:a16="http://schemas.microsoft.com/office/drawing/2014/main" id="{D580FB81-0A86-B0B1-AD43-F77A4CB15905}"/>
              </a:ext>
            </a:extLst>
          </p:cNvPr>
          <p:cNvSpPr>
            <a:spLocks noGrp="1"/>
          </p:cNvSpPr>
          <p:nvPr>
            <p:ph idx="1"/>
          </p:nvPr>
        </p:nvSpPr>
        <p:spPr>
          <a:xfrm>
            <a:off x="578708" y="2501899"/>
            <a:ext cx="10515600" cy="3452641"/>
          </a:xfrm>
        </p:spPr>
        <p:txBody>
          <a:bodyPr/>
          <a:lstStyle/>
          <a:p>
            <a:pPr marL="0" lvl="0" indent="0">
              <a:buNone/>
            </a:pPr>
            <a:r>
              <a:rPr lang="en-US" dirty="0"/>
              <a:t>What happens to the equilibrium if something outside of the model changes? </a:t>
            </a:r>
          </a:p>
        </p:txBody>
      </p:sp>
    </p:spTree>
    <p:extLst>
      <p:ext uri="{BB962C8B-B14F-4D97-AF65-F5344CB8AC3E}">
        <p14:creationId xmlns:p14="http://schemas.microsoft.com/office/powerpoint/2010/main" val="3222555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9336D-92E3-5C34-37D7-F6EC7DD42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4F6FA-D57A-0F0E-469F-E3945991A726}"/>
              </a:ext>
            </a:extLst>
          </p:cNvPr>
          <p:cNvSpPr>
            <a:spLocks noGrp="1"/>
          </p:cNvSpPr>
          <p:nvPr>
            <p:ph type="title"/>
          </p:nvPr>
        </p:nvSpPr>
        <p:spPr/>
        <p:txBody>
          <a:bodyPr/>
          <a:lstStyle/>
          <a:p>
            <a:r>
              <a:rPr lang="en-US" dirty="0"/>
              <a:t>Comparative Statics – French report example</a:t>
            </a:r>
          </a:p>
        </p:txBody>
      </p:sp>
      <p:pic>
        <p:nvPicPr>
          <p:cNvPr id="5" name="Picture 4">
            <a:extLst>
              <a:ext uri="{FF2B5EF4-FFF2-40B4-BE49-F238E27FC236}">
                <a16:creationId xmlns:a16="http://schemas.microsoft.com/office/drawing/2014/main" id="{5DBCC912-F4EB-1917-8004-7FCDF539DD75}"/>
              </a:ext>
            </a:extLst>
          </p:cNvPr>
          <p:cNvPicPr>
            <a:picLocks noChangeAspect="1"/>
          </p:cNvPicPr>
          <p:nvPr/>
        </p:nvPicPr>
        <p:blipFill>
          <a:blip r:embed="rId3"/>
          <a:stretch>
            <a:fillRect/>
          </a:stretch>
        </p:blipFill>
        <p:spPr>
          <a:xfrm>
            <a:off x="2366317" y="2239166"/>
            <a:ext cx="6945403" cy="3847309"/>
          </a:xfrm>
          <a:prstGeom prst="rect">
            <a:avLst/>
          </a:prstGeom>
        </p:spPr>
      </p:pic>
      <p:cxnSp>
        <p:nvCxnSpPr>
          <p:cNvPr id="6" name="Straight Arrow Connector 5">
            <a:extLst>
              <a:ext uri="{FF2B5EF4-FFF2-40B4-BE49-F238E27FC236}">
                <a16:creationId xmlns:a16="http://schemas.microsoft.com/office/drawing/2014/main" id="{9FD3E41F-EB06-291B-D014-DCF17315BDAA}"/>
              </a:ext>
            </a:extLst>
          </p:cNvPr>
          <p:cNvCxnSpPr>
            <a:cxnSpLocks/>
          </p:cNvCxnSpPr>
          <p:nvPr/>
        </p:nvCxnSpPr>
        <p:spPr>
          <a:xfrm>
            <a:off x="5010150" y="2620473"/>
            <a:ext cx="664265" cy="1147141"/>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4287593-3EA5-FD88-781C-D5777C3ED58B}"/>
              </a:ext>
            </a:extLst>
          </p:cNvPr>
          <p:cNvSpPr txBox="1"/>
          <p:nvPr/>
        </p:nvSpPr>
        <p:spPr>
          <a:xfrm>
            <a:off x="4423662" y="2129152"/>
            <a:ext cx="2830711" cy="369332"/>
          </a:xfrm>
          <a:prstGeom prst="rect">
            <a:avLst/>
          </a:prstGeom>
          <a:noFill/>
        </p:spPr>
        <p:txBody>
          <a:bodyPr wrap="square" rtlCol="0">
            <a:spAutoFit/>
          </a:bodyPr>
          <a:lstStyle/>
          <a:p>
            <a:r>
              <a:rPr lang="en-US" dirty="0">
                <a:solidFill>
                  <a:srgbClr val="FF0000"/>
                </a:solidFill>
              </a:rPr>
              <a:t>Old equilibrium </a:t>
            </a:r>
          </a:p>
        </p:txBody>
      </p:sp>
      <p:cxnSp>
        <p:nvCxnSpPr>
          <p:cNvPr id="9" name="Straight Arrow Connector 8">
            <a:extLst>
              <a:ext uri="{FF2B5EF4-FFF2-40B4-BE49-F238E27FC236}">
                <a16:creationId xmlns:a16="http://schemas.microsoft.com/office/drawing/2014/main" id="{6518FEB5-02F7-630E-4321-6324F711CA1D}"/>
              </a:ext>
            </a:extLst>
          </p:cNvPr>
          <p:cNvCxnSpPr>
            <a:cxnSpLocks/>
          </p:cNvCxnSpPr>
          <p:nvPr/>
        </p:nvCxnSpPr>
        <p:spPr>
          <a:xfrm flipH="1">
            <a:off x="6619176" y="2608498"/>
            <a:ext cx="1191324" cy="789784"/>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D80FC7E-37C8-835D-C5B3-45A0A3D31CDE}"/>
              </a:ext>
            </a:extLst>
          </p:cNvPr>
          <p:cNvSpPr txBox="1"/>
          <p:nvPr/>
        </p:nvSpPr>
        <p:spPr>
          <a:xfrm>
            <a:off x="7688819" y="2074386"/>
            <a:ext cx="2830711" cy="369332"/>
          </a:xfrm>
          <a:prstGeom prst="rect">
            <a:avLst/>
          </a:prstGeom>
          <a:noFill/>
        </p:spPr>
        <p:txBody>
          <a:bodyPr wrap="square" rtlCol="0">
            <a:spAutoFit/>
          </a:bodyPr>
          <a:lstStyle/>
          <a:p>
            <a:r>
              <a:rPr lang="en-US" dirty="0">
                <a:solidFill>
                  <a:srgbClr val="FF0000"/>
                </a:solidFill>
              </a:rPr>
              <a:t>New equilibrium </a:t>
            </a:r>
          </a:p>
        </p:txBody>
      </p:sp>
    </p:spTree>
    <p:extLst>
      <p:ext uri="{BB962C8B-B14F-4D97-AF65-F5344CB8AC3E}">
        <p14:creationId xmlns:p14="http://schemas.microsoft.com/office/powerpoint/2010/main" val="19493344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FA4B4-5936-6408-15F3-5C7852FE6BB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BCFF4D4-445F-CFDD-6A65-51D2F5F5F84E}"/>
              </a:ext>
            </a:extLst>
          </p:cNvPr>
          <p:cNvPicPr>
            <a:picLocks noChangeAspect="1"/>
          </p:cNvPicPr>
          <p:nvPr/>
        </p:nvPicPr>
        <p:blipFill>
          <a:blip r:embed="rId3"/>
          <a:stretch>
            <a:fillRect/>
          </a:stretch>
        </p:blipFill>
        <p:spPr>
          <a:xfrm>
            <a:off x="2462465" y="2493473"/>
            <a:ext cx="6662421" cy="3656673"/>
          </a:xfrm>
          <a:prstGeom prst="rect">
            <a:avLst/>
          </a:prstGeom>
        </p:spPr>
      </p:pic>
      <p:sp>
        <p:nvSpPr>
          <p:cNvPr id="2" name="Title 1">
            <a:extLst>
              <a:ext uri="{FF2B5EF4-FFF2-40B4-BE49-F238E27FC236}">
                <a16:creationId xmlns:a16="http://schemas.microsoft.com/office/drawing/2014/main" id="{50B55569-A061-2ED5-5656-0F2B5EAC2BCC}"/>
              </a:ext>
            </a:extLst>
          </p:cNvPr>
          <p:cNvSpPr>
            <a:spLocks noGrp="1"/>
          </p:cNvSpPr>
          <p:nvPr>
            <p:ph type="title"/>
          </p:nvPr>
        </p:nvSpPr>
        <p:spPr/>
        <p:txBody>
          <a:bodyPr/>
          <a:lstStyle/>
          <a:p>
            <a:r>
              <a:rPr lang="en-US" dirty="0"/>
              <a:t>Comparative Statics – El Niño example </a:t>
            </a:r>
          </a:p>
        </p:txBody>
      </p:sp>
      <p:cxnSp>
        <p:nvCxnSpPr>
          <p:cNvPr id="6" name="Straight Arrow Connector 5">
            <a:extLst>
              <a:ext uri="{FF2B5EF4-FFF2-40B4-BE49-F238E27FC236}">
                <a16:creationId xmlns:a16="http://schemas.microsoft.com/office/drawing/2014/main" id="{5FA00CF0-66EE-FFDB-C94E-44B3D0C088DE}"/>
              </a:ext>
            </a:extLst>
          </p:cNvPr>
          <p:cNvCxnSpPr>
            <a:cxnSpLocks/>
          </p:cNvCxnSpPr>
          <p:nvPr/>
        </p:nvCxnSpPr>
        <p:spPr>
          <a:xfrm>
            <a:off x="4323111" y="2322029"/>
            <a:ext cx="664265" cy="1147141"/>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802BF02-1824-1C23-9653-B6BCE48822C6}"/>
              </a:ext>
            </a:extLst>
          </p:cNvPr>
          <p:cNvSpPr txBox="1"/>
          <p:nvPr/>
        </p:nvSpPr>
        <p:spPr>
          <a:xfrm>
            <a:off x="7153826" y="2995345"/>
            <a:ext cx="2830711" cy="369332"/>
          </a:xfrm>
          <a:prstGeom prst="rect">
            <a:avLst/>
          </a:prstGeom>
          <a:noFill/>
        </p:spPr>
        <p:txBody>
          <a:bodyPr wrap="square" rtlCol="0">
            <a:spAutoFit/>
          </a:bodyPr>
          <a:lstStyle/>
          <a:p>
            <a:r>
              <a:rPr lang="en-US" dirty="0">
                <a:solidFill>
                  <a:srgbClr val="FF0000"/>
                </a:solidFill>
              </a:rPr>
              <a:t>Old equilibrium </a:t>
            </a:r>
          </a:p>
        </p:txBody>
      </p:sp>
      <p:cxnSp>
        <p:nvCxnSpPr>
          <p:cNvPr id="9" name="Straight Arrow Connector 8">
            <a:extLst>
              <a:ext uri="{FF2B5EF4-FFF2-40B4-BE49-F238E27FC236}">
                <a16:creationId xmlns:a16="http://schemas.microsoft.com/office/drawing/2014/main" id="{4E5E57D8-C1A3-3090-DB4A-72720DC8568A}"/>
              </a:ext>
            </a:extLst>
          </p:cNvPr>
          <p:cNvCxnSpPr>
            <a:cxnSpLocks/>
          </p:cNvCxnSpPr>
          <p:nvPr/>
        </p:nvCxnSpPr>
        <p:spPr>
          <a:xfrm flipH="1">
            <a:off x="6070600" y="3453054"/>
            <a:ext cx="1191324" cy="789784"/>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97749D2-32D2-194E-D2E4-FE75E294E5DD}"/>
              </a:ext>
            </a:extLst>
          </p:cNvPr>
          <p:cNvSpPr txBox="1"/>
          <p:nvPr/>
        </p:nvSpPr>
        <p:spPr>
          <a:xfrm>
            <a:off x="3572020" y="1943778"/>
            <a:ext cx="2830711" cy="369332"/>
          </a:xfrm>
          <a:prstGeom prst="rect">
            <a:avLst/>
          </a:prstGeom>
          <a:noFill/>
        </p:spPr>
        <p:txBody>
          <a:bodyPr wrap="square" rtlCol="0">
            <a:spAutoFit/>
          </a:bodyPr>
          <a:lstStyle/>
          <a:p>
            <a:r>
              <a:rPr lang="en-US" dirty="0">
                <a:solidFill>
                  <a:srgbClr val="FF0000"/>
                </a:solidFill>
              </a:rPr>
              <a:t>New equilibrium </a:t>
            </a:r>
          </a:p>
        </p:txBody>
      </p:sp>
    </p:spTree>
    <p:extLst>
      <p:ext uri="{BB962C8B-B14F-4D97-AF65-F5344CB8AC3E}">
        <p14:creationId xmlns:p14="http://schemas.microsoft.com/office/powerpoint/2010/main" val="32101514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07E2-B845-7D73-6118-E4557230546A}"/>
              </a:ext>
            </a:extLst>
          </p:cNvPr>
          <p:cNvSpPr>
            <a:spLocks noGrp="1"/>
          </p:cNvSpPr>
          <p:nvPr>
            <p:ph type="title"/>
          </p:nvPr>
        </p:nvSpPr>
        <p:spPr/>
        <p:txBody>
          <a:bodyPr/>
          <a:lstStyle/>
          <a:p>
            <a:r>
              <a:rPr lang="en-US" dirty="0"/>
              <a:t>Price conveys information </a:t>
            </a:r>
          </a:p>
        </p:txBody>
      </p:sp>
      <p:sp>
        <p:nvSpPr>
          <p:cNvPr id="3" name="Content Placeholder 2">
            <a:extLst>
              <a:ext uri="{FF2B5EF4-FFF2-40B4-BE49-F238E27FC236}">
                <a16:creationId xmlns:a16="http://schemas.microsoft.com/office/drawing/2014/main" id="{3ECC622C-B4C4-48A9-B4FA-F3ABCEB719EB}"/>
              </a:ext>
            </a:extLst>
          </p:cNvPr>
          <p:cNvSpPr>
            <a:spLocks noGrp="1"/>
          </p:cNvSpPr>
          <p:nvPr>
            <p:ph idx="1"/>
          </p:nvPr>
        </p:nvSpPr>
        <p:spPr>
          <a:xfrm>
            <a:off x="838200" y="1930399"/>
            <a:ext cx="10515600" cy="4056063"/>
          </a:xfrm>
        </p:spPr>
        <p:txBody>
          <a:bodyPr/>
          <a:lstStyle/>
          <a:p>
            <a:r>
              <a:rPr lang="en-US" dirty="0"/>
              <a:t>So far, we assume everyone is a </a:t>
            </a:r>
            <a:r>
              <a:rPr lang="en-US" b="1" dirty="0"/>
              <a:t>price taker </a:t>
            </a:r>
          </a:p>
          <a:p>
            <a:endParaRPr lang="en-US" b="1" dirty="0"/>
          </a:p>
          <a:p>
            <a:endParaRPr lang="en-US" b="1" dirty="0"/>
          </a:p>
          <a:p>
            <a:r>
              <a:rPr lang="en-US" dirty="0"/>
              <a:t>Why price goes up may not always be clear </a:t>
            </a:r>
          </a:p>
          <a:p>
            <a:r>
              <a:rPr lang="en-US" dirty="0"/>
              <a:t>But the fact that price went up </a:t>
            </a:r>
            <a:r>
              <a:rPr lang="en-US" dirty="0">
                <a:sym typeface="Wingdings" panose="05000000000000000000" pitchFamily="2" charset="2"/>
              </a:rPr>
              <a:t> something changed </a:t>
            </a:r>
            <a:endParaRPr lang="en-US" b="1" dirty="0">
              <a:sym typeface="Wingdings" panose="05000000000000000000" pitchFamily="2" charset="2"/>
            </a:endParaRPr>
          </a:p>
          <a:p>
            <a:endParaRPr lang="en-US" dirty="0">
              <a:sym typeface="Wingdings" panose="05000000000000000000" pitchFamily="2" charset="2"/>
            </a:endParaRPr>
          </a:p>
          <a:p>
            <a:pPr marL="0" indent="0">
              <a:buNone/>
            </a:pPr>
            <a:endParaRPr lang="en-US" dirty="0">
              <a:sym typeface="Wingdings" panose="05000000000000000000" pitchFamily="2" charset="2"/>
            </a:endParaRPr>
          </a:p>
        </p:txBody>
      </p:sp>
    </p:spTree>
    <p:extLst>
      <p:ext uri="{BB962C8B-B14F-4D97-AF65-F5344CB8AC3E}">
        <p14:creationId xmlns:p14="http://schemas.microsoft.com/office/powerpoint/2010/main" val="10974138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DA8C5-FB4C-D682-84EB-59C7B66BEA87}"/>
              </a:ext>
            </a:extLst>
          </p:cNvPr>
          <p:cNvSpPr>
            <a:spLocks noGrp="1"/>
          </p:cNvSpPr>
          <p:nvPr>
            <p:ph type="title"/>
          </p:nvPr>
        </p:nvSpPr>
        <p:spPr>
          <a:xfrm>
            <a:off x="838200" y="365125"/>
            <a:ext cx="10515600" cy="904875"/>
          </a:xfrm>
        </p:spPr>
        <p:txBody>
          <a:bodyPr/>
          <a:lstStyle/>
          <a:p>
            <a:r>
              <a:rPr lang="en-US" dirty="0"/>
              <a:t>Market Structures</a:t>
            </a:r>
          </a:p>
        </p:txBody>
      </p:sp>
      <p:pic>
        <p:nvPicPr>
          <p:cNvPr id="5" name="Picture 4">
            <a:extLst>
              <a:ext uri="{FF2B5EF4-FFF2-40B4-BE49-F238E27FC236}">
                <a16:creationId xmlns:a16="http://schemas.microsoft.com/office/drawing/2014/main" id="{0A59FA58-BDCC-CBEE-4452-649B3FEEB0E1}"/>
              </a:ext>
            </a:extLst>
          </p:cNvPr>
          <p:cNvPicPr>
            <a:picLocks noChangeAspect="1"/>
          </p:cNvPicPr>
          <p:nvPr/>
        </p:nvPicPr>
        <p:blipFill>
          <a:blip r:embed="rId3"/>
          <a:stretch>
            <a:fillRect/>
          </a:stretch>
        </p:blipFill>
        <p:spPr>
          <a:xfrm>
            <a:off x="1543748" y="1690688"/>
            <a:ext cx="8717852" cy="4530537"/>
          </a:xfrm>
          <a:prstGeom prst="rect">
            <a:avLst/>
          </a:prstGeom>
        </p:spPr>
      </p:pic>
      <p:sp>
        <p:nvSpPr>
          <p:cNvPr id="6" name="Rectangle 5">
            <a:extLst>
              <a:ext uri="{FF2B5EF4-FFF2-40B4-BE49-F238E27FC236}">
                <a16:creationId xmlns:a16="http://schemas.microsoft.com/office/drawing/2014/main" id="{867F14D6-F95D-23E7-450D-08C197F0B909}"/>
              </a:ext>
            </a:extLst>
          </p:cNvPr>
          <p:cNvSpPr/>
          <p:nvPr/>
        </p:nvSpPr>
        <p:spPr>
          <a:xfrm>
            <a:off x="3619500" y="2197100"/>
            <a:ext cx="1498600" cy="3860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24383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42C8E-9A09-1437-1796-EB634095AA60}"/>
              </a:ext>
            </a:extLst>
          </p:cNvPr>
          <p:cNvSpPr>
            <a:spLocks noGrp="1"/>
          </p:cNvSpPr>
          <p:nvPr>
            <p:ph type="title"/>
          </p:nvPr>
        </p:nvSpPr>
        <p:spPr/>
        <p:txBody>
          <a:bodyPr/>
          <a:lstStyle/>
          <a:p>
            <a:r>
              <a:rPr lang="en-US" dirty="0"/>
              <a:t>Market Power </a:t>
            </a:r>
          </a:p>
        </p:txBody>
      </p:sp>
      <p:sp>
        <p:nvSpPr>
          <p:cNvPr id="3" name="Content Placeholder 2">
            <a:extLst>
              <a:ext uri="{FF2B5EF4-FFF2-40B4-BE49-F238E27FC236}">
                <a16:creationId xmlns:a16="http://schemas.microsoft.com/office/drawing/2014/main" id="{1B2B66F4-4C0F-A714-F617-5771EAB739AF}"/>
              </a:ext>
            </a:extLst>
          </p:cNvPr>
          <p:cNvSpPr>
            <a:spLocks noGrp="1"/>
          </p:cNvSpPr>
          <p:nvPr>
            <p:ph idx="1"/>
          </p:nvPr>
        </p:nvSpPr>
        <p:spPr>
          <a:xfrm>
            <a:off x="838200" y="3314699"/>
            <a:ext cx="10515600" cy="1325563"/>
          </a:xfrm>
          <a:solidFill>
            <a:schemeClr val="accent1">
              <a:lumMod val="20000"/>
              <a:lumOff val="80000"/>
            </a:schemeClr>
          </a:solidFill>
        </p:spPr>
        <p:txBody>
          <a:bodyPr/>
          <a:lstStyle/>
          <a:p>
            <a:pPr marL="0" indent="0">
              <a:buNone/>
            </a:pPr>
            <a:r>
              <a:rPr lang="en-US" dirty="0"/>
              <a:t>Market Power: The ability of a seller/supplier to influence price, rather than just accept market prices. </a:t>
            </a:r>
          </a:p>
          <a:p>
            <a:pPr lvl="1"/>
            <a:r>
              <a:rPr lang="en-US" dirty="0"/>
              <a:t>Ability of a firm to restrict output and restrict output to raise prices </a:t>
            </a:r>
          </a:p>
        </p:txBody>
      </p:sp>
      <p:sp>
        <p:nvSpPr>
          <p:cNvPr id="4" name="TextBox 3">
            <a:extLst>
              <a:ext uri="{FF2B5EF4-FFF2-40B4-BE49-F238E27FC236}">
                <a16:creationId xmlns:a16="http://schemas.microsoft.com/office/drawing/2014/main" id="{4A449394-819C-ECD4-7FD0-A2EFA538BA6F}"/>
              </a:ext>
            </a:extLst>
          </p:cNvPr>
          <p:cNvSpPr txBox="1"/>
          <p:nvPr/>
        </p:nvSpPr>
        <p:spPr>
          <a:xfrm>
            <a:off x="495300" y="2791479"/>
            <a:ext cx="1691489" cy="523220"/>
          </a:xfrm>
          <a:prstGeom prst="rect">
            <a:avLst/>
          </a:prstGeom>
          <a:solidFill>
            <a:schemeClr val="accent2">
              <a:lumMod val="20000"/>
              <a:lumOff val="80000"/>
            </a:schemeClr>
          </a:solidFill>
        </p:spPr>
        <p:txBody>
          <a:bodyPr wrap="none" rtlCol="0">
            <a:spAutoFit/>
          </a:bodyPr>
          <a:lstStyle/>
          <a:p>
            <a:r>
              <a:rPr lang="en-US" sz="2800" dirty="0"/>
              <a:t>Definition</a:t>
            </a:r>
          </a:p>
        </p:txBody>
      </p:sp>
    </p:spTree>
    <p:extLst>
      <p:ext uri="{BB962C8B-B14F-4D97-AF65-F5344CB8AC3E}">
        <p14:creationId xmlns:p14="http://schemas.microsoft.com/office/powerpoint/2010/main" val="29051977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91278-7673-66E1-84C7-DD483E35F1BF}"/>
              </a:ext>
            </a:extLst>
          </p:cNvPr>
          <p:cNvSpPr>
            <a:spLocks noGrp="1"/>
          </p:cNvSpPr>
          <p:nvPr>
            <p:ph type="title"/>
          </p:nvPr>
        </p:nvSpPr>
        <p:spPr>
          <a:xfrm>
            <a:off x="838200" y="365125"/>
            <a:ext cx="10515600" cy="1095375"/>
          </a:xfrm>
        </p:spPr>
        <p:txBody>
          <a:bodyPr/>
          <a:lstStyle/>
          <a:p>
            <a:r>
              <a:rPr lang="en-US" dirty="0"/>
              <a:t>Perfectly Competitive Market</a:t>
            </a:r>
          </a:p>
        </p:txBody>
      </p:sp>
      <p:sp>
        <p:nvSpPr>
          <p:cNvPr id="3" name="Content Placeholder 2">
            <a:extLst>
              <a:ext uri="{FF2B5EF4-FFF2-40B4-BE49-F238E27FC236}">
                <a16:creationId xmlns:a16="http://schemas.microsoft.com/office/drawing/2014/main" id="{C20E7ECE-D2DF-6239-7EDC-B11D7419FD81}"/>
              </a:ext>
            </a:extLst>
          </p:cNvPr>
          <p:cNvSpPr>
            <a:spLocks noGrp="1"/>
          </p:cNvSpPr>
          <p:nvPr>
            <p:ph idx="1"/>
          </p:nvPr>
        </p:nvSpPr>
        <p:spPr/>
        <p:txBody>
          <a:bodyPr>
            <a:normAutofit/>
          </a:bodyPr>
          <a:lstStyle/>
          <a:p>
            <a:r>
              <a:rPr lang="en-US" b="1" dirty="0"/>
              <a:t>Buyers and sellers</a:t>
            </a:r>
          </a:p>
          <a:p>
            <a:pPr marL="0" indent="0">
              <a:buNone/>
            </a:pPr>
            <a:r>
              <a:rPr lang="en-US" dirty="0"/>
              <a:t>Price takers – market sets the price/sellers face perfectly elastic demand curve</a:t>
            </a:r>
          </a:p>
          <a:p>
            <a:r>
              <a:rPr lang="en-US" b="1" dirty="0"/>
              <a:t>Buyers – maximize utility</a:t>
            </a:r>
          </a:p>
          <a:p>
            <a:pPr marL="0" indent="0">
              <a:buNone/>
            </a:pPr>
            <a:r>
              <a:rPr lang="en-US" dirty="0"/>
              <a:t>Buy up to the point where marginal private benefit, MPB – represented by their demand curve -- equals market price</a:t>
            </a:r>
          </a:p>
          <a:p>
            <a:r>
              <a:rPr lang="en-US" b="1" dirty="0"/>
              <a:t>Firms – maximize profit</a:t>
            </a:r>
          </a:p>
          <a:p>
            <a:pPr marL="0" indent="0">
              <a:buNone/>
            </a:pPr>
            <a:r>
              <a:rPr lang="en-US" dirty="0"/>
              <a:t>Produce and sell – up to the point where market price equals marginal private cost, MPC represented by their supply curve</a:t>
            </a:r>
          </a:p>
        </p:txBody>
      </p:sp>
    </p:spTree>
    <p:extLst>
      <p:ext uri="{BB962C8B-B14F-4D97-AF65-F5344CB8AC3E}">
        <p14:creationId xmlns:p14="http://schemas.microsoft.com/office/powerpoint/2010/main" val="2450060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84E27-4641-9F53-279E-2A2281F44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A537E-85EE-15C7-3AE0-194276D9A83A}"/>
              </a:ext>
            </a:extLst>
          </p:cNvPr>
          <p:cNvSpPr>
            <a:spLocks noGrp="1"/>
          </p:cNvSpPr>
          <p:nvPr>
            <p:ph type="title"/>
          </p:nvPr>
        </p:nvSpPr>
        <p:spPr>
          <a:xfrm>
            <a:off x="838200" y="365126"/>
            <a:ext cx="10515600" cy="1037292"/>
          </a:xfrm>
        </p:spPr>
        <p:txBody>
          <a:bodyPr>
            <a:normAutofit/>
          </a:bodyPr>
          <a:lstStyle/>
          <a:p>
            <a:r>
              <a:rPr lang="en-US" dirty="0"/>
              <a:t>Perfectly Competitive Market</a:t>
            </a:r>
          </a:p>
        </p:txBody>
      </p:sp>
      <p:sp>
        <p:nvSpPr>
          <p:cNvPr id="6" name="Content Placeholder 2">
            <a:extLst>
              <a:ext uri="{FF2B5EF4-FFF2-40B4-BE49-F238E27FC236}">
                <a16:creationId xmlns:a16="http://schemas.microsoft.com/office/drawing/2014/main" id="{82258070-0198-66B0-0439-AFCE7F9E9C39}"/>
              </a:ext>
            </a:extLst>
          </p:cNvPr>
          <p:cNvSpPr txBox="1">
            <a:spLocks/>
          </p:cNvSpPr>
          <p:nvPr/>
        </p:nvSpPr>
        <p:spPr>
          <a:xfrm>
            <a:off x="736600" y="2213908"/>
            <a:ext cx="10515600" cy="1037292"/>
          </a:xfrm>
          <a:prstGeom prst="rect">
            <a:avLst/>
          </a:prstGeom>
          <a:solidFill>
            <a:schemeClr val="accent1">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Private Cost: cost borne directly by the individual consumer or firm involved in the transaction. </a:t>
            </a:r>
          </a:p>
        </p:txBody>
      </p:sp>
      <p:sp>
        <p:nvSpPr>
          <p:cNvPr id="7" name="TextBox 6">
            <a:extLst>
              <a:ext uri="{FF2B5EF4-FFF2-40B4-BE49-F238E27FC236}">
                <a16:creationId xmlns:a16="http://schemas.microsoft.com/office/drawing/2014/main" id="{5E2C1C8E-761B-8BE7-88B4-22DD900AC461}"/>
              </a:ext>
            </a:extLst>
          </p:cNvPr>
          <p:cNvSpPr txBox="1"/>
          <p:nvPr/>
        </p:nvSpPr>
        <p:spPr>
          <a:xfrm>
            <a:off x="254000" y="1690688"/>
            <a:ext cx="1691489" cy="523220"/>
          </a:xfrm>
          <a:prstGeom prst="rect">
            <a:avLst/>
          </a:prstGeom>
          <a:solidFill>
            <a:schemeClr val="accent2">
              <a:lumMod val="20000"/>
              <a:lumOff val="80000"/>
            </a:schemeClr>
          </a:solidFill>
        </p:spPr>
        <p:txBody>
          <a:bodyPr wrap="none" rtlCol="0">
            <a:spAutoFit/>
          </a:bodyPr>
          <a:lstStyle/>
          <a:p>
            <a:r>
              <a:rPr lang="en-US" sz="2800" dirty="0"/>
              <a:t>Definition</a:t>
            </a:r>
          </a:p>
        </p:txBody>
      </p:sp>
      <p:sp>
        <p:nvSpPr>
          <p:cNvPr id="8" name="Content Placeholder 2">
            <a:extLst>
              <a:ext uri="{FF2B5EF4-FFF2-40B4-BE49-F238E27FC236}">
                <a16:creationId xmlns:a16="http://schemas.microsoft.com/office/drawing/2014/main" id="{69374EDC-4892-64EB-18E7-F293A815E2FB}"/>
              </a:ext>
            </a:extLst>
          </p:cNvPr>
          <p:cNvSpPr txBox="1">
            <a:spLocks/>
          </p:cNvSpPr>
          <p:nvPr/>
        </p:nvSpPr>
        <p:spPr>
          <a:xfrm>
            <a:off x="736600" y="4130020"/>
            <a:ext cx="10515600" cy="1037292"/>
          </a:xfrm>
          <a:prstGeom prst="rect">
            <a:avLst/>
          </a:prstGeom>
          <a:solidFill>
            <a:schemeClr val="accent1">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Social Cost: cost to all in society, including those who do not consume the good in question.</a:t>
            </a:r>
          </a:p>
          <a:p>
            <a:endParaRPr lang="en-US" dirty="0"/>
          </a:p>
        </p:txBody>
      </p:sp>
      <p:sp>
        <p:nvSpPr>
          <p:cNvPr id="9" name="TextBox 8">
            <a:extLst>
              <a:ext uri="{FF2B5EF4-FFF2-40B4-BE49-F238E27FC236}">
                <a16:creationId xmlns:a16="http://schemas.microsoft.com/office/drawing/2014/main" id="{A506F73F-1158-C9D0-5784-78A00437F28F}"/>
              </a:ext>
            </a:extLst>
          </p:cNvPr>
          <p:cNvSpPr txBox="1"/>
          <p:nvPr/>
        </p:nvSpPr>
        <p:spPr>
          <a:xfrm>
            <a:off x="254000" y="3606800"/>
            <a:ext cx="1691489" cy="523220"/>
          </a:xfrm>
          <a:prstGeom prst="rect">
            <a:avLst/>
          </a:prstGeom>
          <a:solidFill>
            <a:schemeClr val="accent2">
              <a:lumMod val="20000"/>
              <a:lumOff val="80000"/>
            </a:schemeClr>
          </a:solidFill>
        </p:spPr>
        <p:txBody>
          <a:bodyPr wrap="none" rtlCol="0">
            <a:spAutoFit/>
          </a:bodyPr>
          <a:lstStyle/>
          <a:p>
            <a:r>
              <a:rPr lang="en-US" sz="2800" dirty="0"/>
              <a:t>Definition</a:t>
            </a:r>
          </a:p>
        </p:txBody>
      </p:sp>
      <p:sp>
        <p:nvSpPr>
          <p:cNvPr id="13" name="TextBox 12">
            <a:extLst>
              <a:ext uri="{FF2B5EF4-FFF2-40B4-BE49-F238E27FC236}">
                <a16:creationId xmlns:a16="http://schemas.microsoft.com/office/drawing/2014/main" id="{BC8A9B37-DFE7-78F8-3B15-BE03BECABE49}"/>
              </a:ext>
            </a:extLst>
          </p:cNvPr>
          <p:cNvSpPr txBox="1"/>
          <p:nvPr/>
        </p:nvSpPr>
        <p:spPr>
          <a:xfrm>
            <a:off x="2082705" y="5505866"/>
            <a:ext cx="8026589" cy="369332"/>
          </a:xfrm>
          <a:prstGeom prst="rect">
            <a:avLst/>
          </a:prstGeom>
          <a:noFill/>
          <a:ln>
            <a:solidFill>
              <a:srgbClr val="C00000"/>
            </a:solidFill>
          </a:ln>
        </p:spPr>
        <p:txBody>
          <a:bodyPr wrap="square">
            <a:spAutoFit/>
          </a:bodyPr>
          <a:lstStyle/>
          <a:p>
            <a:pPr algn="ctr"/>
            <a:r>
              <a:rPr lang="en-US" b="1" dirty="0"/>
              <a:t>Social Cost = Private cost + External Cost</a:t>
            </a:r>
          </a:p>
        </p:txBody>
      </p:sp>
    </p:spTree>
    <p:extLst>
      <p:ext uri="{BB962C8B-B14F-4D97-AF65-F5344CB8AC3E}">
        <p14:creationId xmlns:p14="http://schemas.microsoft.com/office/powerpoint/2010/main" val="3886036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F459A-A425-4C3A-A8D2-63D85A69B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F9E64-FF1E-4013-0A78-6C5A517DCD21}"/>
              </a:ext>
            </a:extLst>
          </p:cNvPr>
          <p:cNvSpPr>
            <a:spLocks noGrp="1"/>
          </p:cNvSpPr>
          <p:nvPr>
            <p:ph type="title"/>
          </p:nvPr>
        </p:nvSpPr>
        <p:spPr>
          <a:xfrm>
            <a:off x="838200" y="365125"/>
            <a:ext cx="10515600" cy="1095375"/>
          </a:xfrm>
        </p:spPr>
        <p:txBody>
          <a:bodyPr/>
          <a:lstStyle/>
          <a:p>
            <a:r>
              <a:rPr lang="en-US" dirty="0"/>
              <a:t>Perfectly Competitive Market</a:t>
            </a:r>
          </a:p>
        </p:txBody>
      </p:sp>
      <p:sp>
        <p:nvSpPr>
          <p:cNvPr id="3" name="Content Placeholder 2">
            <a:extLst>
              <a:ext uri="{FF2B5EF4-FFF2-40B4-BE49-F238E27FC236}">
                <a16:creationId xmlns:a16="http://schemas.microsoft.com/office/drawing/2014/main" id="{27981D7C-7229-634C-0A01-9ABBD2796E47}"/>
              </a:ext>
            </a:extLst>
          </p:cNvPr>
          <p:cNvSpPr>
            <a:spLocks noGrp="1"/>
          </p:cNvSpPr>
          <p:nvPr>
            <p:ph idx="1"/>
          </p:nvPr>
        </p:nvSpPr>
        <p:spPr/>
        <p:txBody>
          <a:bodyPr>
            <a:normAutofit/>
          </a:bodyPr>
          <a:lstStyle/>
          <a:p>
            <a:r>
              <a:rPr lang="en-US" dirty="0"/>
              <a:t>Perfectly competitive market clears at the level of output where marginal private benefit to buyers equal the marginal private costs to producers</a:t>
            </a:r>
          </a:p>
          <a:p>
            <a:endParaRPr lang="en-US" dirty="0"/>
          </a:p>
          <a:p>
            <a:endParaRPr lang="en-US" dirty="0"/>
          </a:p>
          <a:p>
            <a:endParaRPr lang="en-US" dirty="0"/>
          </a:p>
          <a:p>
            <a:r>
              <a:rPr lang="en-US" dirty="0"/>
              <a:t>Equilibrium is where the demand curve intersects with the supply curve </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D063982-6517-3C6E-802C-26AC02335747}"/>
                  </a:ext>
                </a:extLst>
              </p:cNvPr>
              <p:cNvSpPr txBox="1"/>
              <p:nvPr/>
            </p:nvSpPr>
            <p:spPr>
              <a:xfrm>
                <a:off x="2565400" y="3429000"/>
                <a:ext cx="65786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1" i="1" smtClean="0">
                          <a:solidFill>
                            <a:schemeClr val="tx2"/>
                          </a:solidFill>
                          <a:latin typeface="Cambria Math" panose="02040503050406030204" pitchFamily="18" charset="0"/>
                        </a:rPr>
                        <m:t>𝑴𝑷𝑩</m:t>
                      </m:r>
                      <m:r>
                        <a:rPr lang="en-US" sz="4000" b="0" i="0">
                          <a:solidFill>
                            <a:schemeClr val="tx2"/>
                          </a:solidFill>
                          <a:latin typeface="Cambria Math" panose="02040503050406030204" pitchFamily="18" charset="0"/>
                        </a:rPr>
                        <m:t>=</m:t>
                      </m:r>
                      <m:r>
                        <a:rPr lang="en-US" sz="4000" b="1" i="1">
                          <a:solidFill>
                            <a:schemeClr val="tx2"/>
                          </a:solidFill>
                          <a:latin typeface="Cambria Math" panose="02040503050406030204" pitchFamily="18" charset="0"/>
                        </a:rPr>
                        <m:t>𝑴𝑷𝑪</m:t>
                      </m:r>
                      <m:r>
                        <a:rPr lang="en-US" sz="4000" b="0" i="0">
                          <a:solidFill>
                            <a:schemeClr val="tx2"/>
                          </a:solidFill>
                          <a:latin typeface="Cambria Math" panose="02040503050406030204" pitchFamily="18" charset="0"/>
                        </a:rPr>
                        <m:t> </m:t>
                      </m:r>
                    </m:oMath>
                  </m:oMathPara>
                </a14:m>
                <a:endParaRPr lang="en-US" sz="4000" dirty="0">
                  <a:solidFill>
                    <a:schemeClr val="tx2"/>
                  </a:solidFill>
                </a:endParaRPr>
              </a:p>
            </p:txBody>
          </p:sp>
        </mc:Choice>
        <mc:Fallback>
          <p:sp>
            <p:nvSpPr>
              <p:cNvPr id="5" name="TextBox 4">
                <a:extLst>
                  <a:ext uri="{FF2B5EF4-FFF2-40B4-BE49-F238E27FC236}">
                    <a16:creationId xmlns:a16="http://schemas.microsoft.com/office/drawing/2014/main" id="{CD063982-6517-3C6E-802C-26AC02335747}"/>
                  </a:ext>
                </a:extLst>
              </p:cNvPr>
              <p:cNvSpPr txBox="1">
                <a:spLocks noRot="1" noChangeAspect="1" noMove="1" noResize="1" noEditPoints="1" noAdjustHandles="1" noChangeArrowheads="1" noChangeShapeType="1" noTextEdit="1"/>
              </p:cNvSpPr>
              <p:nvPr/>
            </p:nvSpPr>
            <p:spPr>
              <a:xfrm>
                <a:off x="2565400" y="3429000"/>
                <a:ext cx="6578600" cy="707886"/>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320036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5A897-A59C-CC1E-1919-940F88EEE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BF887-0433-77E1-ED58-FF2F68AEFAE2}"/>
              </a:ext>
            </a:extLst>
          </p:cNvPr>
          <p:cNvSpPr>
            <a:spLocks noGrp="1"/>
          </p:cNvSpPr>
          <p:nvPr>
            <p:ph type="title"/>
          </p:nvPr>
        </p:nvSpPr>
        <p:spPr>
          <a:xfrm>
            <a:off x="838200" y="365125"/>
            <a:ext cx="10515600" cy="1095375"/>
          </a:xfrm>
        </p:spPr>
        <p:txBody>
          <a:bodyPr/>
          <a:lstStyle/>
          <a:p>
            <a:r>
              <a:rPr lang="en-US" dirty="0"/>
              <a:t>Perfectly Competitive Market</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2C10DB1-1757-A678-C509-7CFF95D6A890}"/>
                  </a:ext>
                </a:extLst>
              </p:cNvPr>
              <p:cNvSpPr txBox="1"/>
              <p:nvPr/>
            </p:nvSpPr>
            <p:spPr>
              <a:xfrm>
                <a:off x="2489200" y="1930400"/>
                <a:ext cx="65786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1" i="1" smtClean="0">
                          <a:solidFill>
                            <a:schemeClr val="tx2"/>
                          </a:solidFill>
                          <a:latin typeface="Cambria Math" panose="02040503050406030204" pitchFamily="18" charset="0"/>
                        </a:rPr>
                        <m:t>𝑴𝑷𝑩</m:t>
                      </m:r>
                      <m:r>
                        <a:rPr lang="en-US" sz="4000" b="0" i="0">
                          <a:solidFill>
                            <a:schemeClr val="tx2"/>
                          </a:solidFill>
                          <a:latin typeface="Cambria Math" panose="02040503050406030204" pitchFamily="18" charset="0"/>
                        </a:rPr>
                        <m:t>=</m:t>
                      </m:r>
                      <m:r>
                        <a:rPr lang="en-US" sz="4000" b="1" i="1">
                          <a:solidFill>
                            <a:schemeClr val="tx2"/>
                          </a:solidFill>
                          <a:latin typeface="Cambria Math" panose="02040503050406030204" pitchFamily="18" charset="0"/>
                        </a:rPr>
                        <m:t>𝑴𝑷𝑪</m:t>
                      </m:r>
                      <m:r>
                        <a:rPr lang="en-US" sz="4000" b="0" i="0">
                          <a:solidFill>
                            <a:schemeClr val="tx2"/>
                          </a:solidFill>
                          <a:latin typeface="Cambria Math" panose="02040503050406030204" pitchFamily="18" charset="0"/>
                        </a:rPr>
                        <m:t> </m:t>
                      </m:r>
                    </m:oMath>
                  </m:oMathPara>
                </a14:m>
                <a:endParaRPr lang="en-US" sz="4000" dirty="0">
                  <a:solidFill>
                    <a:schemeClr val="tx2"/>
                  </a:solidFill>
                </a:endParaRPr>
              </a:p>
            </p:txBody>
          </p:sp>
        </mc:Choice>
        <mc:Fallback>
          <p:sp>
            <p:nvSpPr>
              <p:cNvPr id="5" name="TextBox 4">
                <a:extLst>
                  <a:ext uri="{FF2B5EF4-FFF2-40B4-BE49-F238E27FC236}">
                    <a16:creationId xmlns:a16="http://schemas.microsoft.com/office/drawing/2014/main" id="{12C10DB1-1757-A678-C509-7CFF95D6A890}"/>
                  </a:ext>
                </a:extLst>
              </p:cNvPr>
              <p:cNvSpPr txBox="1">
                <a:spLocks noRot="1" noChangeAspect="1" noMove="1" noResize="1" noEditPoints="1" noAdjustHandles="1" noChangeArrowheads="1" noChangeShapeType="1" noTextEdit="1"/>
              </p:cNvSpPr>
              <p:nvPr/>
            </p:nvSpPr>
            <p:spPr>
              <a:xfrm>
                <a:off x="2489200" y="1930400"/>
                <a:ext cx="6578600" cy="707886"/>
              </a:xfrm>
              <a:prstGeom prst="rect">
                <a:avLst/>
              </a:prstGeom>
              <a:blipFill>
                <a:blip r:embed="rId2"/>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E4C5D92C-53BE-F168-E2B7-46694D98F2E9}"/>
              </a:ext>
            </a:extLst>
          </p:cNvPr>
          <p:cNvPicPr>
            <a:picLocks noChangeAspect="1"/>
          </p:cNvPicPr>
          <p:nvPr/>
        </p:nvPicPr>
        <p:blipFill>
          <a:blip r:embed="rId3"/>
          <a:stretch>
            <a:fillRect/>
          </a:stretch>
        </p:blipFill>
        <p:spPr>
          <a:xfrm>
            <a:off x="3473064" y="2836651"/>
            <a:ext cx="4121536" cy="3012985"/>
          </a:xfrm>
          <a:prstGeom prst="rect">
            <a:avLst/>
          </a:prstGeom>
        </p:spPr>
      </p:pic>
    </p:spTree>
    <p:extLst>
      <p:ext uri="{BB962C8B-B14F-4D97-AF65-F5344CB8AC3E}">
        <p14:creationId xmlns:p14="http://schemas.microsoft.com/office/powerpoint/2010/main" val="32967642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1C330-845D-6888-5D17-974631480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B70CE-9A3D-F4F8-6274-AF0E9E303EBD}"/>
              </a:ext>
            </a:extLst>
          </p:cNvPr>
          <p:cNvSpPr>
            <a:spLocks noGrp="1"/>
          </p:cNvSpPr>
          <p:nvPr>
            <p:ph type="title"/>
          </p:nvPr>
        </p:nvSpPr>
        <p:spPr>
          <a:xfrm>
            <a:off x="838200" y="365125"/>
            <a:ext cx="10515600" cy="1095375"/>
          </a:xfrm>
        </p:spPr>
        <p:txBody>
          <a:bodyPr/>
          <a:lstStyle/>
          <a:p>
            <a:r>
              <a:rPr lang="en-US" dirty="0"/>
              <a:t>Perfectly Competitive Market</a:t>
            </a:r>
          </a:p>
        </p:txBody>
      </p:sp>
      <p:grpSp>
        <p:nvGrpSpPr>
          <p:cNvPr id="8" name="Group 7">
            <a:extLst>
              <a:ext uri="{FF2B5EF4-FFF2-40B4-BE49-F238E27FC236}">
                <a16:creationId xmlns:a16="http://schemas.microsoft.com/office/drawing/2014/main" id="{8F7B0143-3C41-4321-FFAF-663C4D1CAE0D}"/>
              </a:ext>
            </a:extLst>
          </p:cNvPr>
          <p:cNvGrpSpPr/>
          <p:nvPr/>
        </p:nvGrpSpPr>
        <p:grpSpPr>
          <a:xfrm>
            <a:off x="5308600" y="2178917"/>
            <a:ext cx="8659199" cy="3483788"/>
            <a:chOff x="838200" y="2128117"/>
            <a:chExt cx="8659199" cy="3483788"/>
          </a:xfrm>
        </p:grpSpPr>
        <p:pic>
          <p:nvPicPr>
            <p:cNvPr id="4" name="Picture 3">
              <a:extLst>
                <a:ext uri="{FF2B5EF4-FFF2-40B4-BE49-F238E27FC236}">
                  <a16:creationId xmlns:a16="http://schemas.microsoft.com/office/drawing/2014/main" id="{51F97195-B244-81F0-478C-F78E3E213B02}"/>
                </a:ext>
              </a:extLst>
            </p:cNvPr>
            <p:cNvPicPr>
              <a:picLocks noChangeAspect="1"/>
            </p:cNvPicPr>
            <p:nvPr/>
          </p:nvPicPr>
          <p:blipFill>
            <a:blip r:embed="rId2"/>
            <a:srcRect t="6617"/>
            <a:stretch>
              <a:fillRect/>
            </a:stretch>
          </p:blipFill>
          <p:spPr>
            <a:xfrm>
              <a:off x="838200" y="2128117"/>
              <a:ext cx="8659199" cy="3483788"/>
            </a:xfrm>
            <a:prstGeom prst="rect">
              <a:avLst/>
            </a:prstGeom>
          </p:spPr>
        </p:pic>
        <p:sp>
          <p:nvSpPr>
            <p:cNvPr id="7" name="Rectangle 6">
              <a:extLst>
                <a:ext uri="{FF2B5EF4-FFF2-40B4-BE49-F238E27FC236}">
                  <a16:creationId xmlns:a16="http://schemas.microsoft.com/office/drawing/2014/main" id="{5AAAA200-2A18-723C-22C6-59564B8E8F57}"/>
                </a:ext>
              </a:extLst>
            </p:cNvPr>
            <p:cNvSpPr/>
            <p:nvPr/>
          </p:nvSpPr>
          <p:spPr>
            <a:xfrm>
              <a:off x="5702300" y="2273300"/>
              <a:ext cx="3695700" cy="2882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Straight Arrow Connector 9">
            <a:extLst>
              <a:ext uri="{FF2B5EF4-FFF2-40B4-BE49-F238E27FC236}">
                <a16:creationId xmlns:a16="http://schemas.microsoft.com/office/drawing/2014/main" id="{F136DEF8-E195-E7AA-F91C-0C8A71C519B2}"/>
              </a:ext>
            </a:extLst>
          </p:cNvPr>
          <p:cNvCxnSpPr/>
          <p:nvPr/>
        </p:nvCxnSpPr>
        <p:spPr>
          <a:xfrm flipH="1" flipV="1">
            <a:off x="3289300" y="2997200"/>
            <a:ext cx="3073400" cy="431800"/>
          </a:xfrm>
          <a:prstGeom prst="straightConnector1">
            <a:avLst/>
          </a:prstGeom>
          <a:ln w="3810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ED55427-0931-61CA-3503-C0A3F5E8953E}"/>
              </a:ext>
            </a:extLst>
          </p:cNvPr>
          <p:cNvCxnSpPr>
            <a:cxnSpLocks/>
          </p:cNvCxnSpPr>
          <p:nvPr/>
        </p:nvCxnSpPr>
        <p:spPr>
          <a:xfrm flipH="1">
            <a:off x="3771900" y="4291852"/>
            <a:ext cx="2959100" cy="470648"/>
          </a:xfrm>
          <a:prstGeom prst="straightConnector1">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55D463D-6001-732E-2DE3-5752C7C03A6B}"/>
              </a:ext>
            </a:extLst>
          </p:cNvPr>
          <p:cNvSpPr txBox="1"/>
          <p:nvPr/>
        </p:nvSpPr>
        <p:spPr>
          <a:xfrm>
            <a:off x="1357847" y="2416093"/>
            <a:ext cx="2045753" cy="369332"/>
          </a:xfrm>
          <a:prstGeom prst="rect">
            <a:avLst/>
          </a:prstGeom>
          <a:noFill/>
        </p:spPr>
        <p:txBody>
          <a:bodyPr wrap="none" rtlCol="0">
            <a:spAutoFit/>
          </a:bodyPr>
          <a:lstStyle/>
          <a:p>
            <a:r>
              <a:rPr lang="en-US" dirty="0"/>
              <a:t>Consumer Surplus</a:t>
            </a:r>
          </a:p>
        </p:txBody>
      </p:sp>
      <p:sp>
        <p:nvSpPr>
          <p:cNvPr id="14" name="TextBox 13">
            <a:extLst>
              <a:ext uri="{FF2B5EF4-FFF2-40B4-BE49-F238E27FC236}">
                <a16:creationId xmlns:a16="http://schemas.microsoft.com/office/drawing/2014/main" id="{9893B62A-8BFB-70D2-4990-4CE66CF2FE7B}"/>
              </a:ext>
            </a:extLst>
          </p:cNvPr>
          <p:cNvSpPr txBox="1"/>
          <p:nvPr/>
        </p:nvSpPr>
        <p:spPr>
          <a:xfrm>
            <a:off x="1541997" y="4590676"/>
            <a:ext cx="1812099" cy="369332"/>
          </a:xfrm>
          <a:prstGeom prst="rect">
            <a:avLst/>
          </a:prstGeom>
          <a:noFill/>
        </p:spPr>
        <p:txBody>
          <a:bodyPr wrap="none" rtlCol="0">
            <a:spAutoFit/>
          </a:bodyPr>
          <a:lstStyle/>
          <a:p>
            <a:r>
              <a:rPr lang="en-US" dirty="0"/>
              <a:t>Provider Surplus</a:t>
            </a:r>
          </a:p>
        </p:txBody>
      </p:sp>
    </p:spTree>
    <p:extLst>
      <p:ext uri="{BB962C8B-B14F-4D97-AF65-F5344CB8AC3E}">
        <p14:creationId xmlns:p14="http://schemas.microsoft.com/office/powerpoint/2010/main" val="27314679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334BD-DE03-1BB5-A854-C6399D24FA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1026F-4615-ED7D-398B-CFB5E7CA1BF1}"/>
              </a:ext>
            </a:extLst>
          </p:cNvPr>
          <p:cNvSpPr>
            <a:spLocks noGrp="1"/>
          </p:cNvSpPr>
          <p:nvPr>
            <p:ph type="title"/>
          </p:nvPr>
        </p:nvSpPr>
        <p:spPr>
          <a:xfrm>
            <a:off x="838200" y="365126"/>
            <a:ext cx="10515600" cy="1037292"/>
          </a:xfrm>
        </p:spPr>
        <p:txBody>
          <a:bodyPr>
            <a:normAutofit fontScale="90000"/>
          </a:bodyPr>
          <a:lstStyle/>
          <a:p>
            <a:r>
              <a:rPr lang="en-US" dirty="0"/>
              <a:t>Who benefits in a perfectly competitive market?</a:t>
            </a:r>
          </a:p>
        </p:txBody>
      </p:sp>
      <p:sp>
        <p:nvSpPr>
          <p:cNvPr id="6" name="Content Placeholder 2">
            <a:extLst>
              <a:ext uri="{FF2B5EF4-FFF2-40B4-BE49-F238E27FC236}">
                <a16:creationId xmlns:a16="http://schemas.microsoft.com/office/drawing/2014/main" id="{CD021F8C-518E-6ED3-0D70-4B25560575A2}"/>
              </a:ext>
            </a:extLst>
          </p:cNvPr>
          <p:cNvSpPr txBox="1">
            <a:spLocks/>
          </p:cNvSpPr>
          <p:nvPr/>
        </p:nvSpPr>
        <p:spPr>
          <a:xfrm>
            <a:off x="736600" y="2213908"/>
            <a:ext cx="10515600" cy="1037292"/>
          </a:xfrm>
          <a:prstGeom prst="rect">
            <a:avLst/>
          </a:prstGeom>
          <a:solidFill>
            <a:schemeClr val="accent1">
              <a:lumMod val="20000"/>
              <a:lumOff val="80000"/>
            </a:schemeClr>
          </a:solidFill>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Consumer Surplus: Net benefit to consumers from engaging in free exchange. </a:t>
            </a:r>
          </a:p>
          <a:p>
            <a:pPr lvl="1"/>
            <a:r>
              <a:rPr lang="en-US" dirty="0"/>
              <a:t>Difference between what the consumer would be willing to pay and what the consumer actually has to pay </a:t>
            </a:r>
          </a:p>
          <a:p>
            <a:pPr lvl="1"/>
            <a:r>
              <a:rPr lang="en-US" dirty="0"/>
              <a:t>Area under the demand curve but above price</a:t>
            </a:r>
          </a:p>
        </p:txBody>
      </p:sp>
      <p:sp>
        <p:nvSpPr>
          <p:cNvPr id="7" name="TextBox 6">
            <a:extLst>
              <a:ext uri="{FF2B5EF4-FFF2-40B4-BE49-F238E27FC236}">
                <a16:creationId xmlns:a16="http://schemas.microsoft.com/office/drawing/2014/main" id="{AE4ED873-3480-237A-226E-404F41E95258}"/>
              </a:ext>
            </a:extLst>
          </p:cNvPr>
          <p:cNvSpPr txBox="1"/>
          <p:nvPr/>
        </p:nvSpPr>
        <p:spPr>
          <a:xfrm>
            <a:off x="254000" y="1690688"/>
            <a:ext cx="1691489" cy="523220"/>
          </a:xfrm>
          <a:prstGeom prst="rect">
            <a:avLst/>
          </a:prstGeom>
          <a:solidFill>
            <a:schemeClr val="accent2">
              <a:lumMod val="20000"/>
              <a:lumOff val="80000"/>
            </a:schemeClr>
          </a:solidFill>
        </p:spPr>
        <p:txBody>
          <a:bodyPr wrap="none" rtlCol="0">
            <a:spAutoFit/>
          </a:bodyPr>
          <a:lstStyle/>
          <a:p>
            <a:r>
              <a:rPr lang="en-US" sz="2800" dirty="0"/>
              <a:t>Definition</a:t>
            </a:r>
          </a:p>
        </p:txBody>
      </p:sp>
      <p:sp>
        <p:nvSpPr>
          <p:cNvPr id="8" name="Content Placeholder 2">
            <a:extLst>
              <a:ext uri="{FF2B5EF4-FFF2-40B4-BE49-F238E27FC236}">
                <a16:creationId xmlns:a16="http://schemas.microsoft.com/office/drawing/2014/main" id="{E9D9ECFC-E8A0-FD55-EAE2-965019590176}"/>
              </a:ext>
            </a:extLst>
          </p:cNvPr>
          <p:cNvSpPr txBox="1">
            <a:spLocks/>
          </p:cNvSpPr>
          <p:nvPr/>
        </p:nvSpPr>
        <p:spPr>
          <a:xfrm>
            <a:off x="736600" y="4130020"/>
            <a:ext cx="10515600" cy="1037292"/>
          </a:xfrm>
          <a:prstGeom prst="rect">
            <a:avLst/>
          </a:prstGeom>
          <a:solidFill>
            <a:schemeClr val="accent1">
              <a:lumMod val="20000"/>
              <a:lumOff val="80000"/>
            </a:schemeClr>
          </a:solidFill>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Producer Surplus: Net benefit to producers from participating in free trade </a:t>
            </a:r>
          </a:p>
          <a:p>
            <a:pPr lvl="1"/>
            <a:r>
              <a:rPr lang="en-US" dirty="0"/>
              <a:t>Difference between the actual revenue received by the seller and the amount needed to cover the marginal costs of production </a:t>
            </a:r>
          </a:p>
          <a:p>
            <a:pPr lvl="1"/>
            <a:r>
              <a:rPr lang="en-US" dirty="0"/>
              <a:t>Area below market price but above the supply curve</a:t>
            </a:r>
          </a:p>
        </p:txBody>
      </p:sp>
      <p:sp>
        <p:nvSpPr>
          <p:cNvPr id="9" name="TextBox 8">
            <a:extLst>
              <a:ext uri="{FF2B5EF4-FFF2-40B4-BE49-F238E27FC236}">
                <a16:creationId xmlns:a16="http://schemas.microsoft.com/office/drawing/2014/main" id="{49BFB981-E18F-5315-727C-E479D4BACE7C}"/>
              </a:ext>
            </a:extLst>
          </p:cNvPr>
          <p:cNvSpPr txBox="1"/>
          <p:nvPr/>
        </p:nvSpPr>
        <p:spPr>
          <a:xfrm>
            <a:off x="254000" y="3606800"/>
            <a:ext cx="1691489" cy="523220"/>
          </a:xfrm>
          <a:prstGeom prst="rect">
            <a:avLst/>
          </a:prstGeom>
          <a:solidFill>
            <a:schemeClr val="accent2">
              <a:lumMod val="20000"/>
              <a:lumOff val="80000"/>
            </a:schemeClr>
          </a:solidFill>
        </p:spPr>
        <p:txBody>
          <a:bodyPr wrap="none" rtlCol="0">
            <a:spAutoFit/>
          </a:bodyPr>
          <a:lstStyle/>
          <a:p>
            <a:r>
              <a:rPr lang="en-US" sz="2800" dirty="0"/>
              <a:t>Definition</a:t>
            </a:r>
          </a:p>
        </p:txBody>
      </p:sp>
      <p:sp>
        <p:nvSpPr>
          <p:cNvPr id="13" name="TextBox 12">
            <a:extLst>
              <a:ext uri="{FF2B5EF4-FFF2-40B4-BE49-F238E27FC236}">
                <a16:creationId xmlns:a16="http://schemas.microsoft.com/office/drawing/2014/main" id="{5C8B508C-A573-061F-74C5-0BBE9784D175}"/>
              </a:ext>
            </a:extLst>
          </p:cNvPr>
          <p:cNvSpPr txBox="1"/>
          <p:nvPr/>
        </p:nvSpPr>
        <p:spPr>
          <a:xfrm>
            <a:off x="2082705" y="5505866"/>
            <a:ext cx="8026589" cy="369332"/>
          </a:xfrm>
          <a:prstGeom prst="rect">
            <a:avLst/>
          </a:prstGeom>
          <a:noFill/>
          <a:ln>
            <a:solidFill>
              <a:srgbClr val="C00000"/>
            </a:solidFill>
          </a:ln>
        </p:spPr>
        <p:txBody>
          <a:bodyPr wrap="square">
            <a:spAutoFit/>
          </a:bodyPr>
          <a:lstStyle/>
          <a:p>
            <a:pPr algn="ctr"/>
            <a:r>
              <a:rPr lang="en-US" b="1" dirty="0"/>
              <a:t>Total societal surplus (net gains from trade) = consumer + producer surplus</a:t>
            </a:r>
          </a:p>
        </p:txBody>
      </p:sp>
    </p:spTree>
    <p:extLst>
      <p:ext uri="{BB962C8B-B14F-4D97-AF65-F5344CB8AC3E}">
        <p14:creationId xmlns:p14="http://schemas.microsoft.com/office/powerpoint/2010/main" val="41776555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A0707-F287-187F-2B25-744E43C6A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465E5-A95A-4528-3290-3645CB19A2CF}"/>
              </a:ext>
            </a:extLst>
          </p:cNvPr>
          <p:cNvSpPr>
            <a:spLocks noGrp="1"/>
          </p:cNvSpPr>
          <p:nvPr>
            <p:ph type="title"/>
          </p:nvPr>
        </p:nvSpPr>
        <p:spPr>
          <a:xfrm>
            <a:off x="838200" y="365126"/>
            <a:ext cx="10515600" cy="1037292"/>
          </a:xfrm>
        </p:spPr>
        <p:txBody>
          <a:bodyPr>
            <a:normAutofit fontScale="90000"/>
          </a:bodyPr>
          <a:lstStyle/>
          <a:p>
            <a:r>
              <a:rPr lang="en-US" dirty="0"/>
              <a:t>Who benefits in a perfectly competitive market?</a:t>
            </a:r>
          </a:p>
        </p:txBody>
      </p:sp>
      <p:sp>
        <p:nvSpPr>
          <p:cNvPr id="6" name="Content Placeholder 2">
            <a:extLst>
              <a:ext uri="{FF2B5EF4-FFF2-40B4-BE49-F238E27FC236}">
                <a16:creationId xmlns:a16="http://schemas.microsoft.com/office/drawing/2014/main" id="{F1BBDA32-B42C-DB19-BCB2-EE0D73BBF14A}"/>
              </a:ext>
            </a:extLst>
          </p:cNvPr>
          <p:cNvSpPr txBox="1">
            <a:spLocks/>
          </p:cNvSpPr>
          <p:nvPr/>
        </p:nvSpPr>
        <p:spPr>
          <a:xfrm>
            <a:off x="558800" y="1985962"/>
            <a:ext cx="10515600" cy="3144838"/>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At equilibrium, total societal surplus is maximized </a:t>
            </a:r>
          </a:p>
          <a:p>
            <a:pPr lvl="1"/>
            <a:r>
              <a:rPr lang="en-US" dirty="0"/>
              <a:t>Efficient outcome </a:t>
            </a:r>
            <a:endParaRPr lang="en-US" dirty="0">
              <a:sym typeface="Wingdings" panose="05000000000000000000" pitchFamily="2" charset="2"/>
            </a:endParaRPr>
          </a:p>
          <a:p>
            <a:pPr lvl="1"/>
            <a:r>
              <a:rPr lang="en-US" dirty="0">
                <a:sym typeface="Wingdings" panose="05000000000000000000" pitchFamily="2" charset="2"/>
              </a:rPr>
              <a:t>Demand is determined by value of good and ability to pay</a:t>
            </a:r>
            <a:endParaRPr lang="en-US" dirty="0"/>
          </a:p>
          <a:p>
            <a:pPr marL="0" indent="0">
              <a:buNone/>
            </a:pPr>
            <a:endParaRPr lang="en-US" dirty="0"/>
          </a:p>
          <a:p>
            <a:r>
              <a:rPr lang="en-US" dirty="0"/>
              <a:t>What does this say about equity? Nothing</a:t>
            </a:r>
          </a:p>
        </p:txBody>
      </p:sp>
      <p:sp>
        <p:nvSpPr>
          <p:cNvPr id="3" name="Rectangle 2">
            <a:extLst>
              <a:ext uri="{FF2B5EF4-FFF2-40B4-BE49-F238E27FC236}">
                <a16:creationId xmlns:a16="http://schemas.microsoft.com/office/drawing/2014/main" id="{D660ED10-BD49-F0B2-476E-6445B7880D88}"/>
              </a:ext>
            </a:extLst>
          </p:cNvPr>
          <p:cNvSpPr/>
          <p:nvPr/>
        </p:nvSpPr>
        <p:spPr>
          <a:xfrm>
            <a:off x="5943600" y="3733800"/>
            <a:ext cx="1308100" cy="558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8329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029C4-72CE-8092-87E2-8EB0455F6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F5BFB-5FA4-8AD8-858E-6E043DCAF9C2}"/>
              </a:ext>
            </a:extLst>
          </p:cNvPr>
          <p:cNvSpPr>
            <a:spLocks noGrp="1"/>
          </p:cNvSpPr>
          <p:nvPr>
            <p:ph type="title"/>
          </p:nvPr>
        </p:nvSpPr>
        <p:spPr>
          <a:xfrm>
            <a:off x="838200" y="365126"/>
            <a:ext cx="10515600" cy="1037292"/>
          </a:xfrm>
        </p:spPr>
        <p:txBody>
          <a:bodyPr>
            <a:normAutofit fontScale="90000"/>
          </a:bodyPr>
          <a:lstStyle/>
          <a:p>
            <a:r>
              <a:rPr lang="en-US" dirty="0"/>
              <a:t>Who benefits in a perfectly competitive market?</a:t>
            </a:r>
          </a:p>
        </p:txBody>
      </p:sp>
      <p:sp>
        <p:nvSpPr>
          <p:cNvPr id="6" name="Content Placeholder 2">
            <a:extLst>
              <a:ext uri="{FF2B5EF4-FFF2-40B4-BE49-F238E27FC236}">
                <a16:creationId xmlns:a16="http://schemas.microsoft.com/office/drawing/2014/main" id="{A8411848-9724-0E6A-9CF1-D18C6FC5D68A}"/>
              </a:ext>
            </a:extLst>
          </p:cNvPr>
          <p:cNvSpPr txBox="1">
            <a:spLocks/>
          </p:cNvSpPr>
          <p:nvPr/>
        </p:nvSpPr>
        <p:spPr>
          <a:xfrm>
            <a:off x="558800" y="1985962"/>
            <a:ext cx="10515600" cy="3144838"/>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At equilibrium, total societal surplus is maximized </a:t>
            </a:r>
          </a:p>
          <a:p>
            <a:pPr lvl="1"/>
            <a:r>
              <a:rPr lang="en-US" dirty="0"/>
              <a:t>Efficient outcome </a:t>
            </a:r>
          </a:p>
          <a:p>
            <a:pPr lvl="1"/>
            <a:r>
              <a:rPr lang="en-US" dirty="0">
                <a:sym typeface="Wingdings" panose="05000000000000000000" pitchFamily="2" charset="2"/>
              </a:rPr>
              <a:t>Demand is determined by value of good and ability to pay</a:t>
            </a:r>
            <a:endParaRPr lang="en-US" dirty="0"/>
          </a:p>
          <a:p>
            <a:pPr marL="0" indent="0">
              <a:buNone/>
            </a:pPr>
            <a:endParaRPr lang="en-US" dirty="0"/>
          </a:p>
          <a:p>
            <a:r>
              <a:rPr lang="en-US" dirty="0"/>
              <a:t>What does this say about equity? Nothing</a:t>
            </a:r>
          </a:p>
        </p:txBody>
      </p:sp>
    </p:spTree>
    <p:extLst>
      <p:ext uri="{BB962C8B-B14F-4D97-AF65-F5344CB8AC3E}">
        <p14:creationId xmlns:p14="http://schemas.microsoft.com/office/powerpoint/2010/main" val="38861723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4F3DC-0499-02BE-2CBF-BE741EE24B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A29044-A945-3D7D-61A4-F81255EDF9D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667BE8A0-F8A1-5611-A3CC-C20CC617C87F}"/>
              </a:ext>
            </a:extLst>
          </p:cNvPr>
          <p:cNvPicPr>
            <a:picLocks noChangeAspect="1"/>
          </p:cNvPicPr>
          <p:nvPr/>
        </p:nvPicPr>
        <p:blipFill>
          <a:blip r:embed="rId2"/>
          <a:stretch>
            <a:fillRect/>
          </a:stretch>
        </p:blipFill>
        <p:spPr>
          <a:xfrm>
            <a:off x="-528" y="-297"/>
            <a:ext cx="12192528" cy="6858297"/>
          </a:xfrm>
          <a:prstGeom prst="rect">
            <a:avLst/>
          </a:prstGeom>
        </p:spPr>
      </p:pic>
    </p:spTree>
    <p:extLst>
      <p:ext uri="{BB962C8B-B14F-4D97-AF65-F5344CB8AC3E}">
        <p14:creationId xmlns:p14="http://schemas.microsoft.com/office/powerpoint/2010/main" val="35127555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7FEE2-3D14-5C8C-FD83-C6CF25803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D42E0-E59A-086E-A7D8-606DEF3C8393}"/>
              </a:ext>
            </a:extLst>
          </p:cNvPr>
          <p:cNvSpPr>
            <a:spLocks noGrp="1"/>
          </p:cNvSpPr>
          <p:nvPr>
            <p:ph type="title"/>
          </p:nvPr>
        </p:nvSpPr>
        <p:spPr/>
        <p:txBody>
          <a:bodyPr/>
          <a:lstStyle/>
          <a:p>
            <a:r>
              <a:rPr lang="en-US" dirty="0"/>
              <a:t>Government interventions in free market </a:t>
            </a:r>
          </a:p>
        </p:txBody>
      </p:sp>
      <p:sp>
        <p:nvSpPr>
          <p:cNvPr id="3" name="Content Placeholder 2">
            <a:extLst>
              <a:ext uri="{FF2B5EF4-FFF2-40B4-BE49-F238E27FC236}">
                <a16:creationId xmlns:a16="http://schemas.microsoft.com/office/drawing/2014/main" id="{1B01C998-880E-19CB-F998-6D481CEB747A}"/>
              </a:ext>
            </a:extLst>
          </p:cNvPr>
          <p:cNvSpPr>
            <a:spLocks noGrp="1"/>
          </p:cNvSpPr>
          <p:nvPr>
            <p:ph idx="1"/>
          </p:nvPr>
        </p:nvSpPr>
        <p:spPr/>
        <p:txBody>
          <a:bodyPr/>
          <a:lstStyle/>
          <a:p>
            <a:r>
              <a:rPr lang="en-US" dirty="0"/>
              <a:t>How many of you live in rent-controlled apartments? </a:t>
            </a:r>
          </a:p>
          <a:p>
            <a:pPr lvl="1"/>
            <a:r>
              <a:rPr lang="en-US" dirty="0"/>
              <a:t>Rent control is a government intervention setting a </a:t>
            </a:r>
            <a:r>
              <a:rPr lang="en-US" b="1" dirty="0"/>
              <a:t>price ceiling </a:t>
            </a:r>
          </a:p>
          <a:p>
            <a:endParaRPr lang="en-US" dirty="0"/>
          </a:p>
        </p:txBody>
      </p:sp>
    </p:spTree>
    <p:extLst>
      <p:ext uri="{BB962C8B-B14F-4D97-AF65-F5344CB8AC3E}">
        <p14:creationId xmlns:p14="http://schemas.microsoft.com/office/powerpoint/2010/main" val="8306263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AD107-166C-6B4F-AC02-840EA085FA34}"/>
              </a:ext>
            </a:extLst>
          </p:cNvPr>
          <p:cNvSpPr>
            <a:spLocks noGrp="1"/>
          </p:cNvSpPr>
          <p:nvPr>
            <p:ph type="title"/>
          </p:nvPr>
        </p:nvSpPr>
        <p:spPr/>
        <p:txBody>
          <a:bodyPr/>
          <a:lstStyle/>
          <a:p>
            <a:r>
              <a:rPr lang="en-US" dirty="0"/>
              <a:t>Government interventions in free market </a:t>
            </a:r>
          </a:p>
        </p:txBody>
      </p:sp>
      <p:sp>
        <p:nvSpPr>
          <p:cNvPr id="3" name="Content Placeholder 2">
            <a:extLst>
              <a:ext uri="{FF2B5EF4-FFF2-40B4-BE49-F238E27FC236}">
                <a16:creationId xmlns:a16="http://schemas.microsoft.com/office/drawing/2014/main" id="{55D34F81-2604-3513-4E96-07EDBE6BD8AE}"/>
              </a:ext>
            </a:extLst>
          </p:cNvPr>
          <p:cNvSpPr>
            <a:spLocks noGrp="1"/>
          </p:cNvSpPr>
          <p:nvPr>
            <p:ph idx="1"/>
          </p:nvPr>
        </p:nvSpPr>
        <p:spPr/>
        <p:txBody>
          <a:bodyPr/>
          <a:lstStyle/>
          <a:p>
            <a:r>
              <a:rPr lang="en-US" dirty="0"/>
              <a:t>What happens to the supply and demand graph if the government introduces a price ceiling for rents? </a:t>
            </a:r>
          </a:p>
          <a:p>
            <a:pPr marL="0" indent="0">
              <a:buNone/>
            </a:pPr>
            <a:r>
              <a:rPr lang="en-US" dirty="0"/>
              <a:t>Y = price (rent) </a:t>
            </a:r>
          </a:p>
          <a:p>
            <a:pPr marL="0" indent="0">
              <a:buNone/>
            </a:pPr>
            <a:r>
              <a:rPr lang="en-US" dirty="0"/>
              <a:t>X = number of apartments available for rent in NYC </a:t>
            </a:r>
          </a:p>
          <a:p>
            <a:endParaRPr lang="en-US" dirty="0"/>
          </a:p>
        </p:txBody>
      </p:sp>
    </p:spTree>
    <p:extLst>
      <p:ext uri="{BB962C8B-B14F-4D97-AF65-F5344CB8AC3E}">
        <p14:creationId xmlns:p14="http://schemas.microsoft.com/office/powerpoint/2010/main" val="20645303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A961F-2546-9D7C-2749-D4B58C695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A3C26-0D3A-D676-D896-88EDA081CB64}"/>
              </a:ext>
            </a:extLst>
          </p:cNvPr>
          <p:cNvSpPr>
            <a:spLocks noGrp="1"/>
          </p:cNvSpPr>
          <p:nvPr>
            <p:ph type="title"/>
          </p:nvPr>
        </p:nvSpPr>
        <p:spPr/>
        <p:txBody>
          <a:bodyPr/>
          <a:lstStyle/>
          <a:p>
            <a:r>
              <a:rPr lang="en-US" dirty="0"/>
              <a:t>Government interventions in free market </a:t>
            </a:r>
          </a:p>
        </p:txBody>
      </p:sp>
      <p:sp>
        <p:nvSpPr>
          <p:cNvPr id="3" name="Content Placeholder 2">
            <a:extLst>
              <a:ext uri="{FF2B5EF4-FFF2-40B4-BE49-F238E27FC236}">
                <a16:creationId xmlns:a16="http://schemas.microsoft.com/office/drawing/2014/main" id="{8C32A4CD-E815-5115-0F64-F18C836B124F}"/>
              </a:ext>
            </a:extLst>
          </p:cNvPr>
          <p:cNvSpPr>
            <a:spLocks noGrp="1"/>
          </p:cNvSpPr>
          <p:nvPr>
            <p:ph idx="1"/>
          </p:nvPr>
        </p:nvSpPr>
        <p:spPr>
          <a:xfrm>
            <a:off x="838200" y="1825625"/>
            <a:ext cx="5041900" cy="4351338"/>
          </a:xfrm>
        </p:spPr>
        <p:txBody>
          <a:bodyPr/>
          <a:lstStyle/>
          <a:p>
            <a:r>
              <a:rPr lang="en-US" dirty="0"/>
              <a:t>If there is no price ceiling, the market equilibrium will be at (e) and the maximum surplus would be realized</a:t>
            </a:r>
          </a:p>
          <a:p>
            <a:r>
              <a:rPr lang="en-US" dirty="0"/>
              <a:t> Yellow triangle is the consumer surplus </a:t>
            </a:r>
          </a:p>
          <a:p>
            <a:r>
              <a:rPr lang="en-US" dirty="0"/>
              <a:t>Orange triangle is the producer</a:t>
            </a:r>
          </a:p>
        </p:txBody>
      </p:sp>
      <p:pic>
        <p:nvPicPr>
          <p:cNvPr id="2050" name="Picture 2">
            <a:extLst>
              <a:ext uri="{FF2B5EF4-FFF2-40B4-BE49-F238E27FC236}">
                <a16:creationId xmlns:a16="http://schemas.microsoft.com/office/drawing/2014/main" id="{E18EF420-95CE-EF95-EB6D-776189F377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0100" y="1986756"/>
            <a:ext cx="5811167" cy="40290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86D9088-270B-927D-5081-B085F60C4776}"/>
              </a:ext>
            </a:extLst>
          </p:cNvPr>
          <p:cNvSpPr txBox="1"/>
          <p:nvPr/>
        </p:nvSpPr>
        <p:spPr>
          <a:xfrm>
            <a:off x="8946777" y="3429000"/>
            <a:ext cx="306494" cy="369332"/>
          </a:xfrm>
          <a:prstGeom prst="rect">
            <a:avLst/>
          </a:prstGeom>
          <a:solidFill>
            <a:schemeClr val="bg1"/>
          </a:solidFill>
        </p:spPr>
        <p:txBody>
          <a:bodyPr wrap="none" rtlCol="0">
            <a:spAutoFit/>
          </a:bodyPr>
          <a:lstStyle/>
          <a:p>
            <a:r>
              <a:rPr lang="en-US" dirty="0"/>
              <a:t>e</a:t>
            </a:r>
          </a:p>
        </p:txBody>
      </p:sp>
    </p:spTree>
    <p:extLst>
      <p:ext uri="{BB962C8B-B14F-4D97-AF65-F5344CB8AC3E}">
        <p14:creationId xmlns:p14="http://schemas.microsoft.com/office/powerpoint/2010/main" val="4992813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DEF9-97E5-A270-D0DD-2CC01C591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5486F-7B68-4DA9-6A39-723FCF6B493A}"/>
              </a:ext>
            </a:extLst>
          </p:cNvPr>
          <p:cNvSpPr>
            <a:spLocks noGrp="1"/>
          </p:cNvSpPr>
          <p:nvPr>
            <p:ph type="title"/>
          </p:nvPr>
        </p:nvSpPr>
        <p:spPr/>
        <p:txBody>
          <a:bodyPr/>
          <a:lstStyle/>
          <a:p>
            <a:r>
              <a:rPr lang="en-US" dirty="0"/>
              <a:t>Government interventions in free market </a:t>
            </a:r>
          </a:p>
        </p:txBody>
      </p:sp>
      <p:sp>
        <p:nvSpPr>
          <p:cNvPr id="3" name="Content Placeholder 2">
            <a:extLst>
              <a:ext uri="{FF2B5EF4-FFF2-40B4-BE49-F238E27FC236}">
                <a16:creationId xmlns:a16="http://schemas.microsoft.com/office/drawing/2014/main" id="{6DB2A482-3632-19A3-5510-237B78ACA5C1}"/>
              </a:ext>
            </a:extLst>
          </p:cNvPr>
          <p:cNvSpPr>
            <a:spLocks noGrp="1"/>
          </p:cNvSpPr>
          <p:nvPr>
            <p:ph idx="1"/>
          </p:nvPr>
        </p:nvSpPr>
        <p:spPr>
          <a:xfrm>
            <a:off x="838200" y="2070099"/>
            <a:ext cx="5041900" cy="4106863"/>
          </a:xfrm>
        </p:spPr>
        <p:txBody>
          <a:bodyPr>
            <a:normAutofit/>
          </a:bodyPr>
          <a:lstStyle/>
          <a:p>
            <a:r>
              <a:rPr lang="en-US" dirty="0"/>
              <a:t>If a </a:t>
            </a:r>
            <a:r>
              <a:rPr lang="en-US" b="1" dirty="0"/>
              <a:t>binding price ceiling </a:t>
            </a:r>
            <a:r>
              <a:rPr lang="en-US" dirty="0"/>
              <a:t>is set, then: </a:t>
            </a:r>
          </a:p>
          <a:p>
            <a:r>
              <a:rPr lang="en-US" dirty="0" err="1"/>
              <a:t>Qd</a:t>
            </a:r>
            <a:r>
              <a:rPr lang="en-US" dirty="0"/>
              <a:t> &gt; Qs</a:t>
            </a:r>
          </a:p>
          <a:p>
            <a:r>
              <a:rPr lang="en-US" dirty="0">
                <a:sym typeface="Wingdings" panose="05000000000000000000" pitchFamily="2" charset="2"/>
              </a:rPr>
              <a:t> S</a:t>
            </a:r>
            <a:r>
              <a:rPr lang="en-US" dirty="0"/>
              <a:t>hortage of apartments </a:t>
            </a:r>
          </a:p>
        </p:txBody>
      </p:sp>
      <p:sp>
        <p:nvSpPr>
          <p:cNvPr id="4" name="TextBox 3">
            <a:extLst>
              <a:ext uri="{FF2B5EF4-FFF2-40B4-BE49-F238E27FC236}">
                <a16:creationId xmlns:a16="http://schemas.microsoft.com/office/drawing/2014/main" id="{78300560-1213-8395-35D0-B646C165E26D}"/>
              </a:ext>
            </a:extLst>
          </p:cNvPr>
          <p:cNvSpPr txBox="1"/>
          <p:nvPr/>
        </p:nvSpPr>
        <p:spPr>
          <a:xfrm>
            <a:off x="8895977" y="3149600"/>
            <a:ext cx="306494" cy="369332"/>
          </a:xfrm>
          <a:prstGeom prst="rect">
            <a:avLst/>
          </a:prstGeom>
          <a:solidFill>
            <a:schemeClr val="bg1"/>
          </a:solidFill>
        </p:spPr>
        <p:txBody>
          <a:bodyPr wrap="none" rtlCol="0">
            <a:spAutoFit/>
          </a:bodyPr>
          <a:lstStyle/>
          <a:p>
            <a:r>
              <a:rPr lang="en-US" dirty="0"/>
              <a:t>e</a:t>
            </a:r>
          </a:p>
        </p:txBody>
      </p:sp>
      <p:pic>
        <p:nvPicPr>
          <p:cNvPr id="5" name="Picture 2">
            <a:extLst>
              <a:ext uri="{FF2B5EF4-FFF2-40B4-BE49-F238E27FC236}">
                <a16:creationId xmlns:a16="http://schemas.microsoft.com/office/drawing/2014/main" id="{A9570E34-1154-BE9E-327C-9B093422F3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0100" y="1986756"/>
            <a:ext cx="5811167" cy="4029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2499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39B8-FFDD-5B06-204C-ACAE61A302F7}"/>
            </a:ext>
          </a:extLst>
        </p:cNvPr>
        <p:cNvGrpSpPr/>
        <p:nvPr/>
      </p:nvGrpSpPr>
      <p:grpSpPr>
        <a:xfrm>
          <a:off x="0" y="0"/>
          <a:ext cx="0" cy="0"/>
          <a:chOff x="0" y="0"/>
          <a:chExt cx="0" cy="0"/>
        </a:xfrm>
      </p:grpSpPr>
      <p:pic>
        <p:nvPicPr>
          <p:cNvPr id="9" name="Picture 2">
            <a:extLst>
              <a:ext uri="{FF2B5EF4-FFF2-40B4-BE49-F238E27FC236}">
                <a16:creationId xmlns:a16="http://schemas.microsoft.com/office/drawing/2014/main" id="{B8E44E6B-7E1B-359B-C1DC-0B5759CE10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0100" y="1986756"/>
            <a:ext cx="5811167" cy="40290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7CC8CDF-18D6-C121-3949-6B737AA9013D}"/>
              </a:ext>
            </a:extLst>
          </p:cNvPr>
          <p:cNvSpPr>
            <a:spLocks noGrp="1"/>
          </p:cNvSpPr>
          <p:nvPr>
            <p:ph type="title"/>
          </p:nvPr>
        </p:nvSpPr>
        <p:spPr/>
        <p:txBody>
          <a:bodyPr/>
          <a:lstStyle/>
          <a:p>
            <a:r>
              <a:rPr lang="en-US" dirty="0"/>
              <a:t>Government interventions in free market </a:t>
            </a:r>
          </a:p>
        </p:txBody>
      </p:sp>
      <p:sp>
        <p:nvSpPr>
          <p:cNvPr id="3" name="Content Placeholder 2">
            <a:extLst>
              <a:ext uri="{FF2B5EF4-FFF2-40B4-BE49-F238E27FC236}">
                <a16:creationId xmlns:a16="http://schemas.microsoft.com/office/drawing/2014/main" id="{40B8C933-4C53-73F0-7284-4CBC6DB24E0E}"/>
              </a:ext>
            </a:extLst>
          </p:cNvPr>
          <p:cNvSpPr>
            <a:spLocks noGrp="1"/>
          </p:cNvSpPr>
          <p:nvPr>
            <p:ph idx="1"/>
          </p:nvPr>
        </p:nvSpPr>
        <p:spPr>
          <a:xfrm>
            <a:off x="548212" y="3149600"/>
            <a:ext cx="5041900" cy="1701800"/>
          </a:xfrm>
          <a:solidFill>
            <a:schemeClr val="tx2">
              <a:lumMod val="10000"/>
              <a:lumOff val="90000"/>
            </a:schemeClr>
          </a:solidFill>
        </p:spPr>
        <p:txBody>
          <a:bodyPr>
            <a:normAutofit/>
          </a:bodyPr>
          <a:lstStyle/>
          <a:p>
            <a:pPr marL="0" indent="0">
              <a:buNone/>
            </a:pPr>
            <a:r>
              <a:rPr lang="en-US" dirty="0"/>
              <a:t>Deadweight Loss:  loss of total that occurs when a market is prevented from reaching the efficient equilibrium quantity</a:t>
            </a:r>
          </a:p>
        </p:txBody>
      </p:sp>
      <p:sp>
        <p:nvSpPr>
          <p:cNvPr id="4" name="TextBox 3">
            <a:extLst>
              <a:ext uri="{FF2B5EF4-FFF2-40B4-BE49-F238E27FC236}">
                <a16:creationId xmlns:a16="http://schemas.microsoft.com/office/drawing/2014/main" id="{3768F9ED-50DD-CBB4-BC1C-C19298BE6B8C}"/>
              </a:ext>
            </a:extLst>
          </p:cNvPr>
          <p:cNvSpPr txBox="1"/>
          <p:nvPr/>
        </p:nvSpPr>
        <p:spPr>
          <a:xfrm>
            <a:off x="8895977" y="3149600"/>
            <a:ext cx="306494" cy="369332"/>
          </a:xfrm>
          <a:prstGeom prst="rect">
            <a:avLst/>
          </a:prstGeom>
          <a:solidFill>
            <a:schemeClr val="bg1"/>
          </a:solidFill>
        </p:spPr>
        <p:txBody>
          <a:bodyPr wrap="none" rtlCol="0">
            <a:spAutoFit/>
          </a:bodyPr>
          <a:lstStyle/>
          <a:p>
            <a:r>
              <a:rPr lang="en-US" dirty="0"/>
              <a:t>e</a:t>
            </a:r>
          </a:p>
        </p:txBody>
      </p:sp>
      <p:cxnSp>
        <p:nvCxnSpPr>
          <p:cNvPr id="5" name="Straight Arrow Connector 4">
            <a:extLst>
              <a:ext uri="{FF2B5EF4-FFF2-40B4-BE49-F238E27FC236}">
                <a16:creationId xmlns:a16="http://schemas.microsoft.com/office/drawing/2014/main" id="{92A45941-312F-2316-3302-48D1E1AFF222}"/>
              </a:ext>
            </a:extLst>
          </p:cNvPr>
          <p:cNvCxnSpPr>
            <a:cxnSpLocks/>
          </p:cNvCxnSpPr>
          <p:nvPr/>
        </p:nvCxnSpPr>
        <p:spPr>
          <a:xfrm flipV="1">
            <a:off x="8343900" y="2909332"/>
            <a:ext cx="698500" cy="77292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895D641-8A24-0767-2EB2-7F54BC30C053}"/>
              </a:ext>
            </a:extLst>
          </p:cNvPr>
          <p:cNvSpPr txBox="1"/>
          <p:nvPr/>
        </p:nvSpPr>
        <p:spPr>
          <a:xfrm>
            <a:off x="8143174" y="2375106"/>
            <a:ext cx="1991426" cy="369332"/>
          </a:xfrm>
          <a:prstGeom prst="rect">
            <a:avLst/>
          </a:prstGeom>
          <a:noFill/>
        </p:spPr>
        <p:txBody>
          <a:bodyPr wrap="square" rtlCol="0">
            <a:spAutoFit/>
          </a:bodyPr>
          <a:lstStyle/>
          <a:p>
            <a:r>
              <a:rPr lang="en-US" dirty="0"/>
              <a:t>Deadweight Loss</a:t>
            </a:r>
          </a:p>
        </p:txBody>
      </p:sp>
      <p:sp>
        <p:nvSpPr>
          <p:cNvPr id="8" name="TextBox 7">
            <a:extLst>
              <a:ext uri="{FF2B5EF4-FFF2-40B4-BE49-F238E27FC236}">
                <a16:creationId xmlns:a16="http://schemas.microsoft.com/office/drawing/2014/main" id="{D9A22AA8-7ACC-8D1A-90EB-1963D766F664}"/>
              </a:ext>
            </a:extLst>
          </p:cNvPr>
          <p:cNvSpPr txBox="1"/>
          <p:nvPr/>
        </p:nvSpPr>
        <p:spPr>
          <a:xfrm>
            <a:off x="334353" y="2629931"/>
            <a:ext cx="1691489" cy="523220"/>
          </a:xfrm>
          <a:prstGeom prst="rect">
            <a:avLst/>
          </a:prstGeom>
          <a:solidFill>
            <a:schemeClr val="accent2">
              <a:lumMod val="20000"/>
              <a:lumOff val="80000"/>
            </a:schemeClr>
          </a:solidFill>
        </p:spPr>
        <p:txBody>
          <a:bodyPr wrap="none" rtlCol="0">
            <a:spAutoFit/>
          </a:bodyPr>
          <a:lstStyle/>
          <a:p>
            <a:r>
              <a:rPr lang="en-US" sz="2800" dirty="0"/>
              <a:t>Definition</a:t>
            </a:r>
          </a:p>
        </p:txBody>
      </p:sp>
      <p:sp>
        <p:nvSpPr>
          <p:cNvPr id="10" name="Isosceles Triangle 9">
            <a:extLst>
              <a:ext uri="{FF2B5EF4-FFF2-40B4-BE49-F238E27FC236}">
                <a16:creationId xmlns:a16="http://schemas.microsoft.com/office/drawing/2014/main" id="{80F41E2B-1D39-F951-A8BA-AE74A1A5A974}"/>
              </a:ext>
            </a:extLst>
          </p:cNvPr>
          <p:cNvSpPr/>
          <p:nvPr/>
        </p:nvSpPr>
        <p:spPr>
          <a:xfrm rot="5400000">
            <a:off x="8013499" y="3541347"/>
            <a:ext cx="1297554" cy="814552"/>
          </a:xfrm>
          <a:prstGeom prst="triangle">
            <a:avLst>
              <a:gd name="adj" fmla="val 51960"/>
            </a:avLst>
          </a:prstGeom>
          <a:solidFill>
            <a:srgbClr val="000000">
              <a:alpha val="30196"/>
            </a:srgbClr>
          </a:solid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Isosceles Triangle 11">
            <a:extLst>
              <a:ext uri="{FF2B5EF4-FFF2-40B4-BE49-F238E27FC236}">
                <a16:creationId xmlns:a16="http://schemas.microsoft.com/office/drawing/2014/main" id="{D15DDB3D-8254-DF97-A8CF-65B0461FDC37}"/>
              </a:ext>
            </a:extLst>
          </p:cNvPr>
          <p:cNvSpPr/>
          <p:nvPr/>
        </p:nvSpPr>
        <p:spPr>
          <a:xfrm rot="5221408">
            <a:off x="7491652" y="4340713"/>
            <a:ext cx="765607" cy="1003909"/>
          </a:xfrm>
          <a:prstGeom prst="triangle">
            <a:avLst>
              <a:gd name="adj" fmla="val 13880"/>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5480CE01-40EE-A40C-60BD-98AD5ED5A6C1}"/>
              </a:ext>
            </a:extLst>
          </p:cNvPr>
          <p:cNvSpPr/>
          <p:nvPr/>
        </p:nvSpPr>
        <p:spPr>
          <a:xfrm>
            <a:off x="7353300" y="2336800"/>
            <a:ext cx="927100" cy="2209800"/>
          </a:xfrm>
          <a:custGeom>
            <a:avLst/>
            <a:gdLst>
              <a:gd name="csX0" fmla="*/ 0 w 927100"/>
              <a:gd name="csY0" fmla="*/ 0 h 2209800"/>
              <a:gd name="csX1" fmla="*/ 0 w 927100"/>
              <a:gd name="csY1" fmla="*/ 2146300 h 2209800"/>
              <a:gd name="csX2" fmla="*/ 927100 w 927100"/>
              <a:gd name="csY2" fmla="*/ 2209800 h 2209800"/>
              <a:gd name="csX3" fmla="*/ 901700 w 927100"/>
              <a:gd name="csY3" fmla="*/ 939800 h 2209800"/>
              <a:gd name="csX4" fmla="*/ 0 w 927100"/>
              <a:gd name="csY4" fmla="*/ 114300 h 2209800"/>
              <a:gd name="csX5" fmla="*/ 0 w 927100"/>
              <a:gd name="csY5" fmla="*/ 0 h 2209800"/>
            </a:gdLst>
            <a:ahLst/>
            <a:cxnLst>
              <a:cxn ang="0">
                <a:pos x="csX0" y="csY0"/>
              </a:cxn>
              <a:cxn ang="0">
                <a:pos x="csX1" y="csY1"/>
              </a:cxn>
              <a:cxn ang="0">
                <a:pos x="csX2" y="csY2"/>
              </a:cxn>
              <a:cxn ang="0">
                <a:pos x="csX3" y="csY3"/>
              </a:cxn>
              <a:cxn ang="0">
                <a:pos x="csX4" y="csY4"/>
              </a:cxn>
              <a:cxn ang="0">
                <a:pos x="csX5" y="csY5"/>
              </a:cxn>
            </a:cxnLst>
            <a:rect l="l" t="t" r="r" b="b"/>
            <a:pathLst>
              <a:path w="927100" h="2209800">
                <a:moveTo>
                  <a:pt x="0" y="0"/>
                </a:moveTo>
                <a:lnTo>
                  <a:pt x="0" y="2146300"/>
                </a:lnTo>
                <a:lnTo>
                  <a:pt x="927100" y="2209800"/>
                </a:lnTo>
                <a:lnTo>
                  <a:pt x="901700" y="939800"/>
                </a:lnTo>
                <a:lnTo>
                  <a:pt x="0" y="114300"/>
                </a:lnTo>
                <a:lnTo>
                  <a:pt x="0" y="0"/>
                </a:lnTo>
                <a:close/>
              </a:path>
            </a:pathLst>
          </a:cu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CS</a:t>
            </a:r>
          </a:p>
        </p:txBody>
      </p:sp>
      <p:sp>
        <p:nvSpPr>
          <p:cNvPr id="14" name="TextBox 13">
            <a:extLst>
              <a:ext uri="{FF2B5EF4-FFF2-40B4-BE49-F238E27FC236}">
                <a16:creationId xmlns:a16="http://schemas.microsoft.com/office/drawing/2014/main" id="{B81F520B-3153-6724-EDEB-B27CC166ADB8}"/>
              </a:ext>
            </a:extLst>
          </p:cNvPr>
          <p:cNvSpPr txBox="1"/>
          <p:nvPr/>
        </p:nvSpPr>
        <p:spPr>
          <a:xfrm>
            <a:off x="7426897" y="4546600"/>
            <a:ext cx="461986" cy="369332"/>
          </a:xfrm>
          <a:prstGeom prst="rect">
            <a:avLst/>
          </a:prstGeom>
          <a:noFill/>
        </p:spPr>
        <p:txBody>
          <a:bodyPr wrap="none" rtlCol="0">
            <a:spAutoFit/>
          </a:bodyPr>
          <a:lstStyle/>
          <a:p>
            <a:r>
              <a:rPr lang="en-US" b="1" dirty="0"/>
              <a:t>PS</a:t>
            </a:r>
          </a:p>
        </p:txBody>
      </p:sp>
    </p:spTree>
    <p:extLst>
      <p:ext uri="{BB962C8B-B14F-4D97-AF65-F5344CB8AC3E}">
        <p14:creationId xmlns:p14="http://schemas.microsoft.com/office/powerpoint/2010/main" val="18227959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92390-7FD7-D860-1572-A334C8C585DD}"/>
              </a:ext>
            </a:extLst>
          </p:cNvPr>
          <p:cNvSpPr>
            <a:spLocks noGrp="1"/>
          </p:cNvSpPr>
          <p:nvPr>
            <p:ph type="title"/>
          </p:nvPr>
        </p:nvSpPr>
        <p:spPr/>
        <p:txBody>
          <a:bodyPr/>
          <a:lstStyle/>
          <a:p>
            <a:r>
              <a:rPr lang="en-US" dirty="0"/>
              <a:t>Government interventions in free market </a:t>
            </a:r>
          </a:p>
        </p:txBody>
      </p:sp>
      <p:sp>
        <p:nvSpPr>
          <p:cNvPr id="3" name="Content Placeholder 2">
            <a:extLst>
              <a:ext uri="{FF2B5EF4-FFF2-40B4-BE49-F238E27FC236}">
                <a16:creationId xmlns:a16="http://schemas.microsoft.com/office/drawing/2014/main" id="{DD757483-26D8-7AF8-B8BE-EFFA85701466}"/>
              </a:ext>
            </a:extLst>
          </p:cNvPr>
          <p:cNvSpPr>
            <a:spLocks noGrp="1"/>
          </p:cNvSpPr>
          <p:nvPr>
            <p:ph idx="1"/>
          </p:nvPr>
        </p:nvSpPr>
        <p:spPr/>
        <p:txBody>
          <a:bodyPr/>
          <a:lstStyle/>
          <a:p>
            <a:r>
              <a:rPr lang="en-US" dirty="0"/>
              <a:t>These policies have good intentions, but they create </a:t>
            </a:r>
            <a:r>
              <a:rPr lang="en-US" b="1" dirty="0"/>
              <a:t>winners</a:t>
            </a:r>
            <a:r>
              <a:rPr lang="en-US" dirty="0"/>
              <a:t> and </a:t>
            </a:r>
            <a:r>
              <a:rPr lang="en-US" b="1" dirty="0"/>
              <a:t>losers</a:t>
            </a:r>
            <a:r>
              <a:rPr lang="en-US" dirty="0"/>
              <a:t>. </a:t>
            </a:r>
          </a:p>
        </p:txBody>
      </p:sp>
      <p:pic>
        <p:nvPicPr>
          <p:cNvPr id="4" name="Picture 3">
            <a:extLst>
              <a:ext uri="{FF2B5EF4-FFF2-40B4-BE49-F238E27FC236}">
                <a16:creationId xmlns:a16="http://schemas.microsoft.com/office/drawing/2014/main" id="{A5ECDD75-3A65-33C4-E44E-04597D094A0A}"/>
              </a:ext>
            </a:extLst>
          </p:cNvPr>
          <p:cNvPicPr>
            <a:picLocks noChangeAspect="1"/>
          </p:cNvPicPr>
          <p:nvPr/>
        </p:nvPicPr>
        <p:blipFill>
          <a:blip r:embed="rId3"/>
          <a:stretch>
            <a:fillRect/>
          </a:stretch>
        </p:blipFill>
        <p:spPr>
          <a:xfrm>
            <a:off x="3281082" y="2564502"/>
            <a:ext cx="4934323" cy="3407559"/>
          </a:xfrm>
          <a:prstGeom prst="rect">
            <a:avLst/>
          </a:prstGeom>
        </p:spPr>
      </p:pic>
    </p:spTree>
    <p:extLst>
      <p:ext uri="{BB962C8B-B14F-4D97-AF65-F5344CB8AC3E}">
        <p14:creationId xmlns:p14="http://schemas.microsoft.com/office/powerpoint/2010/main" val="28046230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9E0-975F-04C9-742C-1F56104CDAB2}"/>
              </a:ext>
            </a:extLst>
          </p:cNvPr>
          <p:cNvSpPr>
            <a:spLocks noGrp="1"/>
          </p:cNvSpPr>
          <p:nvPr>
            <p:ph type="title"/>
          </p:nvPr>
        </p:nvSpPr>
        <p:spPr>
          <a:xfrm>
            <a:off x="838200" y="365125"/>
            <a:ext cx="10515600" cy="765175"/>
          </a:xfrm>
        </p:spPr>
        <p:txBody>
          <a:bodyPr/>
          <a:lstStyle/>
          <a:p>
            <a:r>
              <a:rPr lang="en-US" dirty="0"/>
              <a:t>Example Problem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6CC635A-DD81-7A47-E75C-1DCEF8ABDF03}"/>
                  </a:ext>
                </a:extLst>
              </p:cNvPr>
              <p:cNvSpPr>
                <a:spLocks noGrp="1"/>
              </p:cNvSpPr>
              <p:nvPr>
                <p:ph idx="1"/>
              </p:nvPr>
            </p:nvSpPr>
            <p:spPr/>
            <p:txBody>
              <a:bodyPr>
                <a:normAutofit lnSpcReduction="10000"/>
              </a:bodyPr>
              <a:lstStyle/>
              <a:p>
                <a:pPr marL="0" indent="0">
                  <a:buNone/>
                </a:pPr>
                <a:r>
                  <a:rPr lang="en-US" dirty="0"/>
                  <a:t>Mugabe’s government in Zimbabwe sets a price ceiling on basic food items so that “everyone can afford food.”</a:t>
                </a:r>
              </a:p>
              <a:p>
                <a:r>
                  <a:rPr lang="en-US" dirty="0"/>
                  <a:t>Draw a standard supply and demand diagram for food.</a:t>
                </a:r>
              </a:p>
              <a:p>
                <a:pPr lvl="1"/>
                <a:r>
                  <a:rPr lang="en-US" dirty="0"/>
                  <a:t>Label the equilibrium price </a:t>
                </a:r>
                <a14:m>
                  <m:oMath xmlns:m="http://schemas.openxmlformats.org/officeDocument/2006/math">
                    <m:sSup>
                      <m:sSupPr>
                        <m:ctrlPr>
                          <a:rPr lang="ar-AE"/>
                        </m:ctrlPr>
                      </m:sSupPr>
                      <m:e>
                        <m:r>
                          <a:rPr lang="ar-AE" i="1"/>
                          <m:t>𝑃</m:t>
                        </m:r>
                      </m:e>
                      <m:sup>
                        <m:r>
                          <a:rPr lang="ar-AE"/>
                          <m:t>∗</m:t>
                        </m:r>
                      </m:sup>
                    </m:sSup>
                  </m:oMath>
                </a14:m>
                <a:r>
                  <a:rPr lang="ar-AE" dirty="0"/>
                  <a:t> </a:t>
                </a:r>
                <a:r>
                  <a:rPr lang="en-US" dirty="0"/>
                  <a:t>and quantity </a:t>
                </a:r>
                <a14:m>
                  <m:oMath xmlns:m="http://schemas.openxmlformats.org/officeDocument/2006/math">
                    <m:sSup>
                      <m:sSupPr>
                        <m:ctrlPr>
                          <a:rPr lang="ar-AE"/>
                        </m:ctrlPr>
                      </m:sSupPr>
                      <m:e>
                        <m:r>
                          <a:rPr lang="ar-AE" i="1"/>
                          <m:t>𝑄</m:t>
                        </m:r>
                      </m:e>
                      <m:sup>
                        <m:r>
                          <a:rPr lang="ar-AE"/>
                          <m:t>∗</m:t>
                        </m:r>
                      </m:sup>
                    </m:sSup>
                  </m:oMath>
                </a14:m>
                <a:r>
                  <a:rPr lang="ar-AE" dirty="0"/>
                  <a:t>.</a:t>
                </a:r>
              </a:p>
              <a:p>
                <a:pPr lvl="1"/>
                <a:r>
                  <a:rPr lang="en-US" dirty="0"/>
                  <a:t>Draw a binding price ceiling </a:t>
                </a:r>
                <a14:m>
                  <m:oMath xmlns:m="http://schemas.openxmlformats.org/officeDocument/2006/math">
                    <m:sSub>
                      <m:sSubPr>
                        <m:ctrlPr>
                          <a:rPr lang="ar-AE"/>
                        </m:ctrlPr>
                      </m:sSubPr>
                      <m:e>
                        <m:r>
                          <a:rPr lang="ar-AE" i="1"/>
                          <m:t>𝑃</m:t>
                        </m:r>
                      </m:e>
                      <m:sub>
                        <m:r>
                          <a:rPr lang="ar-AE" i="1"/>
                          <m:t>𝑐</m:t>
                        </m:r>
                      </m:sub>
                    </m:sSub>
                  </m:oMath>
                </a14:m>
                <a:r>
                  <a:rPr lang="ar-AE" dirty="0"/>
                  <a:t> </a:t>
                </a:r>
                <a:r>
                  <a:rPr lang="en-US" dirty="0"/>
                  <a:t>below </a:t>
                </a:r>
                <a14:m>
                  <m:oMath xmlns:m="http://schemas.openxmlformats.org/officeDocument/2006/math">
                    <m:sSup>
                      <m:sSupPr>
                        <m:ctrlPr>
                          <a:rPr lang="ar-AE"/>
                        </m:ctrlPr>
                      </m:sSupPr>
                      <m:e>
                        <m:r>
                          <a:rPr lang="ar-AE" i="1"/>
                          <m:t>𝑃</m:t>
                        </m:r>
                      </m:e>
                      <m:sup>
                        <m:r>
                          <a:rPr lang="ar-AE"/>
                          <m:t>∗</m:t>
                        </m:r>
                      </m:sup>
                    </m:sSup>
                  </m:oMath>
                </a14:m>
                <a:r>
                  <a:rPr lang="ar-AE" dirty="0"/>
                  <a:t>.</a:t>
                </a:r>
              </a:p>
              <a:p>
                <a:pPr lvl="1"/>
                <a:r>
                  <a:rPr lang="en-US" dirty="0"/>
                  <a:t>At </a:t>
                </a:r>
                <a14:m>
                  <m:oMath xmlns:m="http://schemas.openxmlformats.org/officeDocument/2006/math">
                    <m:sSub>
                      <m:sSubPr>
                        <m:ctrlPr>
                          <a:rPr lang="ar-AE"/>
                        </m:ctrlPr>
                      </m:sSubPr>
                      <m:e>
                        <m:r>
                          <a:rPr lang="ar-AE" i="1"/>
                          <m:t>𝑃</m:t>
                        </m:r>
                      </m:e>
                      <m:sub>
                        <m:r>
                          <a:rPr lang="ar-AE" i="1"/>
                          <m:t>𝑐</m:t>
                        </m:r>
                      </m:sub>
                    </m:sSub>
                  </m:oMath>
                </a14:m>
                <a:r>
                  <a:rPr lang="ar-AE" dirty="0"/>
                  <a:t>, </a:t>
                </a:r>
                <a:r>
                  <a:rPr lang="en-US" dirty="0"/>
                  <a:t>mark the quantity supplied </a:t>
                </a:r>
                <a14:m>
                  <m:oMath xmlns:m="http://schemas.openxmlformats.org/officeDocument/2006/math">
                    <m:sSub>
                      <m:sSubPr>
                        <m:ctrlPr>
                          <a:rPr lang="ar-AE"/>
                        </m:ctrlPr>
                      </m:sSubPr>
                      <m:e>
                        <m:r>
                          <a:rPr lang="ar-AE" i="1"/>
                          <m:t>𝑄</m:t>
                        </m:r>
                      </m:e>
                      <m:sub>
                        <m:r>
                          <a:rPr lang="ar-AE" i="1"/>
                          <m:t>𝑠</m:t>
                        </m:r>
                      </m:sub>
                    </m:sSub>
                  </m:oMath>
                </a14:m>
                <a:r>
                  <a:rPr lang="ar-AE" dirty="0"/>
                  <a:t> (</a:t>
                </a:r>
                <a:r>
                  <a:rPr lang="en-US" dirty="0"/>
                  <a:t>on the supply curve and the quantity demanded </a:t>
                </a:r>
                <a14:m>
                  <m:oMath xmlns:m="http://schemas.openxmlformats.org/officeDocument/2006/math">
                    <m:sSub>
                      <m:sSubPr>
                        <m:ctrlPr>
                          <a:rPr lang="ar-AE"/>
                        </m:ctrlPr>
                      </m:sSubPr>
                      <m:e>
                        <m:r>
                          <a:rPr lang="ar-AE" i="1"/>
                          <m:t>𝑄</m:t>
                        </m:r>
                      </m:e>
                      <m:sub>
                        <m:r>
                          <a:rPr lang="ar-AE" i="1"/>
                          <m:t>𝑑</m:t>
                        </m:r>
                      </m:sub>
                    </m:sSub>
                  </m:oMath>
                </a14:m>
                <a:r>
                  <a:rPr lang="ar-AE" dirty="0"/>
                  <a:t> (</a:t>
                </a:r>
                <a:r>
                  <a:rPr lang="en-US" dirty="0"/>
                  <a:t>on the demand curve.</a:t>
                </a:r>
              </a:p>
              <a:p>
                <a:pPr lvl="1"/>
                <a:r>
                  <a:rPr lang="en-US" dirty="0"/>
                  <a:t>Clearly label the shortage as the horizontal gap between </a:t>
                </a:r>
                <a14:m>
                  <m:oMath xmlns:m="http://schemas.openxmlformats.org/officeDocument/2006/math">
                    <m:sSub>
                      <m:sSubPr>
                        <m:ctrlPr>
                          <a:rPr lang="ar-AE"/>
                        </m:ctrlPr>
                      </m:sSubPr>
                      <m:e>
                        <m:r>
                          <a:rPr lang="ar-AE" i="1"/>
                          <m:t>𝑄</m:t>
                        </m:r>
                      </m:e>
                      <m:sub>
                        <m:r>
                          <a:rPr lang="ar-AE" i="1"/>
                          <m:t>𝑠</m:t>
                        </m:r>
                      </m:sub>
                    </m:sSub>
                  </m:oMath>
                </a14:m>
                <a:r>
                  <a:rPr lang="ar-AE" dirty="0"/>
                  <a:t> </a:t>
                </a:r>
                <a:r>
                  <a:rPr lang="en-US" dirty="0"/>
                  <a:t>and </a:t>
                </a:r>
                <a14:m>
                  <m:oMath xmlns:m="http://schemas.openxmlformats.org/officeDocument/2006/math">
                    <m:sSub>
                      <m:sSubPr>
                        <m:ctrlPr>
                          <a:rPr lang="ar-AE"/>
                        </m:ctrlPr>
                      </m:sSubPr>
                      <m:e>
                        <m:r>
                          <a:rPr lang="ar-AE" i="1"/>
                          <m:t>𝑄</m:t>
                        </m:r>
                      </m:e>
                      <m:sub>
                        <m:r>
                          <a:rPr lang="ar-AE" i="1"/>
                          <m:t>𝑑</m:t>
                        </m:r>
                      </m:sub>
                    </m:sSub>
                  </m:oMath>
                </a14:m>
                <a:r>
                  <a:rPr lang="ar-AE" dirty="0"/>
                  <a:t>.</a:t>
                </a:r>
                <a:endParaRPr lang="en-US" dirty="0"/>
              </a:p>
              <a:p>
                <a:pPr lvl="1"/>
                <a:r>
                  <a:rPr lang="en-US" dirty="0"/>
                  <a:t>Show CS, PS, and DWL </a:t>
                </a:r>
                <a:endParaRPr lang="ar-AE" dirty="0"/>
              </a:p>
              <a:p>
                <a:r>
                  <a:rPr lang="en-US" dirty="0"/>
                  <a:t>In one sentence, explain why this policy can lead to empty shelves, even though the official price of food is now lower.</a:t>
                </a:r>
              </a:p>
              <a:p>
                <a:endParaRPr lang="en-US" dirty="0"/>
              </a:p>
            </p:txBody>
          </p:sp>
        </mc:Choice>
        <mc:Fallback>
          <p:sp>
            <p:nvSpPr>
              <p:cNvPr id="3" name="Content Placeholder 2">
                <a:extLst>
                  <a:ext uri="{FF2B5EF4-FFF2-40B4-BE49-F238E27FC236}">
                    <a16:creationId xmlns:a16="http://schemas.microsoft.com/office/drawing/2014/main" id="{E6CC635A-DD81-7A47-E75C-1DCEF8ABDF03}"/>
                  </a:ext>
                </a:extLst>
              </p:cNvPr>
              <p:cNvSpPr>
                <a:spLocks noGrp="1" noRot="1" noChangeAspect="1" noMove="1" noResize="1" noEditPoints="1" noAdjustHandles="1" noChangeArrowheads="1" noChangeShapeType="1" noTextEdit="1"/>
              </p:cNvSpPr>
              <p:nvPr>
                <p:ph idx="1"/>
              </p:nvPr>
            </p:nvSpPr>
            <p:spPr>
              <a:blipFill>
                <a:blip r:embed="rId3"/>
                <a:stretch>
                  <a:fillRect l="-1217" t="-3081" r="-1043"/>
                </a:stretch>
              </a:blipFill>
            </p:spPr>
            <p:txBody>
              <a:bodyPr/>
              <a:lstStyle/>
              <a:p>
                <a:r>
                  <a:rPr lang="en-US">
                    <a:noFill/>
                  </a:rPr>
                  <a:t> </a:t>
                </a:r>
              </a:p>
            </p:txBody>
          </p:sp>
        </mc:Fallback>
      </mc:AlternateContent>
    </p:spTree>
    <p:extLst>
      <p:ext uri="{BB962C8B-B14F-4D97-AF65-F5344CB8AC3E}">
        <p14:creationId xmlns:p14="http://schemas.microsoft.com/office/powerpoint/2010/main" val="1634467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0002a9b-0017-404d-97dc-3d3bab09be81}" enabled="0" method="" siteId="{b0002a9b-0017-404d-97dc-3d3bab09be81}" removed="1"/>
</clbl:labelList>
</file>

<file path=docProps/app.xml><?xml version="1.0" encoding="utf-8"?>
<Properties xmlns="http://schemas.openxmlformats.org/officeDocument/2006/extended-properties" xmlns:vt="http://schemas.openxmlformats.org/officeDocument/2006/docPropsVTypes">
  <Template/>
  <TotalTime>911</TotalTime>
  <Words>4406</Words>
  <Application>Microsoft Office PowerPoint</Application>
  <PresentationFormat>Widescreen</PresentationFormat>
  <Paragraphs>429</Paragraphs>
  <Slides>52</Slides>
  <Notes>24</Notes>
  <HiddenSlides>4</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0" baseType="lpstr">
      <vt:lpstr>Aptos</vt:lpstr>
      <vt:lpstr>Aptos Display</vt:lpstr>
      <vt:lpstr>Arial</vt:lpstr>
      <vt:lpstr>Calibri</vt:lpstr>
      <vt:lpstr>Cambria Math</vt:lpstr>
      <vt:lpstr>Wingdings</vt:lpstr>
      <vt:lpstr>Office Theme</vt:lpstr>
      <vt:lpstr>Microsoft Excel Binary Worksheet</vt:lpstr>
      <vt:lpstr>Week 4: Market Analysis </vt:lpstr>
      <vt:lpstr>Announcements </vt:lpstr>
      <vt:lpstr>Today’s Outline </vt:lpstr>
      <vt:lpstr>HW 1 Review </vt:lpstr>
      <vt:lpstr>HW 1 Review </vt:lpstr>
      <vt:lpstr>HW 1 Review </vt:lpstr>
      <vt:lpstr>HW 1 Review </vt:lpstr>
      <vt:lpstr>PowerPoint Presentation</vt:lpstr>
      <vt:lpstr>Last Class Review </vt:lpstr>
      <vt:lpstr>Last Class Review </vt:lpstr>
      <vt:lpstr>Last Class Review </vt:lpstr>
      <vt:lpstr>PowerPoint Presentation</vt:lpstr>
      <vt:lpstr>Last Class Review </vt:lpstr>
      <vt:lpstr>Last Class Review </vt:lpstr>
      <vt:lpstr>Example problems</vt:lpstr>
      <vt:lpstr>Example problems</vt:lpstr>
      <vt:lpstr>Example problem 1</vt:lpstr>
      <vt:lpstr>Example problem 1</vt:lpstr>
      <vt:lpstr>One step further</vt:lpstr>
      <vt:lpstr>Example Problem 2</vt:lpstr>
      <vt:lpstr>Example Problem 2</vt:lpstr>
      <vt:lpstr>Example problem 3 </vt:lpstr>
      <vt:lpstr>Example Problem 3</vt:lpstr>
      <vt:lpstr>Example Problem 3</vt:lpstr>
      <vt:lpstr>Example Problem 3</vt:lpstr>
      <vt:lpstr>Example Problem 3</vt:lpstr>
      <vt:lpstr>Example Problem 3</vt:lpstr>
      <vt:lpstr>Example Problem 3</vt:lpstr>
      <vt:lpstr>Break, Questions  </vt:lpstr>
      <vt:lpstr>Market Analysis</vt:lpstr>
      <vt:lpstr>Comparative Statics </vt:lpstr>
      <vt:lpstr>Comparative Statics – French report example</vt:lpstr>
      <vt:lpstr>Comparative Statics – El Niño example </vt:lpstr>
      <vt:lpstr>Price conveys information </vt:lpstr>
      <vt:lpstr>Market Structures</vt:lpstr>
      <vt:lpstr>Market Power </vt:lpstr>
      <vt:lpstr>Perfectly Competitive Market</vt:lpstr>
      <vt:lpstr>Perfectly Competitive Market</vt:lpstr>
      <vt:lpstr>Perfectly Competitive Market</vt:lpstr>
      <vt:lpstr>Perfectly Competitive Market</vt:lpstr>
      <vt:lpstr>Perfectly Competitive Market</vt:lpstr>
      <vt:lpstr>Who benefits in a perfectly competitive market?</vt:lpstr>
      <vt:lpstr>Who benefits in a perfectly competitive market?</vt:lpstr>
      <vt:lpstr>Who benefits in a perfectly competitive market?</vt:lpstr>
      <vt:lpstr>PowerPoint Presentation</vt:lpstr>
      <vt:lpstr>Government interventions in free market </vt:lpstr>
      <vt:lpstr>Government interventions in free market </vt:lpstr>
      <vt:lpstr>Government interventions in free market </vt:lpstr>
      <vt:lpstr>Government interventions in free market </vt:lpstr>
      <vt:lpstr>Government interventions in free market </vt:lpstr>
      <vt:lpstr>Government interventions in free market </vt:lpstr>
      <vt:lpstr>Example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Boualam, Nada</dc:creator>
  <cp:lastModifiedBy>Boualam, Nada</cp:lastModifiedBy>
  <cp:revision>3</cp:revision>
  <dcterms:created xsi:type="dcterms:W3CDTF">2026-02-10T22:04:15Z</dcterms:created>
  <dcterms:modified xsi:type="dcterms:W3CDTF">2026-02-11T21:47:20Z</dcterms:modified>
</cp:coreProperties>
</file>