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1"/>
  </p:notesMasterIdLst>
  <p:sldIdLst>
    <p:sldId id="256" r:id="rId2"/>
    <p:sldId id="257" r:id="rId3"/>
    <p:sldId id="258" r:id="rId4"/>
    <p:sldId id="259" r:id="rId5"/>
    <p:sldId id="260" r:id="rId6"/>
    <p:sldId id="261" r:id="rId7"/>
    <p:sldId id="262" r:id="rId8"/>
    <p:sldId id="263" r:id="rId9"/>
    <p:sldId id="274" r:id="rId10"/>
    <p:sldId id="275" r:id="rId11"/>
    <p:sldId id="276" r:id="rId12"/>
    <p:sldId id="264" r:id="rId13"/>
    <p:sldId id="265" r:id="rId14"/>
    <p:sldId id="266" r:id="rId15"/>
    <p:sldId id="267" r:id="rId16"/>
    <p:sldId id="268" r:id="rId17"/>
    <p:sldId id="269" r:id="rId18"/>
    <p:sldId id="270" r:id="rId19"/>
    <p:sldId id="271" r:id="rId20"/>
    <p:sldId id="272" r:id="rId21"/>
    <p:sldId id="273" r:id="rId22"/>
    <p:sldId id="277" r:id="rId23"/>
    <p:sldId id="310" r:id="rId24"/>
    <p:sldId id="278" r:id="rId25"/>
    <p:sldId id="279" r:id="rId26"/>
    <p:sldId id="280" r:id="rId27"/>
    <p:sldId id="311" r:id="rId28"/>
    <p:sldId id="284" r:id="rId29"/>
    <p:sldId id="282" r:id="rId30"/>
    <p:sldId id="283" r:id="rId31"/>
    <p:sldId id="285" r:id="rId32"/>
    <p:sldId id="286" r:id="rId33"/>
    <p:sldId id="287" r:id="rId34"/>
    <p:sldId id="313"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12" r:id="rId49"/>
    <p:sldId id="301" r:id="rId50"/>
    <p:sldId id="302" r:id="rId51"/>
    <p:sldId id="303" r:id="rId52"/>
    <p:sldId id="304" r:id="rId53"/>
    <p:sldId id="305" r:id="rId54"/>
    <p:sldId id="281" r:id="rId55"/>
    <p:sldId id="307" r:id="rId56"/>
    <p:sldId id="308" r:id="rId57"/>
    <p:sldId id="306" r:id="rId58"/>
    <p:sldId id="315" r:id="rId59"/>
    <p:sldId id="309" r:id="rId60"/>
  </p:sldIdLst>
  <p:sldSz cx="9144000" cy="5143500" type="screen16x9"/>
  <p:notesSz cx="6858000" cy="9144000"/>
  <p:embeddedFontLst>
    <p:embeddedFont>
      <p:font typeface="Roboto" panose="02000000000000000000" pitchFamily="2" charset="0"/>
      <p:regular r:id="rId62"/>
      <p:bold r:id="rId63"/>
      <p:italic r:id="rId64"/>
      <p:boldItalic r:id="rId65"/>
    </p:embeddedFont>
    <p:embeddedFont>
      <p:font typeface="Segoe UI" panose="020B0502040204020203" pitchFamily="34"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503" autoAdjust="0"/>
  </p:normalViewPr>
  <p:slideViewPr>
    <p:cSldViewPr snapToGrid="0">
      <p:cViewPr varScale="1">
        <p:scale>
          <a:sx n="87" d="100"/>
          <a:sy n="87" d="100"/>
        </p:scale>
        <p:origin x="1050"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4.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ualam, Nada" userId="68c0d37a-60f5-4490-82a0-b0c7ba155ae3" providerId="ADAL" clId="{4F6877C9-4117-4B70-B69F-BDC9E071DE40}"/>
    <pc:docChg chg="custSel modSld sldOrd">
      <pc:chgData name="Boualam, Nada" userId="68c0d37a-60f5-4490-82a0-b0c7ba155ae3" providerId="ADAL" clId="{4F6877C9-4117-4B70-B69F-BDC9E071DE40}" dt="2026-01-28T16:36:33.540" v="30" actId="20577"/>
      <pc:docMkLst>
        <pc:docMk/>
      </pc:docMkLst>
      <pc:sldChg chg="delSp modSp mod ord">
        <pc:chgData name="Boualam, Nada" userId="68c0d37a-60f5-4490-82a0-b0c7ba155ae3" providerId="ADAL" clId="{4F6877C9-4117-4B70-B69F-BDC9E071DE40}" dt="2026-01-28T16:36:33.540" v="30" actId="20577"/>
        <pc:sldMkLst>
          <pc:docMk/>
          <pc:sldMk cId="0" sldId="283"/>
        </pc:sldMkLst>
        <pc:spChg chg="mod">
          <ac:chgData name="Boualam, Nada" userId="68c0d37a-60f5-4490-82a0-b0c7ba155ae3" providerId="ADAL" clId="{4F6877C9-4117-4B70-B69F-BDC9E071DE40}" dt="2026-01-28T16:36:33.540" v="30" actId="20577"/>
          <ac:spMkLst>
            <pc:docMk/>
            <pc:sldMk cId="0" sldId="283"/>
            <ac:spMk id="242" creationId="{00000000-0000-0000-0000-000000000000}"/>
          </ac:spMkLst>
        </pc:spChg>
        <pc:picChg chg="del">
          <ac:chgData name="Boualam, Nada" userId="68c0d37a-60f5-4490-82a0-b0c7ba155ae3" providerId="ADAL" clId="{4F6877C9-4117-4B70-B69F-BDC9E071DE40}" dt="2026-01-28T16:36:27.739" v="5" actId="478"/>
          <ac:picMkLst>
            <pc:docMk/>
            <pc:sldMk cId="0" sldId="283"/>
            <ac:picMk id="243" creationId="{00000000-0000-0000-0000-000000000000}"/>
          </ac:picMkLst>
        </pc:picChg>
        <pc:picChg chg="mod modCrop">
          <ac:chgData name="Boualam, Nada" userId="68c0d37a-60f5-4490-82a0-b0c7ba155ae3" providerId="ADAL" clId="{4F6877C9-4117-4B70-B69F-BDC9E071DE40}" dt="2026-01-28T16:36:23.753" v="4" actId="732"/>
          <ac:picMkLst>
            <pc:docMk/>
            <pc:sldMk cId="0" sldId="283"/>
            <ac:picMk id="245" creationId="{00000000-0000-0000-0000-000000000000}"/>
          </ac:picMkLst>
        </pc:picChg>
      </pc:sldChg>
      <pc:sldChg chg="mod modShow">
        <pc:chgData name="Boualam, Nada" userId="68c0d37a-60f5-4490-82a0-b0c7ba155ae3" providerId="ADAL" clId="{4F6877C9-4117-4B70-B69F-BDC9E071DE40}" dt="2026-01-28T16:32:14.102" v="0" actId="729"/>
        <pc:sldMkLst>
          <pc:docMk/>
          <pc:sldMk cId="0" sldId="3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b91882159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91882159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ba373668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ba373668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bdece8c470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bdece8c47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dece8c4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dece8c4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ba47b72d0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ba47b72d0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point A, you have to give up 0.5 white wine to get 1 red wine → opportunity cost of red wine is 0.5 white wine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At point B, you have to give up 2 bottles of white wine to get 1 red wine → opportunity cost of white wine is 2 red wine </a:t>
            </a:r>
          </a:p>
          <a:p>
            <a:pPr marL="0" lvl="0" indent="0" algn="l" rtl="0">
              <a:spcBef>
                <a:spcPts val="0"/>
              </a:spcBef>
              <a:spcAft>
                <a:spcPts val="0"/>
              </a:spcAft>
              <a:buNone/>
            </a:pPr>
            <a:endParaRPr lang="en" dirty="0"/>
          </a:p>
          <a:p>
            <a:pPr marL="0" lvl="0" indent="0" algn="l" rtl="0">
              <a:spcBef>
                <a:spcPts val="0"/>
              </a:spcBef>
              <a:spcAft>
                <a:spcPts val="0"/>
              </a:spcAft>
              <a:buNone/>
            </a:pPr>
            <a:r>
              <a:rPr lang="en-US" dirty="0"/>
              <a:t>Y</a:t>
            </a:r>
            <a:r>
              <a:rPr lang="en" dirty="0"/>
              <a:t>ou have to give up more and more white wine to get red wine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bdece8c470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bdece8c47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dece8c47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dece8c47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(given their constraints)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bdece8c470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bdece8c470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US" dirty="0"/>
              <a:t>allow us to discuss a consumer’s preference over 2 goods</a:t>
            </a:r>
          </a:p>
          <a:p>
            <a:pPr marL="0" lvl="0" indent="0" algn="l" rtl="0">
              <a:spcBef>
                <a:spcPts val="1200"/>
              </a:spcBef>
              <a:spcAft>
                <a:spcPts val="0"/>
              </a:spcAft>
              <a:buClr>
                <a:schemeClr val="dk1"/>
              </a:buClr>
              <a:buSzPts val="1100"/>
              <a:buFont typeface="Arial"/>
              <a:buNone/>
            </a:pPr>
            <a:endParaRPr lang="en-US" dirty="0"/>
          </a:p>
          <a:p>
            <a:pPr marL="0" lvl="0" indent="0" algn="l" rtl="0">
              <a:spcBef>
                <a:spcPts val="1200"/>
              </a:spcBef>
              <a:spcAft>
                <a:spcPts val="0"/>
              </a:spcAft>
              <a:buClr>
                <a:schemeClr val="dk1"/>
              </a:buClr>
              <a:buSzPts val="1100"/>
              <a:buFont typeface="Arial"/>
              <a:buNone/>
            </a:pPr>
            <a:endParaRPr lang="en-US" dirty="0"/>
          </a:p>
          <a:p>
            <a:pPr marL="0" lvl="0" indent="0" algn="l" rtl="0">
              <a:spcBef>
                <a:spcPts val="1200"/>
              </a:spcBef>
              <a:spcAft>
                <a:spcPts val="0"/>
              </a:spcAft>
              <a:buClr>
                <a:schemeClr val="dk1"/>
              </a:buClr>
              <a:buSzPts val="1100"/>
              <a:buFont typeface="Arial"/>
              <a:buNone/>
            </a:pPr>
            <a:r>
              <a:rPr lang="en-US" sz="1100" b="0" i="0" u="none" strike="noStrike" cap="none" dirty="0">
                <a:solidFill>
                  <a:srgbClr val="000000"/>
                </a:solidFill>
                <a:effectLst/>
                <a:latin typeface="Arial"/>
                <a:ea typeface="Arial"/>
                <a:cs typeface="Arial"/>
                <a:sym typeface="Arial"/>
              </a:rPr>
              <a:t>Indifference curves represent bundles of two goods that give the consumer the same utility. They are bowed in because we usually assume a “preference for variety” or strictly convex preferences: people like balanced bundles and have a diminishing marginal rate of substitution (MRS).</a:t>
            </a:r>
          </a:p>
          <a:p>
            <a:pPr marL="0" lvl="0" indent="0" algn="l" rtl="0">
              <a:spcBef>
                <a:spcPts val="1200"/>
              </a:spcBef>
              <a:spcAft>
                <a:spcPts val="0"/>
              </a:spcAft>
              <a:buClr>
                <a:schemeClr val="dk1"/>
              </a:buClr>
              <a:buSzPts val="1100"/>
              <a:buFont typeface="Arial"/>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US" sz="1100" b="0" i="0" u="none" strike="noStrike" cap="none" dirty="0">
                <a:solidFill>
                  <a:srgbClr val="000000"/>
                </a:solidFill>
                <a:effectLst/>
                <a:latin typeface="Arial"/>
                <a:ea typeface="Arial"/>
                <a:cs typeface="Arial"/>
                <a:sym typeface="Arial"/>
              </a:rPr>
              <a:t>A PPF shows the maximum combinations of two goods the economy can produce with given resources and technology. The usual bowed‑out shape reflects increasing opportunity cost: resources are not equally well‑suited to producing both goods.</a:t>
            </a:r>
          </a:p>
          <a:p>
            <a:pPr marL="0" lvl="0" indent="0" algn="l" rtl="0">
              <a:spcBef>
                <a:spcPts val="1200"/>
              </a:spcBef>
              <a:spcAft>
                <a:spcPts val="0"/>
              </a:spcAft>
              <a:buClr>
                <a:schemeClr val="dk1"/>
              </a:buClr>
              <a:buSzPts val="1100"/>
              <a:buFont typeface="Arial"/>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US" sz="1100" b="0" i="0" u="none" strike="noStrike" cap="none" dirty="0">
                <a:solidFill>
                  <a:srgbClr val="000000"/>
                </a:solidFill>
                <a:effectLst/>
                <a:latin typeface="Arial"/>
                <a:ea typeface="Arial"/>
                <a:cs typeface="Arial"/>
                <a:sym typeface="Arial"/>
              </a:rPr>
              <a:t>As you produce more of good A, you must pull in resources that are progressively less efficient at making A and better at making B, so you give up larger and larger amounts of B for each extra unit of A.</a:t>
            </a:r>
          </a:p>
          <a:p>
            <a:pPr marL="0" lvl="0" indent="0" algn="l" rtl="0">
              <a:spcBef>
                <a:spcPts val="1200"/>
              </a:spcBef>
              <a:spcAft>
                <a:spcPts val="0"/>
              </a:spcAft>
              <a:buClr>
                <a:schemeClr val="dk1"/>
              </a:buClr>
              <a:buSzPts val="1100"/>
              <a:buFont typeface="Arial"/>
              <a:buNone/>
            </a:pP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bdece8c470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bdece8c470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bdece8c470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bdece8c470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Simplistic, but powerful tool: replace tea with “soda” and coffee with “candy bar.” </a:t>
            </a:r>
            <a:r>
              <a:rPr lang="en" b="1">
                <a:solidFill>
                  <a:schemeClr val="dk1"/>
                </a:solidFill>
              </a:rPr>
              <a:t>Soda tax</a:t>
            </a:r>
            <a:r>
              <a:rPr lang="en">
                <a:solidFill>
                  <a:schemeClr val="dk1"/>
                </a:solidFill>
              </a:rPr>
              <a:t> goes in place, increases price of soda, shifts budget. Consume less soda – this is intended effect – but consume more candy! </a:t>
            </a:r>
            <a:r>
              <a:rPr lang="en" b="1">
                <a:solidFill>
                  <a:schemeClr val="dk1"/>
                </a:solidFill>
              </a:rPr>
              <a:t>Law of unintended consequences</a:t>
            </a:r>
            <a:r>
              <a:rPr lang="en">
                <a:solidFill>
                  <a:schemeClr val="dk1"/>
                </a:solidFill>
              </a:rPr>
              <a:t>. Empirical question, but evidence thus far shows that soda taxes have done just this.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dece8c47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dece8c47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dece8c47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dece8c47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Most medical care are services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bdece8c470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bdece8c470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bdece8c470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bdece8c470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dirty="0">
              <a:solidFill>
                <a:schemeClr val="dk1"/>
              </a:solidFill>
              <a:latin typeface="Roboto"/>
              <a:ea typeface="Roboto"/>
              <a:cs typeface="Roboto"/>
              <a:sym typeface="Roboto"/>
            </a:endParaRPr>
          </a:p>
          <a:p>
            <a:pPr marL="457200" lvl="0" indent="-304800" algn="l" rtl="0">
              <a:lnSpc>
                <a:spcPct val="115000"/>
              </a:lnSpc>
              <a:spcBef>
                <a:spcPts val="1200"/>
              </a:spcBef>
              <a:spcAft>
                <a:spcPts val="0"/>
              </a:spcAft>
              <a:buClr>
                <a:schemeClr val="dk1"/>
              </a:buClr>
              <a:buSzPts val="1200"/>
              <a:buFont typeface="Roboto"/>
              <a:buAutoNum type="arabicPeriod"/>
            </a:pPr>
            <a:r>
              <a:rPr lang="en" sz="1200" dirty="0">
                <a:solidFill>
                  <a:schemeClr val="dk1"/>
                </a:solidFill>
                <a:latin typeface="Roboto"/>
                <a:ea typeface="Roboto"/>
                <a:cs typeface="Roboto"/>
                <a:sym typeface="Roboto"/>
              </a:rPr>
              <a:t>Consumption value – directly yields utility (you feel better when healthier)</a:t>
            </a:r>
            <a:endParaRPr sz="1200" dirty="0">
              <a:solidFill>
                <a:schemeClr val="dk1"/>
              </a:solidFill>
              <a:latin typeface="Roboto"/>
              <a:ea typeface="Roboto"/>
              <a:cs typeface="Roboto"/>
              <a:sym typeface="Roboto"/>
            </a:endParaRPr>
          </a:p>
          <a:p>
            <a:pPr marL="457200" lvl="0" indent="-304800" algn="l" rtl="0">
              <a:lnSpc>
                <a:spcPct val="115000"/>
              </a:lnSpc>
              <a:spcBef>
                <a:spcPts val="0"/>
              </a:spcBef>
              <a:spcAft>
                <a:spcPts val="0"/>
              </a:spcAft>
              <a:buClr>
                <a:schemeClr val="dk1"/>
              </a:buClr>
              <a:buSzPts val="1200"/>
              <a:buFont typeface="Roboto"/>
              <a:buAutoNum type="arabicPeriod"/>
            </a:pPr>
            <a:r>
              <a:rPr lang="en" sz="1200" dirty="0">
                <a:solidFill>
                  <a:schemeClr val="dk1"/>
                </a:solidFill>
                <a:latin typeface="Roboto"/>
                <a:ea typeface="Roboto"/>
                <a:cs typeface="Roboto"/>
                <a:sym typeface="Roboto"/>
              </a:rPr>
              <a:t>Investment value – increases earnings by enabling more productive work time</a:t>
            </a:r>
            <a:endParaRPr sz="12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1200" dirty="0">
              <a:solidFill>
                <a:schemeClr val="dk1"/>
              </a:solidFill>
              <a:latin typeface="Roboto"/>
              <a:ea typeface="Roboto"/>
              <a:cs typeface="Roboto"/>
              <a:sym typeface="Roboto"/>
            </a:endParaRPr>
          </a:p>
          <a:p>
            <a:pPr marL="0" lvl="0" indent="0" algn="l" rtl="0">
              <a:lnSpc>
                <a:spcPct val="115000"/>
              </a:lnSpc>
              <a:spcBef>
                <a:spcPts val="1200"/>
              </a:spcBef>
              <a:spcAft>
                <a:spcPts val="1200"/>
              </a:spcAft>
              <a:buClr>
                <a:schemeClr val="dk1"/>
              </a:buClr>
              <a:buSzPts val="1100"/>
              <a:buFont typeface="Arial"/>
              <a:buNone/>
            </a:pPr>
            <a:r>
              <a:rPr lang="en" sz="1200" dirty="0">
                <a:solidFill>
                  <a:schemeClr val="dk1"/>
                </a:solidFill>
                <a:latin typeface="Roboto"/>
                <a:ea typeface="Roboto"/>
                <a:cs typeface="Roboto"/>
                <a:sym typeface="Roboto"/>
              </a:rPr>
              <a:t>As depreciation accelerates, optimal health stock falls.</a:t>
            </a:r>
          </a:p>
          <a:p>
            <a:pPr marL="0" lvl="0" indent="0" algn="l" rtl="0">
              <a:lnSpc>
                <a:spcPct val="115000"/>
              </a:lnSpc>
              <a:spcBef>
                <a:spcPts val="1200"/>
              </a:spcBef>
              <a:spcAft>
                <a:spcPts val="1200"/>
              </a:spcAft>
              <a:buClr>
                <a:schemeClr val="dk1"/>
              </a:buClr>
              <a:buSzPts val="1100"/>
              <a:buFont typeface="Arial"/>
              <a:buNone/>
            </a:pPr>
            <a:endParaRPr lang="en" sz="1200" dirty="0">
              <a:solidFill>
                <a:schemeClr val="dk1"/>
              </a:solidFill>
              <a:latin typeface="Roboto"/>
              <a:ea typeface="Roboto"/>
              <a:cs typeface="Roboto"/>
              <a:sym typeface="Roboto"/>
            </a:endParaRPr>
          </a:p>
          <a:p>
            <a:pPr marL="0" lvl="0" indent="0" algn="l" rtl="0">
              <a:lnSpc>
                <a:spcPct val="115000"/>
              </a:lnSpc>
              <a:spcBef>
                <a:spcPts val="1200"/>
              </a:spcBef>
              <a:spcAft>
                <a:spcPts val="1200"/>
              </a:spcAft>
              <a:buClr>
                <a:schemeClr val="dk1"/>
              </a:buClr>
              <a:buSzPts val="1100"/>
              <a:buFont typeface="Arial"/>
              <a:buNone/>
            </a:pPr>
            <a:r>
              <a:rPr lang="en" sz="1200" dirty="0">
                <a:solidFill>
                  <a:schemeClr val="dk1"/>
                </a:solidFill>
                <a:latin typeface="Roboto"/>
                <a:ea typeface="Roboto"/>
                <a:cs typeface="Roboto"/>
                <a:sym typeface="Roboto"/>
              </a:rPr>
              <a:t>Same as I said before, re: law of diminishing returns </a:t>
            </a:r>
          </a:p>
          <a:p>
            <a:pPr marL="0" lvl="0" indent="0" algn="l" rtl="0">
              <a:lnSpc>
                <a:spcPct val="115000"/>
              </a:lnSpc>
              <a:spcBef>
                <a:spcPts val="1200"/>
              </a:spcBef>
              <a:spcAft>
                <a:spcPts val="1200"/>
              </a:spcAft>
              <a:buClr>
                <a:schemeClr val="dk1"/>
              </a:buClr>
              <a:buSzPts val="1100"/>
              <a:buFont typeface="Arial"/>
              <a:buNone/>
            </a:pPr>
            <a:r>
              <a:rPr lang="en" sz="1200" dirty="0">
                <a:solidFill>
                  <a:schemeClr val="dk1"/>
                </a:solidFill>
                <a:latin typeface="Roboto"/>
                <a:ea typeface="Roboto"/>
                <a:cs typeface="Roboto"/>
                <a:sym typeface="Wingdings" panose="05000000000000000000" pitchFamily="2" charset="2"/>
              </a:rPr>
              <a:t></a:t>
            </a:r>
            <a:r>
              <a:rPr lang="en" sz="1200" dirty="0">
                <a:solidFill>
                  <a:schemeClr val="dk1"/>
                </a:solidFill>
                <a:latin typeface="Roboto"/>
                <a:ea typeface="Roboto"/>
                <a:cs typeface="Roboto"/>
                <a:sym typeface="Roboto"/>
              </a:rPr>
              <a:t> </a:t>
            </a:r>
            <a:r>
              <a:rPr lang="en-US" sz="1200" dirty="0">
                <a:solidFill>
                  <a:schemeClr val="dk1"/>
                </a:solidFill>
                <a:latin typeface="Roboto"/>
                <a:ea typeface="Roboto"/>
                <a:cs typeface="Roboto"/>
                <a:sym typeface="Roboto"/>
              </a:rPr>
              <a:t>T</a:t>
            </a:r>
            <a:r>
              <a:rPr lang="en" sz="1200" dirty="0">
                <a:solidFill>
                  <a:schemeClr val="dk1"/>
                </a:solidFill>
                <a:latin typeface="Roboto"/>
                <a:ea typeface="Roboto"/>
                <a:cs typeface="Roboto"/>
                <a:sym typeface="Roboto"/>
              </a:rPr>
              <a:t>he less health you have, the more you value your health </a:t>
            </a:r>
            <a:endParaRPr sz="1200" dirty="0">
              <a:solidFill>
                <a:schemeClr val="dk1"/>
              </a:solidFill>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bdece8c470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bdece8c47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 is what you get </a:t>
            </a:r>
            <a:endParaRPr/>
          </a:p>
          <a:p>
            <a:pPr marL="0" lvl="0" indent="0" algn="l" rtl="0">
              <a:spcBef>
                <a:spcPts val="0"/>
              </a:spcBef>
              <a:spcAft>
                <a:spcPts val="0"/>
              </a:spcAft>
              <a:buNone/>
            </a:pPr>
            <a:r>
              <a:rPr lang="en"/>
              <a:t>X is what you use </a:t>
            </a:r>
            <a:endParaRPr/>
          </a:p>
          <a:p>
            <a:pPr marL="0" lvl="0" indent="0" algn="l" rtl="0">
              <a:spcBef>
                <a:spcPts val="0"/>
              </a:spcBef>
              <a:spcAft>
                <a:spcPts val="0"/>
              </a:spcAft>
              <a:buNone/>
            </a:pPr>
            <a:endParaRPr/>
          </a:p>
          <a:p>
            <a:pPr marL="0" lvl="0" indent="0" algn="l" rtl="0">
              <a:spcBef>
                <a:spcPts val="0"/>
              </a:spcBef>
              <a:spcAft>
                <a:spcPts val="0"/>
              </a:spcAft>
              <a:buNone/>
            </a:pPr>
            <a:r>
              <a:rPr lang="en"/>
              <a:t>The increase in health from H0 to H1 causes utility to increase from U0 to U1, while an equal increase in health for H2 to H3 results in a smaller increase in </a:t>
            </a:r>
            <a:r>
              <a:rPr lang="en">
                <a:solidFill>
                  <a:schemeClr val="dk1"/>
                </a:solidFill>
              </a:rPr>
              <a:t>utility from U2 to U3.</a:t>
            </a:r>
            <a:endParaRPr/>
          </a:p>
          <a:p>
            <a:pPr marL="0" lvl="0" indent="0" algn="l" rtl="0">
              <a:spcBef>
                <a:spcPts val="0"/>
              </a:spcBef>
              <a:spcAft>
                <a:spcPts val="0"/>
              </a:spcAft>
              <a:buNone/>
            </a:pPr>
            <a:endParaRPr/>
          </a:p>
          <a:p>
            <a:pPr marL="0" lvl="0" indent="0" algn="l" rtl="0">
              <a:spcBef>
                <a:spcPts val="0"/>
              </a:spcBef>
              <a:spcAft>
                <a:spcPts val="0"/>
              </a:spcAft>
              <a:buNone/>
            </a:pPr>
            <a:r>
              <a:rPr lang="en"/>
              <a:t>The total utility curve is upward sloping and depicts the relation between an individual’s stock of health and utility. The positive slope indicates that total utility increases as an individual’s stock of health improves. </a:t>
            </a: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bdece8c470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bdece8c470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Y is what you get </a:t>
            </a:r>
            <a:endParaRPr dirty="0"/>
          </a:p>
          <a:p>
            <a:pPr marL="0" lvl="0" indent="0" algn="l" rtl="0">
              <a:spcBef>
                <a:spcPts val="0"/>
              </a:spcBef>
              <a:spcAft>
                <a:spcPts val="0"/>
              </a:spcAft>
              <a:buNone/>
            </a:pPr>
            <a:r>
              <a:rPr lang="en" dirty="0"/>
              <a:t>X is what you use </a:t>
            </a:r>
            <a:endParaRPr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TPC = how much Y you produce given how much X you consume </a:t>
            </a:r>
          </a:p>
          <a:p>
            <a:pPr marL="0" lvl="0" indent="0" algn="l" rtl="0">
              <a:spcBef>
                <a:spcPts val="0"/>
              </a:spcBef>
              <a:spcAft>
                <a:spcPts val="0"/>
              </a:spcAft>
              <a:buNone/>
            </a:pPr>
            <a:r>
              <a:rPr lang="en" dirty="0"/>
              <a:t>You produce health by consuming health care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The positive intercept term represents the individual’s level of health when no medical care is consumed and is a function of other factors such as lifestyle and the environment.</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bdece8c470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bdece8c470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 is what you get </a:t>
            </a:r>
            <a:endParaRPr/>
          </a:p>
          <a:p>
            <a:pPr marL="0" lvl="0" indent="0" algn="l" rtl="0">
              <a:spcBef>
                <a:spcPts val="0"/>
              </a:spcBef>
              <a:spcAft>
                <a:spcPts val="0"/>
              </a:spcAft>
              <a:buNone/>
            </a:pPr>
            <a:r>
              <a:rPr lang="en"/>
              <a:t>X is what you use </a:t>
            </a:r>
            <a:endParaRPr/>
          </a:p>
          <a:p>
            <a:pPr marL="0" lvl="0" indent="0" algn="l" rtl="0">
              <a:spcBef>
                <a:spcPts val="0"/>
              </a:spcBef>
              <a:spcAft>
                <a:spcPts val="0"/>
              </a:spcAft>
              <a:buNone/>
            </a:pPr>
            <a:endParaRPr/>
          </a:p>
          <a:p>
            <a:pPr marL="0" lvl="0" indent="0" algn="l" rtl="0">
              <a:spcBef>
                <a:spcPts val="0"/>
              </a:spcBef>
              <a:spcAft>
                <a:spcPts val="0"/>
              </a:spcAft>
              <a:buNone/>
            </a:pPr>
            <a:r>
              <a:rPr lang="en"/>
              <a:t>You produce health by consuming health care </a:t>
            </a:r>
            <a:endParaRPr/>
          </a:p>
          <a:p>
            <a:pPr marL="0" lvl="0" indent="0" algn="l" rtl="0">
              <a:spcBef>
                <a:spcPts val="0"/>
              </a:spcBef>
              <a:spcAft>
                <a:spcPts val="0"/>
              </a:spcAft>
              <a:buNone/>
            </a:pPr>
            <a:endParaRPr/>
          </a:p>
          <a:p>
            <a:pPr marL="0" lvl="0" indent="0" algn="l" rtl="0">
              <a:spcBef>
                <a:spcPts val="0"/>
              </a:spcBef>
              <a:spcAft>
                <a:spcPts val="0"/>
              </a:spcAft>
              <a:buNone/>
            </a:pPr>
            <a:r>
              <a:rPr lang="en"/>
              <a:t>The positive intercept term represents the individual’s level of health when no medical care is consumed and is a function of other factors such as lifestyle and the environment.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bdece8c470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bdece8c470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Education rotate upwards because you are more capable of making use of the doctors visit </a:t>
            </a:r>
            <a:endParaRPr dirty="0"/>
          </a:p>
          <a:p>
            <a:pPr marL="0" lvl="0" indent="0" algn="l" rtl="0">
              <a:spcBef>
                <a:spcPts val="0"/>
              </a:spcBef>
              <a:spcAft>
                <a:spcPts val="0"/>
              </a:spcAft>
              <a:buNone/>
            </a:pPr>
            <a:r>
              <a:rPr lang="en" dirty="0"/>
              <a:t>Disease rotate up bc youre sick so you benefit more from the doctors visit </a:t>
            </a:r>
          </a:p>
          <a:p>
            <a:pPr marL="0" lvl="0" indent="0" algn="l" rtl="0">
              <a:spcBef>
                <a:spcPts val="0"/>
              </a:spcBef>
              <a:spcAft>
                <a:spcPts val="0"/>
              </a:spcAft>
              <a:buNone/>
            </a:pPr>
            <a:endParaRPr lang="en" dirty="0"/>
          </a:p>
          <a:p>
            <a:pPr marL="0" lvl="0" indent="0" algn="l" rtl="0">
              <a:spcBef>
                <a:spcPts val="0"/>
              </a:spcBef>
              <a:spcAft>
                <a:spcPts val="0"/>
              </a:spcAft>
              <a:buNone/>
            </a:pPr>
            <a:endParaRPr lang="en" dirty="0"/>
          </a:p>
          <a:p>
            <a:pPr marL="0" lvl="0" indent="0" algn="l" rtl="0">
              <a:spcBef>
                <a:spcPts val="0"/>
              </a:spcBef>
              <a:spcAft>
                <a:spcPts val="0"/>
              </a:spcAft>
              <a:buNone/>
            </a:pPr>
            <a:r>
              <a:rPr lang="en" dirty="0"/>
              <a:t>[draw on board]</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dece8c470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bdece8c470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bdece8c470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bdece8c470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Health is something that generates utility, although subject to the law of diminishing marginal utility • The consumption of medical care can improve or maintain health, although subject to diminishing marginal productivity • Utility-Maximizing Rule -- Consumers act to maximize utility</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bdece8c470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bdece8c470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u="sng" dirty="0">
                <a:solidFill>
                  <a:schemeClr val="dk1"/>
                </a:solidFill>
                <a:latin typeface="Times New Roman"/>
                <a:ea typeface="Times New Roman"/>
                <a:cs typeface="Times New Roman"/>
                <a:sym typeface="Times New Roman"/>
              </a:rPr>
              <a:t>From utility, can get demand curve. </a:t>
            </a:r>
            <a:r>
              <a:rPr lang="en"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Demand curve </a:t>
            </a:r>
            <a:endParaRPr dirty="0"/>
          </a:p>
          <a:p>
            <a:pPr marL="0" lvl="0" indent="0" algn="l" rtl="0">
              <a:spcBef>
                <a:spcPts val="0"/>
              </a:spcBef>
              <a:spcAft>
                <a:spcPts val="0"/>
              </a:spcAft>
              <a:buNone/>
            </a:pPr>
            <a:r>
              <a:rPr lang="en" dirty="0"/>
              <a:t>• Inverse (or negative) relationship between price and quantity </a:t>
            </a:r>
            <a:endParaRPr dirty="0"/>
          </a:p>
          <a:p>
            <a:pPr marL="0" lvl="0" indent="0" algn="l" rtl="0">
              <a:spcBef>
                <a:spcPts val="0"/>
              </a:spcBef>
              <a:spcAft>
                <a:spcPts val="0"/>
              </a:spcAft>
              <a:buNone/>
            </a:pPr>
            <a:r>
              <a:rPr lang="en" dirty="0"/>
              <a:t>• Downward sloping: Reflects (diminishing) marginal benefits/utility of additional units of consumption and substitution effects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 Price (faced by the consumer) </a:t>
            </a:r>
            <a:endParaRPr dirty="0"/>
          </a:p>
          <a:p>
            <a:pPr marL="0" lvl="0" indent="0" algn="l" rtl="0">
              <a:spcBef>
                <a:spcPts val="0"/>
              </a:spcBef>
              <a:spcAft>
                <a:spcPts val="0"/>
              </a:spcAft>
              <a:buNone/>
            </a:pPr>
            <a:r>
              <a:rPr lang="en" dirty="0"/>
              <a:t>• Per-unit out-of-pocket expense the consumer incurs, after third party payment taken into account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 All other things being equal (ceretis paribus), a changes in the price demand curve of a good or service results in </a:t>
            </a:r>
            <a:r>
              <a:rPr lang="en" b="1" dirty="0"/>
              <a:t>movement up or down its demand curve </a:t>
            </a:r>
            <a:endParaRPr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F58365EB-1E09-C337-996D-B2226845CD48}"/>
            </a:ext>
          </a:extLst>
        </p:cNvPr>
        <p:cNvGrpSpPr/>
        <p:nvPr/>
      </p:nvGrpSpPr>
      <p:grpSpPr>
        <a:xfrm>
          <a:off x="0" y="0"/>
          <a:ext cx="0" cy="0"/>
          <a:chOff x="0" y="0"/>
          <a:chExt cx="0" cy="0"/>
        </a:xfrm>
      </p:grpSpPr>
      <p:sp>
        <p:nvSpPr>
          <p:cNvPr id="198" name="Google Shape;198;g3bdece8c470_0_98:notes">
            <a:extLst>
              <a:ext uri="{FF2B5EF4-FFF2-40B4-BE49-F238E27FC236}">
                <a16:creationId xmlns:a16="http://schemas.microsoft.com/office/drawing/2014/main" id="{B78DED7C-FF28-013E-2D93-628BBC8304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bdece8c470_0_98:notes">
            <a:extLst>
              <a:ext uri="{FF2B5EF4-FFF2-40B4-BE49-F238E27FC236}">
                <a16:creationId xmlns:a16="http://schemas.microsoft.com/office/drawing/2014/main" id="{18936B49-8847-5709-1DAA-8D7AF9892B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u="sng">
                <a:solidFill>
                  <a:schemeClr val="dk1"/>
                </a:solidFill>
                <a:latin typeface="Times New Roman"/>
                <a:ea typeface="Times New Roman"/>
                <a:cs typeface="Times New Roman"/>
                <a:sym typeface="Times New Roman"/>
              </a:rPr>
              <a:t>From utility, can get demand curve. </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Demand curve </a:t>
            </a:r>
            <a:endParaRPr/>
          </a:p>
          <a:p>
            <a:pPr marL="0" lvl="0" indent="0" algn="l" rtl="0">
              <a:spcBef>
                <a:spcPts val="0"/>
              </a:spcBef>
              <a:spcAft>
                <a:spcPts val="0"/>
              </a:spcAft>
              <a:buNone/>
            </a:pPr>
            <a:r>
              <a:rPr lang="en"/>
              <a:t>• Inverse (or negative) relationship between price and quantity </a:t>
            </a:r>
            <a:endParaRPr/>
          </a:p>
          <a:p>
            <a:pPr marL="0" lvl="0" indent="0" algn="l" rtl="0">
              <a:spcBef>
                <a:spcPts val="0"/>
              </a:spcBef>
              <a:spcAft>
                <a:spcPts val="0"/>
              </a:spcAft>
              <a:buNone/>
            </a:pPr>
            <a:r>
              <a:rPr lang="en"/>
              <a:t>• Downward sloping: Reflects (diminishing) marginal benefits/utility of additional units of consumption and substitution effects </a:t>
            </a:r>
            <a:endParaRPr/>
          </a:p>
          <a:p>
            <a:pPr marL="0" lvl="0" indent="0" algn="l" rtl="0">
              <a:spcBef>
                <a:spcPts val="0"/>
              </a:spcBef>
              <a:spcAft>
                <a:spcPts val="0"/>
              </a:spcAft>
              <a:buNone/>
            </a:pPr>
            <a:endParaRPr/>
          </a:p>
          <a:p>
            <a:pPr marL="0" lvl="0" indent="0" algn="l" rtl="0">
              <a:spcBef>
                <a:spcPts val="0"/>
              </a:spcBef>
              <a:spcAft>
                <a:spcPts val="0"/>
              </a:spcAft>
              <a:buNone/>
            </a:pPr>
            <a:r>
              <a:rPr lang="en"/>
              <a:t>• Price (faced by the consumer) </a:t>
            </a:r>
            <a:endParaRPr/>
          </a:p>
          <a:p>
            <a:pPr marL="0" lvl="0" indent="0" algn="l" rtl="0">
              <a:spcBef>
                <a:spcPts val="0"/>
              </a:spcBef>
              <a:spcAft>
                <a:spcPts val="0"/>
              </a:spcAft>
              <a:buNone/>
            </a:pPr>
            <a:r>
              <a:rPr lang="en"/>
              <a:t>• Per-unit out-of-pocket expense the consumer incurs, after third party payment taken into account </a:t>
            </a:r>
            <a:endParaRPr/>
          </a:p>
          <a:p>
            <a:pPr marL="0" lvl="0" indent="0" algn="l" rtl="0">
              <a:spcBef>
                <a:spcPts val="0"/>
              </a:spcBef>
              <a:spcAft>
                <a:spcPts val="0"/>
              </a:spcAft>
              <a:buNone/>
            </a:pPr>
            <a:endParaRPr/>
          </a:p>
          <a:p>
            <a:pPr marL="0" lvl="0" indent="0" algn="l" rtl="0">
              <a:spcBef>
                <a:spcPts val="0"/>
              </a:spcBef>
              <a:spcAft>
                <a:spcPts val="0"/>
              </a:spcAft>
              <a:buNone/>
            </a:pPr>
            <a:r>
              <a:rPr lang="en"/>
              <a:t>• All other things being equal (ceretis paribus), a changes in the price demand curve of a good or service results in </a:t>
            </a:r>
            <a:r>
              <a:rPr lang="en" b="1"/>
              <a:t>movement up or down its demand curve </a:t>
            </a:r>
            <a:endParaRPr b="1"/>
          </a:p>
        </p:txBody>
      </p:sp>
    </p:spTree>
    <p:extLst>
      <p:ext uri="{BB962C8B-B14F-4D97-AF65-F5344CB8AC3E}">
        <p14:creationId xmlns:p14="http://schemas.microsoft.com/office/powerpoint/2010/main" val="7471678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bdece8c470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bdece8c470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Downward sloping because of: </a:t>
            </a:r>
            <a:endParaRPr dirty="0"/>
          </a:p>
          <a:p>
            <a:pPr marL="457200" lvl="0" indent="-298450" algn="l" rtl="0">
              <a:spcBef>
                <a:spcPts val="0"/>
              </a:spcBef>
              <a:spcAft>
                <a:spcPts val="0"/>
              </a:spcAft>
              <a:buSzPts val="1100"/>
              <a:buAutoNum type="arabicPeriod"/>
            </a:pPr>
            <a:r>
              <a:rPr lang="en" dirty="0"/>
              <a:t>Consumer preferences (including the effects of diminishing marginal utility)</a:t>
            </a:r>
            <a:endParaRPr dirty="0"/>
          </a:p>
          <a:p>
            <a:pPr marL="457200" lvl="0" indent="-298450" algn="l" rtl="0">
              <a:spcBef>
                <a:spcPts val="0"/>
              </a:spcBef>
              <a:spcAft>
                <a:spcPts val="0"/>
              </a:spcAft>
              <a:buSzPts val="1100"/>
              <a:buAutoNum type="arabicPeriod"/>
            </a:pPr>
            <a:r>
              <a:rPr lang="en" dirty="0"/>
              <a:t>Substitution effects (e.g., oranges)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sz="1400" dirty="0">
                <a:solidFill>
                  <a:schemeClr val="dk1"/>
                </a:solidFill>
              </a:rPr>
              <a:t>MB of next apple purchased depends on how many apples have already been purchased, </a:t>
            </a:r>
            <a:endParaRPr sz="1400"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bdece8c470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bdece8c470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Changes in price → movement along the curve </a:t>
            </a:r>
            <a:endParaRPr/>
          </a:p>
          <a:p>
            <a:pPr marL="0" lvl="0" indent="0" algn="l" rtl="0">
              <a:spcBef>
                <a:spcPts val="0"/>
              </a:spcBef>
              <a:spcAft>
                <a:spcPts val="0"/>
              </a:spcAft>
              <a:buNone/>
            </a:pPr>
            <a:r>
              <a:rPr lang="en"/>
              <a:t>Other changes → movement of the curve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bdece8c470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bdece8c470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1200"/>
              </a:spcBef>
              <a:spcAft>
                <a:spcPts val="0"/>
              </a:spcAft>
              <a:buClr>
                <a:schemeClr val="dk2"/>
              </a:buClr>
              <a:buSzPts val="1800"/>
              <a:buChar char="-"/>
            </a:pPr>
            <a:r>
              <a:rPr lang="en-US" sz="1100" dirty="0">
                <a:solidFill>
                  <a:schemeClr val="dk2"/>
                </a:solidFill>
              </a:rPr>
              <a:t>Complements: goods used jointly </a:t>
            </a:r>
          </a:p>
          <a:p>
            <a:pPr marL="457200" lvl="0" indent="-342900" algn="l" rtl="0">
              <a:lnSpc>
                <a:spcPct val="115000"/>
              </a:lnSpc>
              <a:spcBef>
                <a:spcPts val="0"/>
              </a:spcBef>
              <a:spcAft>
                <a:spcPts val="0"/>
              </a:spcAft>
              <a:buClr>
                <a:schemeClr val="dk2"/>
              </a:buClr>
              <a:buSzPts val="1800"/>
              <a:buChar char="-"/>
            </a:pPr>
            <a:r>
              <a:rPr lang="en-US" sz="1100" dirty="0">
                <a:solidFill>
                  <a:schemeClr val="dk2"/>
                </a:solidFill>
              </a:rPr>
              <a:t>Substitutes: satisfy the same wants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80F12C51-B3DC-B229-484E-1400768262E3}"/>
            </a:ext>
          </a:extLst>
        </p:cNvPr>
        <p:cNvGrpSpPr/>
        <p:nvPr/>
      </p:nvGrpSpPr>
      <p:grpSpPr>
        <a:xfrm>
          <a:off x="0" y="0"/>
          <a:ext cx="0" cy="0"/>
          <a:chOff x="0" y="0"/>
          <a:chExt cx="0" cy="0"/>
        </a:xfrm>
      </p:grpSpPr>
      <p:sp>
        <p:nvSpPr>
          <p:cNvPr id="218" name="Google Shape;218;g3bdece8c470_0_119:notes">
            <a:extLst>
              <a:ext uri="{FF2B5EF4-FFF2-40B4-BE49-F238E27FC236}">
                <a16:creationId xmlns:a16="http://schemas.microsoft.com/office/drawing/2014/main" id="{06FC9FF8-12FA-254F-8F9C-E455C43E1F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bdece8c470_0_119:notes">
            <a:extLst>
              <a:ext uri="{FF2B5EF4-FFF2-40B4-BE49-F238E27FC236}">
                <a16:creationId xmlns:a16="http://schemas.microsoft.com/office/drawing/2014/main" id="{66979A17-3F6E-4D13-67C3-D5175B91B9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1200"/>
              </a:spcBef>
              <a:spcAft>
                <a:spcPts val="0"/>
              </a:spcAft>
              <a:buClr>
                <a:schemeClr val="dk2"/>
              </a:buClr>
              <a:buSzPts val="1800"/>
              <a:buChar char="-"/>
            </a:pPr>
            <a:r>
              <a:rPr lang="en-US" sz="1100" dirty="0">
                <a:solidFill>
                  <a:schemeClr val="dk2"/>
                </a:solidFill>
              </a:rPr>
              <a:t>Complements: goods used jointly </a:t>
            </a:r>
          </a:p>
          <a:p>
            <a:pPr marL="457200" lvl="0" indent="-342900" algn="l" rtl="0">
              <a:lnSpc>
                <a:spcPct val="115000"/>
              </a:lnSpc>
              <a:spcBef>
                <a:spcPts val="0"/>
              </a:spcBef>
              <a:spcAft>
                <a:spcPts val="0"/>
              </a:spcAft>
              <a:buClr>
                <a:schemeClr val="dk2"/>
              </a:buClr>
              <a:buSzPts val="1800"/>
              <a:buChar char="-"/>
            </a:pPr>
            <a:r>
              <a:rPr lang="en-US" sz="1100" dirty="0">
                <a:solidFill>
                  <a:schemeClr val="dk2"/>
                </a:solidFill>
              </a:rPr>
              <a:t>Substitutes: satisfy the same wants </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640915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bdece8c470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bdece8c470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bdece8c470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bdece8c470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bdece8c470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bdece8c470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bdece8c470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bdece8c470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Out-of-pocket payments for health care were almost half of total expenditures in 1960.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By 2021 they represented only about 11% of total expenditures.</a:t>
            </a:r>
          </a:p>
          <a:p>
            <a:pPr marL="0" lvl="0" indent="0" algn="l" rtl="0">
              <a:spcBef>
                <a:spcPts val="0"/>
              </a:spcBef>
              <a:spcAft>
                <a:spcPts val="0"/>
              </a:spcAft>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bdece8c470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bdece8c470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Two-stage demand model </a:t>
            </a:r>
          </a:p>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bdece8c470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bdece8c470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D4B821FD-599C-F516-BA3D-1E6D156C9C36}"/>
            </a:ext>
          </a:extLst>
        </p:cNvPr>
        <p:cNvGrpSpPr/>
        <p:nvPr/>
      </p:nvGrpSpPr>
      <p:grpSpPr>
        <a:xfrm>
          <a:off x="0" y="0"/>
          <a:ext cx="0" cy="0"/>
          <a:chOff x="0" y="0"/>
          <a:chExt cx="0" cy="0"/>
        </a:xfrm>
      </p:grpSpPr>
      <p:sp>
        <p:nvSpPr>
          <p:cNvPr id="265" name="Google Shape;265;g3bdece8c470_0_144:notes">
            <a:extLst>
              <a:ext uri="{FF2B5EF4-FFF2-40B4-BE49-F238E27FC236}">
                <a16:creationId xmlns:a16="http://schemas.microsoft.com/office/drawing/2014/main" id="{142F856F-67F7-668F-62B7-2A65DF6164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bdece8c470_0_144:notes">
            <a:extLst>
              <a:ext uri="{FF2B5EF4-FFF2-40B4-BE49-F238E27FC236}">
                <a16:creationId xmlns:a16="http://schemas.microsoft.com/office/drawing/2014/main" id="{F21515D4-8680-361C-C02A-026D157B14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469643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bdece8c470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bdece8c470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80s, families were offered different cost sharing insurances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Why would this not happen today? </a:t>
            </a: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bdece8c470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bdece8c470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“Market demand curve: visits as a function of the total price paid to providers (insurer + patient), holding underlying patient behavior fixed.”</a:t>
            </a:r>
          </a:p>
          <a:p>
            <a:r>
              <a:rPr lang="en-US" sz="1100" b="0" i="0" u="none" strike="noStrike" cap="none" dirty="0">
                <a:solidFill>
                  <a:srgbClr val="000000"/>
                </a:solidFill>
                <a:effectLst/>
                <a:latin typeface="Arial"/>
                <a:ea typeface="Arial"/>
                <a:cs typeface="Arial"/>
                <a:sym typeface="Arial"/>
              </a:rPr>
              <a:t>“Effective demand: visits actually realized at the patient’s out‑of‑pocket price implied by a given insurance contract (copays, coinsurance, deductibles).”</a:t>
            </a:r>
          </a:p>
          <a:p>
            <a:pPr marL="0" lvl="0" indent="0" algn="l" rtl="0">
              <a:spcBef>
                <a:spcPts val="0"/>
              </a:spcBef>
              <a:spcAft>
                <a:spcPts val="0"/>
              </a:spcAft>
              <a:buNone/>
            </a:pP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bdece8c470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bdece8c470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800">
                <a:solidFill>
                  <a:srgbClr val="595959"/>
                </a:solidFill>
              </a:rPr>
              <a:t>Effective Demand: </a:t>
            </a:r>
            <a:endParaRPr sz="1800">
              <a:solidFill>
                <a:srgbClr val="595959"/>
              </a:solidFill>
            </a:endParaRPr>
          </a:p>
          <a:p>
            <a:pPr marL="457200" lvl="0" indent="-342900" algn="l" rtl="0">
              <a:lnSpc>
                <a:spcPct val="115000"/>
              </a:lnSpc>
              <a:spcBef>
                <a:spcPts val="1200"/>
              </a:spcBef>
              <a:spcAft>
                <a:spcPts val="0"/>
              </a:spcAft>
              <a:buClr>
                <a:srgbClr val="595959"/>
              </a:buClr>
              <a:buSzPts val="1800"/>
              <a:buChar char="-"/>
            </a:pPr>
            <a:r>
              <a:rPr lang="en" sz="1800">
                <a:solidFill>
                  <a:srgbClr val="595959"/>
                </a:solidFill>
              </a:rPr>
              <a:t>What you want and can afford</a:t>
            </a:r>
            <a:endParaRPr sz="1800">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sz="1800">
                <a:solidFill>
                  <a:srgbClr val="595959"/>
                </a:solidFill>
              </a:rPr>
              <a:t>Nominal Demand: </a:t>
            </a:r>
            <a:endParaRPr sz="1800">
              <a:solidFill>
                <a:srgbClr val="595959"/>
              </a:solidFill>
            </a:endParaRPr>
          </a:p>
          <a:p>
            <a:pPr marL="457200" lvl="0" indent="-342900" algn="l" rtl="0">
              <a:lnSpc>
                <a:spcPct val="115000"/>
              </a:lnSpc>
              <a:spcBef>
                <a:spcPts val="1200"/>
              </a:spcBef>
              <a:spcAft>
                <a:spcPts val="0"/>
              </a:spcAft>
              <a:buClr>
                <a:srgbClr val="595959"/>
              </a:buClr>
              <a:buSzPts val="1800"/>
              <a:buChar char="-"/>
            </a:pPr>
            <a:r>
              <a:rPr lang="en" sz="1800">
                <a:solidFill>
                  <a:srgbClr val="595959"/>
                </a:solidFill>
              </a:rPr>
              <a:t>What you want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bdece8c470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bdece8c470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bdece8c470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bdece8c470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bdece8c470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bdece8c470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Copay leads to movement along the curve, not movement of the curve </a:t>
            </a:r>
          </a:p>
          <a:p>
            <a:pPr marL="0" lvl="0" indent="0" algn="l" rtl="0">
              <a:spcBef>
                <a:spcPts val="0"/>
              </a:spcBef>
              <a:spcAft>
                <a:spcPts val="0"/>
              </a:spcAft>
              <a:buNone/>
            </a:pPr>
            <a:endParaRPr lang="en" dirty="0"/>
          </a:p>
          <a:p>
            <a:pPr marL="0" lvl="0" indent="0" algn="l" rtl="0">
              <a:spcBef>
                <a:spcPts val="0"/>
              </a:spcBef>
              <a:spcAft>
                <a:spcPts val="0"/>
              </a:spcAft>
              <a:buNone/>
            </a:pPr>
            <a:endParaRPr lang="en" dirty="0"/>
          </a:p>
          <a:p>
            <a:r>
              <a:rPr lang="en-US" sz="1100" b="0" i="0" u="none" strike="noStrike" cap="none" dirty="0">
                <a:solidFill>
                  <a:srgbClr val="000000"/>
                </a:solidFill>
                <a:effectLst/>
                <a:latin typeface="Arial"/>
                <a:ea typeface="Arial"/>
                <a:cs typeface="Arial"/>
                <a:sym typeface="Arial"/>
              </a:rPr>
              <a:t>Price axis is the total price the provider receives.</a:t>
            </a:r>
          </a:p>
          <a:p>
            <a:r>
              <a:rPr lang="en-US" sz="1100" b="0" i="0" u="none" strike="noStrike" cap="none" dirty="0">
                <a:solidFill>
                  <a:srgbClr val="000000"/>
                </a:solidFill>
                <a:effectLst/>
                <a:latin typeface="Arial"/>
                <a:ea typeface="Arial"/>
                <a:cs typeface="Arial"/>
                <a:sym typeface="Arial"/>
              </a:rPr>
              <a:t>A fixed copay means the patient always pays, say, 20 dollars, regardless of what the provider charges; as the provider price varies, the patient still faces 20, so the patient’s decision rule is vertical at the quantity chosen at 20 and does not trace out a standard downward‑sloping curve in provider‑price space.</a:t>
            </a:r>
          </a:p>
          <a:p>
            <a:r>
              <a:rPr lang="en-US" sz="1100" b="0" i="0" u="none" strike="noStrike" cap="none" dirty="0">
                <a:solidFill>
                  <a:srgbClr val="000000"/>
                </a:solidFill>
                <a:effectLst/>
                <a:latin typeface="Arial"/>
                <a:ea typeface="Arial"/>
                <a:cs typeface="Arial"/>
                <a:sym typeface="Arial"/>
              </a:rPr>
              <a:t>A coinsurance rate (e.g., 20%) means the patient pays a constant </a:t>
            </a:r>
            <a:r>
              <a:rPr lang="en-US" sz="1100" b="0" i="1" u="none" strike="noStrike" cap="none" dirty="0">
                <a:solidFill>
                  <a:srgbClr val="000000"/>
                </a:solidFill>
                <a:effectLst/>
                <a:latin typeface="Arial"/>
                <a:ea typeface="Arial"/>
                <a:cs typeface="Arial"/>
                <a:sym typeface="Arial"/>
              </a:rPr>
              <a:t>fraction</a:t>
            </a:r>
            <a:r>
              <a:rPr lang="en-US" sz="1100" b="0" i="0" u="none" strike="noStrike" cap="none" dirty="0">
                <a:solidFill>
                  <a:srgbClr val="000000"/>
                </a:solidFill>
                <a:effectLst/>
                <a:latin typeface="Arial"/>
                <a:ea typeface="Arial"/>
                <a:cs typeface="Arial"/>
                <a:sym typeface="Arial"/>
              </a:rPr>
              <a:t> of the provider price, so as provider price rises, the patient’s out‑of‑pocket price rises proportionally; that gives you a conventional downward‑sloping demand curve as a function of provider price, and changing the coinsurance rate rotates/shifts that curve.</a:t>
            </a:r>
          </a:p>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bdece8c470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bdece8c470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If you draw a vertical line from any point on the nominal demand curve to the horizontal axis, you can break down the amount paid by consumers (from the horizontal axis to the dWO curve) and the amount paid by the insurance carrier (the wedge between the dWI and dWO curves). As the coinsurance rate falls, dWI rotates upward and pivots off the point where the two curves cross the horizontal axis.</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bdece8c470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bdece8c470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draw a vertical line from any point on the nominal demand curve to the horizontal axis, you can break down the amount paid by consumers (from the horizontal axis to the dWO curve) and the amount paid by the insurance carrier (the wedge between the dWI and dWO curves). As the coinsurance rate falls, dWI rotates upward and pivots off the point where the two curves cross the horizontal axis.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bdece8c470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bdece8c470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draw a vertical line from any point on the nominal demand curve to the horizontal axis, you can break down the amount paid by consumers (from the horizontal axis to the dWO curve) and the amount paid by the insurance carrier (the wedge between the dWI and dWO curves). As the coinsurance rate falls, dWI rotates upward and pivots off the point where the two curves cross the horizontal axis.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bdece8c470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bdece8c470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bdece8c47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bdece8c47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2. Why 2 is happening: </a:t>
            </a:r>
            <a:endParaRPr/>
          </a:p>
          <a:p>
            <a:pPr marL="457200" lvl="0" indent="-298450" algn="l" rtl="0">
              <a:spcBef>
                <a:spcPts val="0"/>
              </a:spcBef>
              <a:spcAft>
                <a:spcPts val="0"/>
              </a:spcAft>
              <a:buSzPts val="1100"/>
              <a:buAutoNum type="arabicPeriod"/>
            </a:pPr>
            <a:r>
              <a:rPr lang="en"/>
              <a:t>Intensive margin → more clinical decision making; extensive margin more up to the patient </a:t>
            </a:r>
            <a:endParaRPr/>
          </a:p>
          <a:p>
            <a:pPr marL="457200" lvl="0" indent="-298450" algn="l" rtl="0">
              <a:spcBef>
                <a:spcPts val="0"/>
              </a:spcBef>
              <a:spcAft>
                <a:spcPts val="0"/>
              </a:spcAft>
              <a:buSzPts val="1100"/>
              <a:buAutoNum type="arabicPeriod"/>
            </a:pPr>
            <a:r>
              <a:rPr lang="en"/>
              <a:t>Out of pocket max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bdece8c470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bdece8c470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bdece8c470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bdece8c470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 for many (the uninsured &amp; the under-insured)</a:t>
            </a:r>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bdece8c470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bdece8c470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bdece8c470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bdece8c470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bdece8c470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bdece8c470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[Class participation ] </a:t>
            </a:r>
            <a:r>
              <a:rPr lang="en-US" dirty="0">
                <a:sym typeface="Wingdings" panose="05000000000000000000" pitchFamily="2" charset="2"/>
              </a:rPr>
              <a:t> ask for examples of each </a:t>
            </a: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bdece8c470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bdece8c470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bdece8c470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bdece8c470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bdece8c470_0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bdece8c470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bdece8c470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bdece8c470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bdece8c470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3bdece8c470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bdece8c470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bdece8c470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a:extLst>
            <a:ext uri="{FF2B5EF4-FFF2-40B4-BE49-F238E27FC236}">
              <a16:creationId xmlns:a16="http://schemas.microsoft.com/office/drawing/2014/main" id="{7383DE1E-C79F-EF73-5869-7A59EF3D84EA}"/>
            </a:ext>
          </a:extLst>
        </p:cNvPr>
        <p:cNvGrpSpPr/>
        <p:nvPr/>
      </p:nvGrpSpPr>
      <p:grpSpPr>
        <a:xfrm>
          <a:off x="0" y="0"/>
          <a:ext cx="0" cy="0"/>
          <a:chOff x="0" y="0"/>
          <a:chExt cx="0" cy="0"/>
        </a:xfrm>
      </p:grpSpPr>
      <p:sp>
        <p:nvSpPr>
          <p:cNvPr id="396" name="Google Shape;396;g3bdece8c470_0_124:notes">
            <a:extLst>
              <a:ext uri="{FF2B5EF4-FFF2-40B4-BE49-F238E27FC236}">
                <a16:creationId xmlns:a16="http://schemas.microsoft.com/office/drawing/2014/main" id="{6441B76F-CA6C-2BEC-0497-C6C30FE0D3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bdece8c470_0_124:notes">
            <a:extLst>
              <a:ext uri="{FF2B5EF4-FFF2-40B4-BE49-F238E27FC236}">
                <a16:creationId xmlns:a16="http://schemas.microsoft.com/office/drawing/2014/main" id="{C97D5DD9-DD03-55A3-6510-CC667406D0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30777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bdece8c470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bdece8c470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3" name="Straight Connector 2">
            <a:extLst>
              <a:ext uri="{FF2B5EF4-FFF2-40B4-BE49-F238E27FC236}">
                <a16:creationId xmlns:a16="http://schemas.microsoft.com/office/drawing/2014/main" id="{ABAA7A85-EA65-CB97-031F-C33857D39A42}"/>
              </a:ext>
            </a:extLst>
          </p:cNvPr>
          <p:cNvCxnSpPr/>
          <p:nvPr userDrawn="1"/>
        </p:nvCxnSpPr>
        <p:spPr>
          <a:xfrm>
            <a:off x="230736" y="1017725"/>
            <a:ext cx="778521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pollev.com/nadaboualam947"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Week 2: Demand for Health</a:t>
            </a:r>
            <a:endParaRPr/>
          </a:p>
        </p:txBody>
      </p:sp>
      <p:sp>
        <p:nvSpPr>
          <p:cNvPr id="55" name="Google Shape;55;p13"/>
          <p:cNvSpPr txBox="1"/>
          <p:nvPr/>
        </p:nvSpPr>
        <p:spPr>
          <a:xfrm>
            <a:off x="5825100" y="3782175"/>
            <a:ext cx="30072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HPM 6503 </a:t>
            </a:r>
            <a:endParaRPr sz="1800">
              <a:solidFill>
                <a:schemeClr val="dk1"/>
              </a:solidFill>
            </a:endParaRPr>
          </a:p>
          <a:p>
            <a:pPr marL="0" lvl="0" indent="0" algn="l" rtl="0">
              <a:spcBef>
                <a:spcPts val="0"/>
              </a:spcBef>
              <a:spcAft>
                <a:spcPts val="0"/>
              </a:spcAft>
              <a:buNone/>
            </a:pPr>
            <a:r>
              <a:rPr lang="en" sz="1800">
                <a:solidFill>
                  <a:schemeClr val="dk1"/>
                </a:solidFill>
              </a:rPr>
              <a:t>Spring 2026 </a:t>
            </a:r>
            <a:endParaRPr sz="1800">
              <a:solidFill>
                <a:schemeClr val="dk1"/>
              </a:solidFill>
            </a:endParaRPr>
          </a:p>
          <a:p>
            <a:pPr marL="0" lvl="0" indent="0" algn="l" rtl="0">
              <a:spcBef>
                <a:spcPts val="0"/>
              </a:spcBef>
              <a:spcAft>
                <a:spcPts val="0"/>
              </a:spcAft>
              <a:buNone/>
            </a:pPr>
            <a:r>
              <a:rPr lang="en" sz="1800">
                <a:solidFill>
                  <a:schemeClr val="dk1"/>
                </a:solidFill>
              </a:rPr>
              <a:t>Nada Boualam, PhD</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Week 2: Outline </a:t>
            </a:r>
            <a:endParaRPr/>
          </a:p>
        </p:txBody>
      </p:sp>
      <p:sp>
        <p:nvSpPr>
          <p:cNvPr id="61" name="Google Shape;61;p14"/>
          <p:cNvSpPr txBox="1">
            <a:spLocks noGrp="1"/>
          </p:cNvSpPr>
          <p:nvPr>
            <p:ph type="body" idx="1"/>
          </p:nvPr>
        </p:nvSpPr>
        <p:spPr>
          <a:xfrm>
            <a:off x="311700" y="1152475"/>
            <a:ext cx="8520600" cy="35460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 dirty="0">
                <a:solidFill>
                  <a:schemeClr val="tx1"/>
                </a:solidFill>
              </a:rPr>
              <a:t>AI Policy </a:t>
            </a:r>
            <a:endParaRPr dirty="0">
              <a:solidFill>
                <a:schemeClr val="tx1"/>
              </a:solidFill>
            </a:endParaRPr>
          </a:p>
          <a:p>
            <a:pPr marL="114300" lvl="0" indent="0" algn="l" rtl="0">
              <a:spcBef>
                <a:spcPts val="0"/>
              </a:spcBef>
              <a:spcAft>
                <a:spcPts val="0"/>
              </a:spcAft>
              <a:buSzPts val="1800"/>
              <a:buNone/>
            </a:pPr>
            <a:r>
              <a:rPr lang="en" dirty="0">
                <a:solidFill>
                  <a:schemeClr val="tx1"/>
                </a:solidFill>
              </a:rPr>
              <a:t>1. Review of the PPF</a:t>
            </a:r>
            <a:endParaRPr dirty="0">
              <a:solidFill>
                <a:schemeClr val="tx1"/>
              </a:solidFill>
            </a:endParaRPr>
          </a:p>
          <a:p>
            <a:pPr marL="914400" lvl="1" indent="-317500" algn="l" rtl="0">
              <a:spcBef>
                <a:spcPts val="0"/>
              </a:spcBef>
              <a:spcAft>
                <a:spcPts val="0"/>
              </a:spcAft>
              <a:buSzPts val="1400"/>
              <a:buChar char="○"/>
            </a:pPr>
            <a:r>
              <a:rPr lang="en" dirty="0">
                <a:solidFill>
                  <a:schemeClr val="tx1"/>
                </a:solidFill>
              </a:rPr>
              <a:t>Constraint shifters </a:t>
            </a:r>
            <a:endParaRPr dirty="0">
              <a:solidFill>
                <a:schemeClr val="tx1"/>
              </a:solidFill>
            </a:endParaRPr>
          </a:p>
          <a:p>
            <a:pPr marL="914400" lvl="1" indent="-317500" algn="l" rtl="0">
              <a:spcBef>
                <a:spcPts val="0"/>
              </a:spcBef>
              <a:spcAft>
                <a:spcPts val="0"/>
              </a:spcAft>
              <a:buSzPts val="1400"/>
              <a:buChar char="○"/>
            </a:pPr>
            <a:r>
              <a:rPr lang="en" dirty="0">
                <a:solidFill>
                  <a:schemeClr val="tx1"/>
                </a:solidFill>
              </a:rPr>
              <a:t>Opportunity cost on the graph </a:t>
            </a:r>
            <a:endParaRPr dirty="0">
              <a:solidFill>
                <a:schemeClr val="tx1"/>
              </a:solidFill>
            </a:endParaRPr>
          </a:p>
          <a:p>
            <a:pPr marL="114300" lvl="0" indent="0">
              <a:buNone/>
            </a:pPr>
            <a:r>
              <a:rPr lang="en" dirty="0">
                <a:solidFill>
                  <a:schemeClr val="tx1"/>
                </a:solidFill>
              </a:rPr>
              <a:t>2. </a:t>
            </a:r>
            <a:r>
              <a:rPr lang="en-US" dirty="0">
                <a:solidFill>
                  <a:schemeClr val="tx1"/>
                </a:solidFill>
              </a:rPr>
              <a:t>Consumer choices: </a:t>
            </a:r>
          </a:p>
          <a:p>
            <a:pPr lvl="1"/>
            <a:r>
              <a:rPr lang="en-US" dirty="0">
                <a:solidFill>
                  <a:schemeClr val="tx1"/>
                </a:solidFill>
              </a:rPr>
              <a:t>Preferences &amp; utility </a:t>
            </a:r>
          </a:p>
          <a:p>
            <a:pPr lvl="1"/>
            <a:r>
              <a:rPr lang="en-US" dirty="0">
                <a:solidFill>
                  <a:schemeClr val="tx1"/>
                </a:solidFill>
              </a:rPr>
              <a:t>Budget Constraints </a:t>
            </a:r>
          </a:p>
          <a:p>
            <a:pPr lvl="1"/>
            <a:r>
              <a:rPr lang="en-US" dirty="0">
                <a:solidFill>
                  <a:schemeClr val="tx1"/>
                </a:solidFill>
              </a:rPr>
              <a:t>Equilibrium </a:t>
            </a:r>
          </a:p>
          <a:p>
            <a:pPr marL="114300" lvl="0" indent="0" algn="l" rtl="0">
              <a:spcBef>
                <a:spcPts val="0"/>
              </a:spcBef>
              <a:spcAft>
                <a:spcPts val="0"/>
              </a:spcAft>
              <a:buSzPts val="1800"/>
              <a:buNone/>
            </a:pPr>
            <a:r>
              <a:rPr lang="en" dirty="0">
                <a:solidFill>
                  <a:schemeClr val="tx1"/>
                </a:solidFill>
              </a:rPr>
              <a:t>3. Demand for Health &amp; Medical care</a:t>
            </a:r>
            <a:endParaRPr dirty="0">
              <a:solidFill>
                <a:schemeClr val="tx1"/>
              </a:solidFill>
            </a:endParaRPr>
          </a:p>
          <a:p>
            <a:pPr marL="914400" lvl="1" indent="-317500" algn="l" rtl="0">
              <a:spcBef>
                <a:spcPts val="0"/>
              </a:spcBef>
              <a:spcAft>
                <a:spcPts val="0"/>
              </a:spcAft>
              <a:buSzPts val="1400"/>
              <a:buChar char="○"/>
            </a:pPr>
            <a:r>
              <a:rPr lang="en" dirty="0">
                <a:solidFill>
                  <a:schemeClr val="tx1"/>
                </a:solidFill>
              </a:rPr>
              <a:t>From Utility to Demand </a:t>
            </a:r>
          </a:p>
          <a:p>
            <a:pPr marL="914400" lvl="1" indent="-317500" algn="l" rtl="0">
              <a:spcBef>
                <a:spcPts val="0"/>
              </a:spcBef>
              <a:spcAft>
                <a:spcPts val="0"/>
              </a:spcAft>
              <a:buSzPts val="1400"/>
              <a:buChar char="○"/>
            </a:pPr>
            <a:r>
              <a:rPr lang="en" dirty="0">
                <a:solidFill>
                  <a:schemeClr val="tx1"/>
                </a:solidFill>
              </a:rPr>
              <a:t>Definitions </a:t>
            </a:r>
          </a:p>
          <a:p>
            <a:pPr marL="914400" lvl="1" indent="-317500" algn="l" rtl="0">
              <a:spcBef>
                <a:spcPts val="0"/>
              </a:spcBef>
              <a:spcAft>
                <a:spcPts val="0"/>
              </a:spcAft>
              <a:buSzPts val="1400"/>
              <a:buChar char="○"/>
            </a:pPr>
            <a:r>
              <a:rPr lang="en" dirty="0">
                <a:solidFill>
                  <a:schemeClr val="tx1"/>
                </a:solidFill>
              </a:rPr>
              <a:t>Demand shifters</a:t>
            </a:r>
            <a:endParaRPr dirty="0">
              <a:solidFill>
                <a:schemeClr val="tx1"/>
              </a:solidFill>
            </a:endParaRPr>
          </a:p>
          <a:p>
            <a:pPr marL="114300" lvl="0" indent="0" algn="l" rtl="0">
              <a:spcBef>
                <a:spcPts val="0"/>
              </a:spcBef>
              <a:spcAft>
                <a:spcPts val="0"/>
              </a:spcAft>
              <a:buSzPts val="1800"/>
              <a:buNone/>
            </a:pPr>
            <a:r>
              <a:rPr lang="en" dirty="0">
                <a:solidFill>
                  <a:schemeClr val="tx1"/>
                </a:solidFill>
              </a:rPr>
              <a:t>4. Elasticities </a:t>
            </a:r>
            <a:endParaRPr dirty="0">
              <a:solidFill>
                <a:schemeClr val="tx1"/>
              </a:solidFill>
            </a:endParaRPr>
          </a:p>
          <a:p>
            <a:pPr marL="914400" lvl="1" indent="-317500" algn="l" rtl="0">
              <a:spcBef>
                <a:spcPts val="0"/>
              </a:spcBef>
              <a:spcAft>
                <a:spcPts val="0"/>
              </a:spcAft>
              <a:buSzPts val="1400"/>
              <a:buChar char="○"/>
            </a:pPr>
            <a:r>
              <a:rPr lang="en" dirty="0">
                <a:solidFill>
                  <a:schemeClr val="tx1"/>
                </a:solidFill>
              </a:rPr>
              <a:t>Within price </a:t>
            </a:r>
            <a:endParaRPr dirty="0">
              <a:solidFill>
                <a:schemeClr val="tx1"/>
              </a:solidFill>
            </a:endParaRPr>
          </a:p>
          <a:p>
            <a:pPr marL="914400" lvl="1" indent="-317500" algn="l" rtl="0">
              <a:spcBef>
                <a:spcPts val="0"/>
              </a:spcBef>
              <a:spcAft>
                <a:spcPts val="0"/>
              </a:spcAft>
              <a:buSzPts val="1400"/>
              <a:buChar char="○"/>
            </a:pPr>
            <a:r>
              <a:rPr lang="en" dirty="0">
                <a:solidFill>
                  <a:schemeClr val="tx1"/>
                </a:solidFill>
              </a:rPr>
              <a:t>Cross price </a:t>
            </a:r>
            <a:endParaRPr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 Policy </a:t>
            </a:r>
            <a:endParaRPr/>
          </a:p>
        </p:txBody>
      </p:sp>
      <p:sp>
        <p:nvSpPr>
          <p:cNvPr id="67" name="Google Shape;67;p15"/>
          <p:cNvSpPr txBox="1">
            <a:spLocks noGrp="1"/>
          </p:cNvSpPr>
          <p:nvPr>
            <p:ph type="body" idx="1"/>
          </p:nvPr>
        </p:nvSpPr>
        <p:spPr>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First problem set will be assigned after class </a:t>
            </a:r>
            <a:endParaRPr/>
          </a:p>
          <a:p>
            <a:pPr marL="457200" lvl="0" indent="-342900" algn="l" rtl="0">
              <a:spcBef>
                <a:spcPts val="0"/>
              </a:spcBef>
              <a:spcAft>
                <a:spcPts val="0"/>
              </a:spcAft>
              <a:buSzPts val="1800"/>
              <a:buChar char="-"/>
            </a:pPr>
            <a:r>
              <a:rPr lang="en"/>
              <a:t>You are welcome to use by generative AI tool to study, but it is not recommended to use it to answer the problem sets. Generative AI is a tool - that can be wrong - not a replacement for your own thinking. If you do not study for the problem sets, you will most likely be underprepared for the exams. </a:t>
            </a:r>
            <a:endParaRPr/>
          </a:p>
          <a:p>
            <a:pPr marL="914400" lvl="1" indent="-317500" algn="l" rtl="0">
              <a:spcBef>
                <a:spcPts val="0"/>
              </a:spcBef>
              <a:spcAft>
                <a:spcPts val="0"/>
              </a:spcAft>
              <a:buSzPts val="1400"/>
              <a:buChar char="-"/>
            </a:pPr>
            <a:r>
              <a:rPr lang="en"/>
              <a:t>If you are caught using generative AI to answer problem sets, it will be treated as a violation of academic integrity, and referred to the office of student conduct.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PPF Review </a:t>
            </a:r>
            <a:endParaRPr/>
          </a:p>
        </p:txBody>
      </p:sp>
      <p:sp>
        <p:nvSpPr>
          <p:cNvPr id="73" name="Google Shape;73;p16"/>
          <p:cNvSpPr txBox="1">
            <a:spLocks noGrp="1"/>
          </p:cNvSpPr>
          <p:nvPr>
            <p:ph type="body" idx="1"/>
          </p:nvPr>
        </p:nvSpPr>
        <p:spPr>
          <a:prstGeom prst="rect">
            <a:avLst/>
          </a:prstGeom>
        </p:spPr>
        <p:txBody>
          <a:bodyPr spcFirstLastPara="1" wrap="square" lIns="91425" tIns="91425" rIns="91425" bIns="91425" anchor="t" anchorCtr="0">
            <a:normAutofit/>
          </a:bodyPr>
          <a:lstStyle/>
          <a:p>
            <a:pPr marL="114300" indent="0">
              <a:buNone/>
            </a:pPr>
            <a:r>
              <a:rPr lang="en-US" dirty="0"/>
              <a:t>When poll is active respond at:</a:t>
            </a:r>
          </a:p>
          <a:p>
            <a:r>
              <a:rPr lang="en-US" b="1" dirty="0">
                <a:hlinkClick r:id="rId3"/>
              </a:rPr>
              <a:t>PollEv.com​/nadaboualam947</a:t>
            </a:r>
            <a:endParaRPr lang="en-US" dirty="0"/>
          </a:p>
          <a:p>
            <a:r>
              <a:rPr lang="en-US" dirty="0"/>
              <a:t>Send </a:t>
            </a:r>
            <a:r>
              <a:rPr lang="en-US" b="1" dirty="0"/>
              <a:t>nadaboualam947</a:t>
            </a:r>
            <a:r>
              <a:rPr lang="en-US" dirty="0"/>
              <a:t> and your message to </a:t>
            </a:r>
            <a:r>
              <a:rPr lang="en-US" b="1" dirty="0"/>
              <a:t>22333</a:t>
            </a:r>
            <a:endParaRPr lang="en-US" dirty="0"/>
          </a:p>
          <a:p>
            <a:pPr marL="0" lvl="0" indent="0" algn="l" rtl="0">
              <a:spcBef>
                <a:spcPts val="0"/>
              </a:spcBef>
              <a:spcAft>
                <a:spcPts val="1200"/>
              </a:spcAft>
              <a:buNone/>
            </a:pPr>
            <a:endParaRPr dirty="0"/>
          </a:p>
        </p:txBody>
      </p:sp>
      <p:pic>
        <p:nvPicPr>
          <p:cNvPr id="3" name="Picture 2">
            <a:extLst>
              <a:ext uri="{FF2B5EF4-FFF2-40B4-BE49-F238E27FC236}">
                <a16:creationId xmlns:a16="http://schemas.microsoft.com/office/drawing/2014/main" id="{E1150EBE-56F1-460D-01CE-838B52109DBE}"/>
              </a:ext>
            </a:extLst>
          </p:cNvPr>
          <p:cNvPicPr>
            <a:picLocks noChangeAspect="1"/>
          </p:cNvPicPr>
          <p:nvPr/>
        </p:nvPicPr>
        <p:blipFill>
          <a:blip r:embed="rId4"/>
          <a:stretch>
            <a:fillRect/>
          </a:stretch>
        </p:blipFill>
        <p:spPr>
          <a:xfrm>
            <a:off x="4214491" y="2395210"/>
            <a:ext cx="1867161" cy="19624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1. PPF: Production Possibility Frontier - Review</a:t>
            </a:r>
            <a:endParaRPr dirty="0"/>
          </a:p>
        </p:txBody>
      </p:sp>
      <p:sp>
        <p:nvSpPr>
          <p:cNvPr id="79" name="Google Shape;79;p17"/>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PPF tells us:</a:t>
            </a:r>
            <a:endParaRPr dirty="0"/>
          </a:p>
          <a:p>
            <a:pPr marL="457200" lvl="0" indent="-342900" algn="l" rtl="0">
              <a:spcBef>
                <a:spcPts val="1200"/>
              </a:spcBef>
              <a:spcAft>
                <a:spcPts val="0"/>
              </a:spcAft>
              <a:buSzPts val="1800"/>
              <a:buChar char="-"/>
            </a:pPr>
            <a:r>
              <a:rPr lang="en" dirty="0"/>
              <a:t>What we can produce with our resources</a:t>
            </a:r>
            <a:endParaRPr dirty="0"/>
          </a:p>
          <a:p>
            <a:pPr marL="457200" lvl="0" indent="-342900" algn="l" rtl="0">
              <a:spcBef>
                <a:spcPts val="0"/>
              </a:spcBef>
              <a:spcAft>
                <a:spcPts val="0"/>
              </a:spcAft>
              <a:buSzPts val="1800"/>
              <a:buChar char="-"/>
            </a:pPr>
            <a:r>
              <a:rPr lang="en" dirty="0"/>
              <a:t>How opportunity cost of goods changes</a:t>
            </a:r>
            <a:endParaRPr dirty="0"/>
          </a:p>
          <a:p>
            <a:pPr marL="457200" lvl="0" indent="-342900" algn="l" rtl="0">
              <a:spcBef>
                <a:spcPts val="0"/>
              </a:spcBef>
              <a:spcAft>
                <a:spcPts val="0"/>
              </a:spcAft>
              <a:buSzPts val="1800"/>
              <a:buChar char="-"/>
            </a:pPr>
            <a:r>
              <a:rPr lang="en" dirty="0"/>
              <a:t>What is efficient / inefficient for us to choose </a:t>
            </a:r>
            <a:endParaRPr dirty="0"/>
          </a:p>
          <a:p>
            <a:pPr marL="457200" lvl="0" indent="-342900" algn="l" rtl="0">
              <a:spcBef>
                <a:spcPts val="0"/>
              </a:spcBef>
              <a:spcAft>
                <a:spcPts val="0"/>
              </a:spcAft>
              <a:buSzPts val="1800"/>
              <a:buChar char="-"/>
            </a:pPr>
            <a:r>
              <a:rPr lang="en" dirty="0"/>
              <a:t>What is impossible for us to choose</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b="1" dirty="0"/>
              <a:t>Opportunity cost:</a:t>
            </a:r>
            <a:r>
              <a:rPr lang="en" dirty="0"/>
              <a:t> how much unit B do I have to give up to get 1 more unit A? </a:t>
            </a:r>
          </a:p>
          <a:p>
            <a:pPr marL="0" lvl="0" indent="0" algn="l" rtl="0">
              <a:spcBef>
                <a:spcPts val="1200"/>
              </a:spcBef>
              <a:spcAft>
                <a:spcPts val="0"/>
              </a:spcAft>
              <a:buNone/>
            </a:pPr>
            <a:r>
              <a:rPr lang="en" dirty="0">
                <a:sym typeface="Wingdings" panose="05000000000000000000" pitchFamily="2" charset="2"/>
              </a:rPr>
              <a:t>                                Slope of the PPF </a:t>
            </a:r>
            <a:endParaRPr dirty="0"/>
          </a:p>
          <a:p>
            <a:pPr marL="0" lvl="0" indent="0" algn="l" rtl="0">
              <a:spcBef>
                <a:spcPts val="1200"/>
              </a:spcBef>
              <a:spcAft>
                <a:spcPts val="12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Review of the PPF</a:t>
            </a:r>
            <a:endParaRPr/>
          </a:p>
        </p:txBody>
      </p:sp>
      <p:sp>
        <p:nvSpPr>
          <p:cNvPr id="85" name="Google Shape;85;p18"/>
          <p:cNvSpPr txBox="1">
            <a:spLocks noGrp="1"/>
          </p:cNvSpPr>
          <p:nvPr>
            <p:ph type="body" idx="1"/>
          </p:nvPr>
        </p:nvSpPr>
        <p:spPr>
          <a:xfrm>
            <a:off x="311700" y="1152475"/>
            <a:ext cx="4491900" cy="3228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Which point(s) is/are inefficient? </a:t>
            </a:r>
            <a:endParaRPr/>
          </a:p>
          <a:p>
            <a:pPr marL="457200" lvl="0" indent="-342900" algn="l" rtl="0">
              <a:spcBef>
                <a:spcPts val="0"/>
              </a:spcBef>
              <a:spcAft>
                <a:spcPts val="0"/>
              </a:spcAft>
              <a:buSzPts val="1800"/>
              <a:buChar char="-"/>
            </a:pPr>
            <a:r>
              <a:rPr lang="en"/>
              <a:t>What happens if you suddenly make more money? </a:t>
            </a:r>
            <a:endParaRPr/>
          </a:p>
          <a:p>
            <a:pPr marL="457200" lvl="0" indent="-342900" algn="l" rtl="0">
              <a:spcBef>
                <a:spcPts val="0"/>
              </a:spcBef>
              <a:spcAft>
                <a:spcPts val="0"/>
              </a:spcAft>
              <a:buSzPts val="1800"/>
              <a:buChar char="-"/>
            </a:pPr>
            <a:r>
              <a:rPr lang="en"/>
              <a:t>What happens if you suddenly make less money? </a:t>
            </a:r>
            <a:endParaRPr/>
          </a:p>
          <a:p>
            <a:pPr marL="457200" lvl="0" indent="-342900" algn="l" rtl="0">
              <a:spcBef>
                <a:spcPts val="0"/>
              </a:spcBef>
              <a:spcAft>
                <a:spcPts val="0"/>
              </a:spcAft>
              <a:buSzPts val="1800"/>
              <a:buChar char="-"/>
            </a:pPr>
            <a:r>
              <a:rPr lang="en"/>
              <a:t>What does x represent? </a:t>
            </a:r>
            <a:endParaRPr/>
          </a:p>
          <a:p>
            <a:pPr marL="457200" lvl="0" indent="-342900" algn="l" rtl="0">
              <a:spcBef>
                <a:spcPts val="0"/>
              </a:spcBef>
              <a:spcAft>
                <a:spcPts val="0"/>
              </a:spcAft>
              <a:buSzPts val="1800"/>
              <a:buChar char="-"/>
            </a:pPr>
            <a:r>
              <a:rPr lang="en"/>
              <a:t>At point x, what is the opportunity cost of X in terms of Y?</a:t>
            </a:r>
            <a:endParaRPr/>
          </a:p>
        </p:txBody>
      </p:sp>
      <p:pic>
        <p:nvPicPr>
          <p:cNvPr id="86" name="Google Shape;86;p18"/>
          <p:cNvPicPr preferRelativeResize="0"/>
          <p:nvPr/>
        </p:nvPicPr>
        <p:blipFill>
          <a:blip r:embed="rId3">
            <a:alphaModFix/>
          </a:blip>
          <a:stretch>
            <a:fillRect/>
          </a:stretch>
        </p:blipFill>
        <p:spPr>
          <a:xfrm>
            <a:off x="4982800" y="1152475"/>
            <a:ext cx="3810000" cy="3228975"/>
          </a:xfrm>
          <a:prstGeom prst="rect">
            <a:avLst/>
          </a:prstGeom>
          <a:noFill/>
          <a:ln>
            <a:noFill/>
          </a:ln>
        </p:spPr>
      </p:pic>
      <p:pic>
        <p:nvPicPr>
          <p:cNvPr id="87" name="Google Shape;87;p18"/>
          <p:cNvPicPr preferRelativeResize="0"/>
          <p:nvPr/>
        </p:nvPicPr>
        <p:blipFill>
          <a:blip r:embed="rId4">
            <a:alphaModFix/>
          </a:blip>
          <a:stretch>
            <a:fillRect/>
          </a:stretch>
        </p:blipFill>
        <p:spPr>
          <a:xfrm>
            <a:off x="152400" y="337711"/>
            <a:ext cx="9144001" cy="4772879"/>
          </a:xfrm>
          <a:prstGeom prst="rect">
            <a:avLst/>
          </a:prstGeom>
          <a:noFill/>
          <a:ln>
            <a:noFill/>
          </a:ln>
        </p:spPr>
      </p:pic>
      <p:sp>
        <p:nvSpPr>
          <p:cNvPr id="88" name="Google Shape;88;p18"/>
          <p:cNvSpPr txBox="1"/>
          <p:nvPr/>
        </p:nvSpPr>
        <p:spPr>
          <a:xfrm>
            <a:off x="7143750" y="3263575"/>
            <a:ext cx="436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B</a:t>
            </a:r>
            <a:endParaRPr sz="1800">
              <a:solidFill>
                <a:schemeClr val="dk2"/>
              </a:solidFill>
            </a:endParaRPr>
          </a:p>
        </p:txBody>
      </p:sp>
      <p:sp>
        <p:nvSpPr>
          <p:cNvPr id="2" name="Rectangle 1">
            <a:extLst>
              <a:ext uri="{FF2B5EF4-FFF2-40B4-BE49-F238E27FC236}">
                <a16:creationId xmlns:a16="http://schemas.microsoft.com/office/drawing/2014/main" id="{376BF274-8815-B17E-F8F7-5D7B334EE7E3}"/>
              </a:ext>
            </a:extLst>
          </p:cNvPr>
          <p:cNvSpPr/>
          <p:nvPr/>
        </p:nvSpPr>
        <p:spPr>
          <a:xfrm>
            <a:off x="5194570" y="1152475"/>
            <a:ext cx="593387" cy="4525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Demand for Medical Care </a:t>
            </a:r>
            <a:endParaRPr dirty="0"/>
          </a:p>
        </p:txBody>
      </p:sp>
      <p:sp>
        <p:nvSpPr>
          <p:cNvPr id="94" name="Google Shape;94;p19"/>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Utility - Definition, uses </a:t>
            </a:r>
            <a:endParaRPr/>
          </a:p>
        </p:txBody>
      </p:sp>
      <p:sp>
        <p:nvSpPr>
          <p:cNvPr id="100" name="Google Shape;100;p20"/>
          <p:cNvSpPr txBox="1">
            <a:spLocks noGrp="1"/>
          </p:cNvSpPr>
          <p:nvPr>
            <p:ph type="body" idx="1"/>
          </p:nvPr>
        </p:nvSpPr>
        <p:spPr>
          <a:xfrm>
            <a:off x="311700" y="2221225"/>
            <a:ext cx="8520600" cy="2321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Recall from last week: </a:t>
            </a:r>
            <a:endParaRPr dirty="0"/>
          </a:p>
          <a:p>
            <a:pPr marL="457200" lvl="0" indent="-342900" algn="l" rtl="0">
              <a:spcBef>
                <a:spcPts val="1200"/>
              </a:spcBef>
              <a:spcAft>
                <a:spcPts val="0"/>
              </a:spcAft>
              <a:buSzPts val="1800"/>
              <a:buChar char="-"/>
            </a:pPr>
            <a:r>
              <a:rPr lang="en" dirty="0"/>
              <a:t>Decision-making </a:t>
            </a:r>
            <a:r>
              <a:rPr lang="en" u="sng" dirty="0"/>
              <a:t>at the margin</a:t>
            </a:r>
            <a:r>
              <a:rPr lang="en" dirty="0"/>
              <a:t>: would an </a:t>
            </a:r>
            <a:r>
              <a:rPr lang="en" b="1" dirty="0"/>
              <a:t>extra </a:t>
            </a:r>
            <a:r>
              <a:rPr lang="en" dirty="0"/>
              <a:t>unit of this good increase my utility? </a:t>
            </a:r>
            <a:endParaRPr dirty="0"/>
          </a:p>
          <a:p>
            <a:pPr marL="457200" lvl="0" indent="-342900" algn="l" rtl="0">
              <a:spcBef>
                <a:spcPts val="0"/>
              </a:spcBef>
              <a:spcAft>
                <a:spcPts val="0"/>
              </a:spcAft>
              <a:buSzPts val="1800"/>
              <a:buChar char="-"/>
            </a:pPr>
            <a:r>
              <a:rPr lang="en" u="sng" dirty="0"/>
              <a:t>Rational consumers</a:t>
            </a:r>
            <a:r>
              <a:rPr lang="en" dirty="0"/>
              <a:t> </a:t>
            </a:r>
            <a:r>
              <a:rPr lang="en" b="1" dirty="0"/>
              <a:t>maximize</a:t>
            </a:r>
            <a:r>
              <a:rPr lang="en" dirty="0"/>
              <a:t> their utility </a:t>
            </a:r>
            <a:endParaRPr dirty="0"/>
          </a:p>
        </p:txBody>
      </p:sp>
      <p:grpSp>
        <p:nvGrpSpPr>
          <p:cNvPr id="101" name="Google Shape;101;p20"/>
          <p:cNvGrpSpPr/>
          <p:nvPr/>
        </p:nvGrpSpPr>
        <p:grpSpPr>
          <a:xfrm>
            <a:off x="311700" y="1318825"/>
            <a:ext cx="8365372" cy="902400"/>
            <a:chOff x="496300" y="1097875"/>
            <a:chExt cx="8365372" cy="902400"/>
          </a:xfrm>
        </p:grpSpPr>
        <p:sp>
          <p:nvSpPr>
            <p:cNvPr id="102" name="Google Shape;102;p20"/>
            <p:cNvSpPr txBox="1"/>
            <p:nvPr/>
          </p:nvSpPr>
          <p:spPr>
            <a:xfrm>
              <a:off x="496300" y="1097875"/>
              <a:ext cx="1176857" cy="451200"/>
            </a:xfrm>
            <a:prstGeom prst="rect">
              <a:avLst/>
            </a:prstGeom>
            <a:solidFill>
              <a:schemeClr val="accent1">
                <a:lumMod val="20000"/>
                <a:lumOff val="80000"/>
              </a:schemeClr>
            </a:solidFill>
            <a:ln>
              <a:solidFill>
                <a:schemeClr val="accent1"/>
              </a:solid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Definition </a:t>
              </a:r>
              <a:endParaRPr sz="1800" dirty="0">
                <a:solidFill>
                  <a:schemeClr val="dk2"/>
                </a:solidFill>
              </a:endParaRPr>
            </a:p>
            <a:p>
              <a:pPr marL="0" lvl="0" indent="0" algn="l" rtl="0">
                <a:spcBef>
                  <a:spcPts val="0"/>
                </a:spcBef>
                <a:spcAft>
                  <a:spcPts val="0"/>
                </a:spcAft>
                <a:buNone/>
              </a:pPr>
              <a:endParaRPr sz="1800" dirty="0">
                <a:solidFill>
                  <a:schemeClr val="dk2"/>
                </a:solidFill>
              </a:endParaRPr>
            </a:p>
          </p:txBody>
        </p:sp>
        <p:sp>
          <p:nvSpPr>
            <p:cNvPr id="103" name="Google Shape;103;p20"/>
            <p:cNvSpPr txBox="1"/>
            <p:nvPr/>
          </p:nvSpPr>
          <p:spPr>
            <a:xfrm>
              <a:off x="812150" y="1549075"/>
              <a:ext cx="8049522" cy="451200"/>
            </a:xfrm>
            <a:prstGeom prst="rect">
              <a:avLst/>
            </a:prstGeom>
            <a:solidFill>
              <a:schemeClr val="accent4">
                <a:lumMod val="20000"/>
                <a:lumOff val="80000"/>
              </a:schemeClr>
            </a:solidFill>
            <a:ln>
              <a:solidFill>
                <a:schemeClr val="accent2"/>
              </a:solid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Utility: welfare, happiness, satisfaction, well-being → </a:t>
              </a:r>
              <a:r>
                <a:rPr lang="en" sz="1800" b="1" dirty="0">
                  <a:solidFill>
                    <a:schemeClr val="dk2"/>
                  </a:solidFill>
                </a:rPr>
                <a:t>ranking of preferences </a:t>
              </a:r>
              <a:endParaRPr sz="1800" b="1" dirty="0">
                <a:solidFill>
                  <a:schemeClr val="dk2"/>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From Utility to Demand </a:t>
            </a:r>
            <a:endParaRPr dirty="0"/>
          </a:p>
        </p:txBody>
      </p:sp>
      <p:sp>
        <p:nvSpPr>
          <p:cNvPr id="180" name="Google Shape;180;p31"/>
          <p:cNvSpPr txBox="1">
            <a:spLocks noGrp="1"/>
          </p:cNvSpPr>
          <p:nvPr>
            <p:ph type="body" idx="1"/>
          </p:nvPr>
        </p:nvSpPr>
        <p:spPr>
          <a:xfrm>
            <a:off x="311700" y="101772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u="sng" dirty="0"/>
              <a:t>Indifference Curves:  </a:t>
            </a:r>
            <a:r>
              <a:rPr lang="en" dirty="0"/>
              <a:t>shows alternative bundles of goods from which the individual derives equal levels of utility </a:t>
            </a:r>
            <a:r>
              <a:rPr lang="en" dirty="0">
                <a:sym typeface="Wingdings" panose="05000000000000000000" pitchFamily="2" charset="2"/>
              </a:rPr>
              <a:t> </a:t>
            </a:r>
            <a:r>
              <a:rPr lang="en" dirty="0"/>
              <a:t>the consumer is indifferent</a:t>
            </a:r>
            <a:endParaRPr dirty="0"/>
          </a:p>
          <a:p>
            <a:pPr marL="0" lvl="0" indent="0" algn="l" rtl="0">
              <a:spcBef>
                <a:spcPts val="1200"/>
              </a:spcBef>
              <a:spcAft>
                <a:spcPts val="1200"/>
              </a:spcAft>
              <a:buNone/>
            </a:pPr>
            <a:endParaRPr dirty="0"/>
          </a:p>
        </p:txBody>
      </p:sp>
      <p:pic>
        <p:nvPicPr>
          <p:cNvPr id="181" name="Google Shape;181;p31"/>
          <p:cNvPicPr preferRelativeResize="0"/>
          <p:nvPr/>
        </p:nvPicPr>
        <p:blipFill>
          <a:blip r:embed="rId3">
            <a:alphaModFix/>
          </a:blip>
          <a:stretch>
            <a:fillRect/>
          </a:stretch>
        </p:blipFill>
        <p:spPr>
          <a:xfrm>
            <a:off x="2145323" y="1992924"/>
            <a:ext cx="4454769" cy="28721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From Utility to Demand </a:t>
            </a:r>
            <a:endParaRPr dirty="0"/>
          </a:p>
        </p:txBody>
      </p:sp>
      <p:sp>
        <p:nvSpPr>
          <p:cNvPr id="187" name="Google Shape;187;p32"/>
          <p:cNvSpPr txBox="1">
            <a:spLocks noGrp="1"/>
          </p:cNvSpPr>
          <p:nvPr>
            <p:ph type="body" idx="1"/>
          </p:nvPr>
        </p:nvSpPr>
        <p:spPr>
          <a:xfrm>
            <a:off x="-32240" y="1017725"/>
            <a:ext cx="8520600" cy="3416400"/>
          </a:xfrm>
          <a:prstGeom prst="rect">
            <a:avLst/>
          </a:prstGeom>
        </p:spPr>
        <p:txBody>
          <a:bodyPr spcFirstLastPara="1" wrap="square" lIns="91425" tIns="91425" rIns="91425" bIns="91425" anchor="t" anchorCtr="0">
            <a:normAutofit/>
          </a:bodyPr>
          <a:lstStyle/>
          <a:p>
            <a:pPr marL="457200" lvl="0" indent="0" algn="l" rtl="0">
              <a:spcBef>
                <a:spcPts val="1200"/>
              </a:spcBef>
              <a:spcAft>
                <a:spcPts val="0"/>
              </a:spcAft>
              <a:buNone/>
            </a:pPr>
            <a:r>
              <a:rPr lang="en" u="sng" dirty="0"/>
              <a:t>Budget constraints: </a:t>
            </a:r>
            <a:r>
              <a:rPr lang="en" dirty="0"/>
              <a:t>indicate the bundles of goods a consumer can afford given their income</a:t>
            </a:r>
            <a:endParaRPr dirty="0"/>
          </a:p>
          <a:p>
            <a:pPr marL="457200" lvl="0" indent="0" algn="l" rtl="0">
              <a:spcBef>
                <a:spcPts val="1200"/>
              </a:spcBef>
              <a:spcAft>
                <a:spcPts val="1200"/>
              </a:spcAft>
              <a:buNone/>
            </a:pPr>
            <a:endParaRPr sz="1100" u="sng" dirty="0">
              <a:solidFill>
                <a:schemeClr val="dk1"/>
              </a:solidFill>
            </a:endParaRPr>
          </a:p>
        </p:txBody>
      </p:sp>
      <p:pic>
        <p:nvPicPr>
          <p:cNvPr id="188" name="Google Shape;188;p32"/>
          <p:cNvPicPr preferRelativeResize="0"/>
          <p:nvPr/>
        </p:nvPicPr>
        <p:blipFill>
          <a:blip r:embed="rId3">
            <a:alphaModFix/>
          </a:blip>
          <a:stretch>
            <a:fillRect/>
          </a:stretch>
        </p:blipFill>
        <p:spPr>
          <a:xfrm>
            <a:off x="1896340" y="1860290"/>
            <a:ext cx="5351320" cy="28948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xfrm>
            <a:off x="311700" y="114300"/>
            <a:ext cx="8520600" cy="903425"/>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Clr>
                <a:schemeClr val="dk1"/>
              </a:buClr>
              <a:buSzPct val="39285"/>
              <a:buFont typeface="Arial"/>
              <a:buNone/>
            </a:pPr>
            <a:r>
              <a:rPr lang="en" dirty="0"/>
              <a:t>From Utility to Demand</a:t>
            </a:r>
            <a:endParaRPr dirty="0"/>
          </a:p>
        </p:txBody>
      </p:sp>
      <p:sp>
        <p:nvSpPr>
          <p:cNvPr id="194" name="Google Shape;194;p33"/>
          <p:cNvSpPr txBox="1">
            <a:spLocks noGrp="1"/>
          </p:cNvSpPr>
          <p:nvPr>
            <p:ph type="body" idx="1"/>
          </p:nvPr>
        </p:nvSpPr>
        <p:spPr>
          <a:xfrm>
            <a:off x="311700" y="863550"/>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u="sng" dirty="0"/>
              <a:t>Consumer Equilibrium: </a:t>
            </a:r>
            <a:r>
              <a:rPr lang="en" dirty="0"/>
              <a:t>Consumer’s job is to get the most happiness (utility) they can, given their budget</a:t>
            </a:r>
            <a:endParaRPr dirty="0"/>
          </a:p>
          <a:p>
            <a:pPr marL="0" lvl="0" indent="0" algn="l" rtl="0">
              <a:spcBef>
                <a:spcPts val="1200"/>
              </a:spcBef>
              <a:spcAft>
                <a:spcPts val="1200"/>
              </a:spcAft>
              <a:buNone/>
            </a:pPr>
            <a:endParaRPr dirty="0"/>
          </a:p>
        </p:txBody>
      </p:sp>
      <p:pic>
        <p:nvPicPr>
          <p:cNvPr id="195" name="Google Shape;195;p33"/>
          <p:cNvPicPr preferRelativeResize="0"/>
          <p:nvPr/>
        </p:nvPicPr>
        <p:blipFill>
          <a:blip r:embed="rId3">
            <a:alphaModFix/>
          </a:blip>
          <a:stretch>
            <a:fillRect/>
          </a:stretch>
        </p:blipFill>
        <p:spPr>
          <a:xfrm>
            <a:off x="1966744" y="1766975"/>
            <a:ext cx="4359760" cy="2682925"/>
          </a:xfrm>
          <a:prstGeom prst="rect">
            <a:avLst/>
          </a:prstGeom>
          <a:noFill/>
          <a:ln>
            <a:noFill/>
          </a:ln>
        </p:spPr>
      </p:pic>
      <p:sp>
        <p:nvSpPr>
          <p:cNvPr id="196" name="Google Shape;196;p33"/>
          <p:cNvSpPr txBox="1"/>
          <p:nvPr/>
        </p:nvSpPr>
        <p:spPr>
          <a:xfrm>
            <a:off x="235860" y="4338057"/>
            <a:ext cx="8672280" cy="738633"/>
          </a:xfrm>
          <a:prstGeom prst="rect">
            <a:avLst/>
          </a:prstGeom>
          <a:solidFill>
            <a:schemeClr val="accent4">
              <a:lumMod val="20000"/>
              <a:lumOff val="80000"/>
            </a:schemeClr>
          </a:solidFill>
          <a:ln>
            <a:solidFill>
              <a:schemeClr val="accent2"/>
            </a:solid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2"/>
                </a:solidFill>
                <a:sym typeface="Roboto"/>
              </a:rPr>
              <a:t>Demand: Which bundle of goods maximizes utility subject to the budget constraint?</a:t>
            </a:r>
            <a:endParaRPr sz="1800" b="1" dirty="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Diminishing Marginal Returns </a:t>
            </a:r>
            <a:endParaRPr/>
          </a:p>
        </p:txBody>
      </p:sp>
      <p:grpSp>
        <p:nvGrpSpPr>
          <p:cNvPr id="109" name="Google Shape;109;p21"/>
          <p:cNvGrpSpPr/>
          <p:nvPr/>
        </p:nvGrpSpPr>
        <p:grpSpPr>
          <a:xfrm>
            <a:off x="496250" y="1613441"/>
            <a:ext cx="8336050" cy="1178396"/>
            <a:chOff x="496300" y="1097875"/>
            <a:chExt cx="8336050" cy="1178396"/>
          </a:xfrm>
        </p:grpSpPr>
        <p:sp>
          <p:nvSpPr>
            <p:cNvPr id="110" name="Google Shape;110;p21"/>
            <p:cNvSpPr txBox="1"/>
            <p:nvPr/>
          </p:nvSpPr>
          <p:spPr>
            <a:xfrm>
              <a:off x="496300" y="1097875"/>
              <a:ext cx="6873000" cy="466200"/>
            </a:xfrm>
            <a:prstGeom prst="rect">
              <a:avLst/>
            </a:prstGeom>
            <a:solidFill>
              <a:schemeClr val="accent1">
                <a:lumMod val="20000"/>
                <a:lumOff val="80000"/>
              </a:scheme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u="sng" dirty="0">
                  <a:solidFill>
                    <a:schemeClr val="dk2"/>
                  </a:solidFill>
                </a:rPr>
                <a:t>Now Add: </a:t>
              </a:r>
              <a:r>
                <a:rPr lang="en" sz="1800" dirty="0">
                  <a:solidFill>
                    <a:schemeClr val="dk2"/>
                  </a:solidFill>
                </a:rPr>
                <a:t>The Law of Diminishing Marginal Returns of X on Y </a:t>
              </a:r>
              <a:endParaRPr sz="1800" dirty="0">
                <a:solidFill>
                  <a:schemeClr val="dk2"/>
                </a:solidFill>
              </a:endParaRPr>
            </a:p>
            <a:p>
              <a:pPr marL="0" lvl="0" indent="0" algn="l" rtl="0">
                <a:spcBef>
                  <a:spcPts val="0"/>
                </a:spcBef>
                <a:spcAft>
                  <a:spcPts val="0"/>
                </a:spcAft>
                <a:buNone/>
              </a:pPr>
              <a:endParaRPr sz="1800" dirty="0">
                <a:solidFill>
                  <a:schemeClr val="dk2"/>
                </a:solidFill>
              </a:endParaRPr>
            </a:p>
          </p:txBody>
        </p:sp>
        <p:sp>
          <p:nvSpPr>
            <p:cNvPr id="111" name="Google Shape;111;p21"/>
            <p:cNvSpPr txBox="1"/>
            <p:nvPr/>
          </p:nvSpPr>
          <p:spPr>
            <a:xfrm>
              <a:off x="812150" y="1568374"/>
              <a:ext cx="8020200" cy="707897"/>
            </a:xfrm>
            <a:prstGeom prst="rect">
              <a:avLst/>
            </a:prstGeom>
            <a:solidFill>
              <a:schemeClr val="accent4">
                <a:lumMod val="20000"/>
                <a:lumOff val="80000"/>
              </a:scheme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The rate at which your utility increases from getting X over Y will diminish the more of X you already have</a:t>
              </a:r>
              <a:endParaRPr sz="1800" dirty="0">
                <a:solidFill>
                  <a:schemeClr val="dk2"/>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Economic Definition of Medical Care </a:t>
            </a:r>
            <a:endParaRPr/>
          </a:p>
        </p:txBody>
      </p:sp>
      <p:sp>
        <p:nvSpPr>
          <p:cNvPr id="117" name="Google Shape;117;p22"/>
          <p:cNvSpPr txBox="1">
            <a:spLocks noGrp="1"/>
          </p:cNvSpPr>
          <p:nvPr>
            <p:ph type="body" idx="1"/>
          </p:nvPr>
        </p:nvSpPr>
        <p:spPr>
          <a:xfrm>
            <a:off x="311700" y="2466475"/>
            <a:ext cx="8520600" cy="2421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How is medical care measured?</a:t>
            </a:r>
            <a:endParaRPr/>
          </a:p>
          <a:p>
            <a:pPr marL="457200" lvl="0" indent="-342900" algn="l" rtl="0">
              <a:spcBef>
                <a:spcPts val="1200"/>
              </a:spcBef>
              <a:spcAft>
                <a:spcPts val="0"/>
              </a:spcAft>
              <a:buSzPts val="1800"/>
              <a:buChar char="-"/>
            </a:pPr>
            <a:r>
              <a:rPr lang="en"/>
              <a:t>Services are heterogeneous → no singular unit </a:t>
            </a:r>
            <a:endParaRPr/>
          </a:p>
          <a:p>
            <a:pPr marL="457200" lvl="0" indent="-342900" algn="l" rtl="0">
              <a:spcBef>
                <a:spcPts val="0"/>
              </a:spcBef>
              <a:spcAft>
                <a:spcPts val="0"/>
              </a:spcAft>
              <a:buSzPts val="1800"/>
              <a:buChar char="-"/>
            </a:pPr>
            <a:r>
              <a:rPr lang="en"/>
              <a:t>Default measure is spending on medical care </a:t>
            </a:r>
            <a:endParaRPr/>
          </a:p>
          <a:p>
            <a:pPr marL="457200" lvl="0" indent="-342900" algn="l" rtl="0">
              <a:spcBef>
                <a:spcPts val="0"/>
              </a:spcBef>
              <a:spcAft>
                <a:spcPts val="0"/>
              </a:spcAft>
              <a:buSzPts val="1800"/>
              <a:buChar char="-"/>
            </a:pPr>
            <a:r>
              <a:rPr lang="en"/>
              <a:t>Quality is not uniform </a:t>
            </a:r>
            <a:endParaRPr/>
          </a:p>
          <a:p>
            <a:pPr marL="0" lvl="0" indent="0" algn="l" rtl="0">
              <a:spcBef>
                <a:spcPts val="1200"/>
              </a:spcBef>
              <a:spcAft>
                <a:spcPts val="1200"/>
              </a:spcAft>
              <a:buNone/>
            </a:pPr>
            <a:endParaRPr/>
          </a:p>
        </p:txBody>
      </p:sp>
      <p:grpSp>
        <p:nvGrpSpPr>
          <p:cNvPr id="118" name="Google Shape;118;p22"/>
          <p:cNvGrpSpPr/>
          <p:nvPr/>
        </p:nvGrpSpPr>
        <p:grpSpPr>
          <a:xfrm>
            <a:off x="496300" y="1182085"/>
            <a:ext cx="8336000" cy="1120030"/>
            <a:chOff x="496300" y="1097875"/>
            <a:chExt cx="8336000" cy="1120030"/>
          </a:xfrm>
        </p:grpSpPr>
        <p:sp>
          <p:nvSpPr>
            <p:cNvPr id="119" name="Google Shape;119;p22"/>
            <p:cNvSpPr txBox="1"/>
            <p:nvPr/>
          </p:nvSpPr>
          <p:spPr>
            <a:xfrm>
              <a:off x="496300" y="1097875"/>
              <a:ext cx="1313045" cy="451200"/>
            </a:xfrm>
            <a:prstGeom prst="rect">
              <a:avLst/>
            </a:prstGeom>
            <a:solidFill>
              <a:schemeClr val="accent1">
                <a:lumMod val="20000"/>
                <a:lumOff val="80000"/>
              </a:scheme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Definition </a:t>
              </a:r>
              <a:endParaRPr sz="1800" dirty="0">
                <a:solidFill>
                  <a:schemeClr val="dk2"/>
                </a:solidFill>
              </a:endParaRPr>
            </a:p>
            <a:p>
              <a:pPr marL="0" lvl="0" indent="0" algn="l" rtl="0">
                <a:spcBef>
                  <a:spcPts val="0"/>
                </a:spcBef>
                <a:spcAft>
                  <a:spcPts val="0"/>
                </a:spcAft>
                <a:buNone/>
              </a:pPr>
              <a:endParaRPr sz="1800" dirty="0">
                <a:solidFill>
                  <a:schemeClr val="dk2"/>
                </a:solidFill>
              </a:endParaRPr>
            </a:p>
          </p:txBody>
        </p:sp>
        <p:sp>
          <p:nvSpPr>
            <p:cNvPr id="120" name="Google Shape;120;p22"/>
            <p:cNvSpPr txBox="1"/>
            <p:nvPr/>
          </p:nvSpPr>
          <p:spPr>
            <a:xfrm>
              <a:off x="812150" y="1549074"/>
              <a:ext cx="8020150" cy="668831"/>
            </a:xfrm>
            <a:prstGeom prst="rect">
              <a:avLst/>
            </a:prstGeom>
            <a:solidFill>
              <a:schemeClr val="accent4">
                <a:lumMod val="20000"/>
                <a:lumOff val="80000"/>
              </a:scheme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Medical Care: Goods &amp; services that maintain, improve, or restore a person’s physical or mental well-being</a:t>
              </a:r>
              <a:endParaRPr sz="1800" b="1" dirty="0">
                <a:solidFill>
                  <a:schemeClr val="dk2"/>
                </a:solidFil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Demand for Health &amp; Health Care </a:t>
            </a:r>
            <a:endParaRPr/>
          </a:p>
        </p:txBody>
      </p:sp>
      <p:sp>
        <p:nvSpPr>
          <p:cNvPr id="126" name="Google Shape;126;p23"/>
          <p:cNvSpPr txBox="1">
            <a:spLocks noGrp="1"/>
          </p:cNvSpPr>
          <p:nvPr>
            <p:ph type="body" idx="1"/>
          </p:nvPr>
        </p:nvSpPr>
        <p:spPr>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AutoNum type="arabicPeriod"/>
            </a:pPr>
            <a:r>
              <a:rPr lang="en" dirty="0"/>
              <a:t>Demand for medical care is a derived demand. People consume healthcare to improve or maintain their health. </a:t>
            </a:r>
            <a:r>
              <a:rPr lang="en" b="1" dirty="0"/>
              <a:t>Utility is derived from health</a:t>
            </a:r>
            <a:r>
              <a:rPr lang="en" dirty="0"/>
              <a:t>, not health care. </a:t>
            </a:r>
            <a:endParaRPr dirty="0"/>
          </a:p>
          <a:p>
            <a:pPr marL="457200" lvl="0" indent="-342900" algn="l" rtl="0">
              <a:spcBef>
                <a:spcPts val="0"/>
              </a:spcBef>
              <a:spcAft>
                <a:spcPts val="0"/>
              </a:spcAft>
              <a:buSzPts val="1800"/>
              <a:buAutoNum type="arabicPeriod"/>
            </a:pPr>
            <a:r>
              <a:rPr lang="en" dirty="0"/>
              <a:t>Law of diminishing </a:t>
            </a:r>
            <a:r>
              <a:rPr lang="en" u="sng" dirty="0"/>
              <a:t>marginal utility</a:t>
            </a:r>
            <a:r>
              <a:rPr lang="en" dirty="0"/>
              <a:t>: the marginal utility of health improvements diminishes in magnitude as health status increases </a:t>
            </a:r>
            <a:endParaRPr dirty="0"/>
          </a:p>
          <a:p>
            <a:pPr marL="457200" lvl="0" indent="-342900" algn="l" rtl="0">
              <a:spcBef>
                <a:spcPts val="0"/>
              </a:spcBef>
              <a:spcAft>
                <a:spcPts val="0"/>
              </a:spcAft>
              <a:buSzPts val="1800"/>
              <a:buAutoNum type="arabicPeriod"/>
            </a:pPr>
            <a:r>
              <a:rPr lang="en" dirty="0"/>
              <a:t>Law of diminishing </a:t>
            </a:r>
            <a:r>
              <a:rPr lang="en" u="sng" dirty="0"/>
              <a:t>marginal productivity</a:t>
            </a:r>
            <a:r>
              <a:rPr lang="en" dirty="0"/>
              <a:t>: The marginal impact on health of increased spending for medical care diminishes as the level of spending increases. </a:t>
            </a:r>
            <a:endParaRPr dirty="0"/>
          </a:p>
          <a:p>
            <a:pPr marL="457200" lvl="0" indent="-342900" algn="l" rtl="0">
              <a:spcBef>
                <a:spcPts val="0"/>
              </a:spcBef>
              <a:spcAft>
                <a:spcPts val="0"/>
              </a:spcAft>
              <a:buSzPts val="1800"/>
              <a:buAutoNum type="arabicPeriod"/>
            </a:pPr>
            <a:r>
              <a:rPr lang="en" dirty="0"/>
              <a:t>Non-healthcare spending externalities: additional spending on non-medical interventions may have a greater impact on health than additional spending on medical care </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Grossman Model: Demand for care is a derived demand </a:t>
            </a:r>
            <a:endParaRPr/>
          </a:p>
        </p:txBody>
      </p:sp>
      <p:sp>
        <p:nvSpPr>
          <p:cNvPr id="132" name="Google Shape;132;p24"/>
          <p:cNvSpPr txBox="1">
            <a:spLocks noGrp="1"/>
          </p:cNvSpPr>
          <p:nvPr>
            <p:ph type="body" idx="1"/>
          </p:nvPr>
        </p:nvSpPr>
        <p:spPr>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dirty="0"/>
              <a:t>People demand health, not health care. Health is a durable capital good that individuals invest in over their lifetime.</a:t>
            </a:r>
            <a:endParaRPr dirty="0"/>
          </a:p>
          <a:p>
            <a:pPr marL="0" lvl="0" indent="0" algn="l" rtl="0">
              <a:spcBef>
                <a:spcPts val="1200"/>
              </a:spcBef>
              <a:spcAft>
                <a:spcPts val="0"/>
              </a:spcAft>
              <a:buNone/>
            </a:pPr>
            <a:r>
              <a:rPr lang="en" dirty="0"/>
              <a:t>Health serves 2 purposes: </a:t>
            </a:r>
            <a:endParaRPr dirty="0"/>
          </a:p>
          <a:p>
            <a:pPr marL="457200" lvl="0" indent="-334327" algn="l" rtl="0">
              <a:spcBef>
                <a:spcPts val="1200"/>
              </a:spcBef>
              <a:spcAft>
                <a:spcPts val="0"/>
              </a:spcAft>
              <a:buSzPct val="100000"/>
              <a:buAutoNum type="arabicPeriod"/>
            </a:pPr>
            <a:r>
              <a:rPr lang="en" b="1" dirty="0"/>
              <a:t>Consumption value </a:t>
            </a:r>
            <a:endParaRPr b="1" dirty="0"/>
          </a:p>
          <a:p>
            <a:pPr marL="457200" lvl="0" indent="-334327" algn="l" rtl="0">
              <a:spcBef>
                <a:spcPts val="0"/>
              </a:spcBef>
              <a:spcAft>
                <a:spcPts val="0"/>
              </a:spcAft>
              <a:buSzPct val="100000"/>
              <a:buAutoNum type="arabicPeriod"/>
            </a:pPr>
            <a:r>
              <a:rPr lang="en" b="1" dirty="0"/>
              <a:t>Investment value </a:t>
            </a:r>
            <a:endParaRPr b="1" dirty="0"/>
          </a:p>
          <a:p>
            <a:pPr marL="0" lvl="0" indent="0" algn="l" rtl="0">
              <a:spcBef>
                <a:spcPts val="1200"/>
              </a:spcBef>
              <a:spcAft>
                <a:spcPts val="0"/>
              </a:spcAft>
              <a:buNone/>
            </a:pPr>
            <a:r>
              <a:rPr lang="en" dirty="0">
                <a:solidFill>
                  <a:schemeClr val="accent1"/>
                </a:solidFill>
              </a:rPr>
              <a:t>Health depreciation: </a:t>
            </a:r>
            <a:r>
              <a:rPr lang="en" dirty="0"/>
              <a:t>Health stock depreciates over time at an increasing rate (with age). This drives the need for ongoing investment in health maintenance. </a:t>
            </a:r>
            <a:endParaRPr dirty="0"/>
          </a:p>
          <a:p>
            <a:pPr marL="457200" lvl="0" indent="-299085" algn="l" rtl="0">
              <a:spcBef>
                <a:spcPts val="1200"/>
              </a:spcBef>
              <a:spcAft>
                <a:spcPts val="0"/>
              </a:spcAft>
              <a:buClr>
                <a:schemeClr val="dk1"/>
              </a:buClr>
              <a:buSzPct val="66666"/>
              <a:buFont typeface="Roboto"/>
              <a:buChar char="●"/>
            </a:pPr>
            <a:r>
              <a:rPr lang="en" dirty="0"/>
              <a:t>Higher wages → greater demand for health (more earnings to protect)</a:t>
            </a:r>
            <a:endParaRPr dirty="0"/>
          </a:p>
          <a:p>
            <a:pPr marL="457200" lvl="0" indent="-299085" algn="l" rtl="0">
              <a:spcBef>
                <a:spcPts val="0"/>
              </a:spcBef>
              <a:spcAft>
                <a:spcPts val="0"/>
              </a:spcAft>
              <a:buClr>
                <a:schemeClr val="dk1"/>
              </a:buClr>
              <a:buSzPct val="66666"/>
              <a:buFont typeface="Roboto"/>
              <a:buChar char="●"/>
            </a:pPr>
            <a:r>
              <a:rPr lang="en" dirty="0"/>
              <a:t>Higher education → greater demand for health (more productive use of healthy time)</a:t>
            </a:r>
            <a:endParaRPr dirty="0"/>
          </a:p>
          <a:p>
            <a:pPr marL="0" lvl="0" indent="0" algn="l" rtl="0">
              <a:spcBef>
                <a:spcPts val="0"/>
              </a:spcBef>
              <a:spcAft>
                <a:spcPts val="1200"/>
              </a:spcAft>
              <a:buNone/>
            </a:pPr>
            <a:endParaRPr sz="1200" dirty="0">
              <a:solidFill>
                <a:schemeClr val="dk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Law of diminishing marginal utility (of health)  </a:t>
            </a:r>
            <a:endParaRPr/>
          </a:p>
        </p:txBody>
      </p:sp>
      <p:sp>
        <p:nvSpPr>
          <p:cNvPr id="138" name="Google Shape;138;p25"/>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solidFill>
                  <a:schemeClr val="accent1"/>
                </a:solidFill>
              </a:rPr>
              <a:t>Law of diminishing marginal utility: </a:t>
            </a:r>
            <a:r>
              <a:rPr lang="en" dirty="0"/>
              <a:t>each additional improvement in health generates an ever smaller increase in utility. </a:t>
            </a:r>
            <a:endParaRPr dirty="0"/>
          </a:p>
        </p:txBody>
      </p:sp>
      <p:pic>
        <p:nvPicPr>
          <p:cNvPr id="139" name="Google Shape;139;p25"/>
          <p:cNvPicPr preferRelativeResize="0"/>
          <p:nvPr/>
        </p:nvPicPr>
        <p:blipFill>
          <a:blip r:embed="rId3">
            <a:alphaModFix/>
          </a:blip>
          <a:stretch>
            <a:fillRect/>
          </a:stretch>
        </p:blipFill>
        <p:spPr>
          <a:xfrm>
            <a:off x="2113025" y="1911263"/>
            <a:ext cx="4286250" cy="3095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6"/>
          <p:cNvSpPr txBox="1">
            <a:spLocks noGrp="1"/>
          </p:cNvSpPr>
          <p:nvPr>
            <p:ph type="title"/>
          </p:nvPr>
        </p:nvSpPr>
        <p:spPr>
          <a:xfrm>
            <a:off x="311700" y="26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Law of diminishing marginal productivity (of health) </a:t>
            </a:r>
            <a:endParaRPr/>
          </a:p>
        </p:txBody>
      </p:sp>
      <p:sp>
        <p:nvSpPr>
          <p:cNvPr id="145" name="Google Shape;145;p26"/>
          <p:cNvSpPr txBox="1">
            <a:spLocks noGrp="1"/>
          </p:cNvSpPr>
          <p:nvPr>
            <p:ph type="body" idx="1"/>
          </p:nvPr>
        </p:nvSpPr>
        <p:spPr>
          <a:xfrm>
            <a:off x="311700" y="1101968"/>
            <a:ext cx="8520600" cy="3061431"/>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solidFill>
                  <a:schemeClr val="accent1"/>
                </a:solidFill>
              </a:rPr>
              <a:t>Law of diminishing marginal productivity: </a:t>
            </a:r>
            <a:r>
              <a:rPr lang="en" dirty="0"/>
              <a:t>health increases at a decreasing rate when additional units of health care are consumed, holding all other inputs in the health production process constant.</a:t>
            </a:r>
            <a:endParaRPr dirty="0"/>
          </a:p>
        </p:txBody>
      </p:sp>
      <p:grpSp>
        <p:nvGrpSpPr>
          <p:cNvPr id="146" name="Google Shape;146;p26"/>
          <p:cNvGrpSpPr/>
          <p:nvPr/>
        </p:nvGrpSpPr>
        <p:grpSpPr>
          <a:xfrm>
            <a:off x="2063261" y="2192215"/>
            <a:ext cx="5228492" cy="2686485"/>
            <a:chOff x="1558075" y="1260475"/>
            <a:chExt cx="5916625" cy="3200400"/>
          </a:xfrm>
        </p:grpSpPr>
        <p:pic>
          <p:nvPicPr>
            <p:cNvPr id="147" name="Google Shape;147;p26"/>
            <p:cNvPicPr preferRelativeResize="0"/>
            <p:nvPr/>
          </p:nvPicPr>
          <p:blipFill>
            <a:blip r:embed="rId3">
              <a:alphaModFix/>
            </a:blip>
            <a:stretch>
              <a:fillRect/>
            </a:stretch>
          </p:blipFill>
          <p:spPr>
            <a:xfrm>
              <a:off x="1558075" y="1260475"/>
              <a:ext cx="5486400" cy="3200400"/>
            </a:xfrm>
            <a:prstGeom prst="rect">
              <a:avLst/>
            </a:prstGeom>
            <a:noFill/>
            <a:ln>
              <a:noFill/>
            </a:ln>
          </p:spPr>
        </p:pic>
        <p:sp>
          <p:nvSpPr>
            <p:cNvPr id="148" name="Google Shape;148;p26"/>
            <p:cNvSpPr/>
            <p:nvPr/>
          </p:nvSpPr>
          <p:spPr>
            <a:xfrm>
              <a:off x="5564600" y="2045375"/>
              <a:ext cx="1910100" cy="2150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206192" y="29153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Law of diminishing marginal productivity (of health) </a:t>
            </a:r>
            <a:endParaRPr/>
          </a:p>
        </p:txBody>
      </p:sp>
      <p:sp>
        <p:nvSpPr>
          <p:cNvPr id="154" name="Google Shape;154;p27"/>
          <p:cNvSpPr txBox="1">
            <a:spLocks noGrp="1"/>
          </p:cNvSpPr>
          <p:nvPr>
            <p:ph type="body" idx="1"/>
          </p:nvPr>
        </p:nvSpPr>
        <p:spPr>
          <a:xfrm>
            <a:off x="311700" y="1160584"/>
            <a:ext cx="8520600" cy="3002815"/>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dirty="0"/>
              <a:t>Most of US spending on healthcare corresponds to the flat of the curve. → higher spending, but same (or worse) health status than other countries </a:t>
            </a:r>
            <a:endParaRPr dirty="0"/>
          </a:p>
        </p:txBody>
      </p:sp>
      <p:pic>
        <p:nvPicPr>
          <p:cNvPr id="155" name="Google Shape;155;p27"/>
          <p:cNvPicPr preferRelativeResize="0"/>
          <p:nvPr/>
        </p:nvPicPr>
        <p:blipFill>
          <a:blip r:embed="rId3">
            <a:alphaModFix/>
          </a:blip>
          <a:stretch>
            <a:fillRect/>
          </a:stretch>
        </p:blipFill>
        <p:spPr>
          <a:xfrm>
            <a:off x="1626513" y="1994988"/>
            <a:ext cx="4657725" cy="2657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8"/>
          <p:cNvSpPr txBox="1">
            <a:spLocks noGrp="1"/>
          </p:cNvSpPr>
          <p:nvPr>
            <p:ph type="title"/>
          </p:nvPr>
        </p:nvSpPr>
        <p:spPr>
          <a:xfrm>
            <a:off x="311700" y="291531"/>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Law of diminishing marginal productivity (of health) </a:t>
            </a:r>
            <a:endParaRPr dirty="0"/>
          </a:p>
        </p:txBody>
      </p:sp>
      <p:sp>
        <p:nvSpPr>
          <p:cNvPr id="161" name="Google Shape;161;p28"/>
          <p:cNvSpPr txBox="1">
            <a:spLocks noGrp="1"/>
          </p:cNvSpPr>
          <p:nvPr>
            <p:ph type="body" idx="1"/>
          </p:nvPr>
        </p:nvSpPr>
        <p:spPr>
          <a:xfrm>
            <a:off x="311700" y="1266092"/>
            <a:ext cx="8520600" cy="289730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What affects the TPC? </a:t>
            </a:r>
            <a:endParaRPr dirty="0"/>
          </a:p>
          <a:p>
            <a:pPr marL="457200" lvl="0" indent="-342900" algn="l" rtl="0">
              <a:spcBef>
                <a:spcPts val="1200"/>
              </a:spcBef>
              <a:spcAft>
                <a:spcPts val="0"/>
              </a:spcAft>
              <a:buSzPts val="1800"/>
              <a:buChar char="-"/>
            </a:pPr>
            <a:r>
              <a:rPr lang="en" dirty="0"/>
              <a:t>Education shifts up &amp; rotates it upward</a:t>
            </a:r>
            <a:endParaRPr dirty="0"/>
          </a:p>
          <a:p>
            <a:pPr marL="457200" lvl="0" indent="-342900" algn="l" rtl="0">
              <a:spcBef>
                <a:spcPts val="0"/>
              </a:spcBef>
              <a:spcAft>
                <a:spcPts val="0"/>
              </a:spcAft>
              <a:buSzPts val="1800"/>
              <a:buChar char="-"/>
            </a:pPr>
            <a:r>
              <a:rPr lang="en" dirty="0"/>
              <a:t>Disease shifts down &amp; rotate it upward </a:t>
            </a:r>
            <a:endParaRPr dirty="0"/>
          </a:p>
          <a:p>
            <a:pPr marL="457200" lvl="0" indent="-342900" algn="l" rtl="0">
              <a:spcBef>
                <a:spcPts val="0"/>
              </a:spcBef>
              <a:spcAft>
                <a:spcPts val="0"/>
              </a:spcAft>
              <a:buSzPts val="1800"/>
              <a:buChar char="-"/>
            </a:pPr>
            <a:r>
              <a:rPr lang="en" dirty="0"/>
              <a:t>Income shifts it up </a:t>
            </a:r>
            <a:endParaRPr dirty="0"/>
          </a:p>
          <a:p>
            <a:pPr marL="457200" lvl="0" indent="-342900" algn="l" rtl="0">
              <a:spcBef>
                <a:spcPts val="0"/>
              </a:spcBef>
              <a:spcAft>
                <a:spcPts val="0"/>
              </a:spcAft>
              <a:buSzPts val="1800"/>
              <a:buChar char="-"/>
            </a:pPr>
            <a:r>
              <a:rPr lang="en" dirty="0"/>
              <a:t>Technological advances either increase productivity or occur in the flat of the curve</a:t>
            </a:r>
            <a:endParaRPr dirty="0"/>
          </a:p>
          <a:p>
            <a:pPr marL="457200" lvl="0" indent="-342900" algn="l" rtl="0">
              <a:spcBef>
                <a:spcPts val="0"/>
              </a:spcBef>
              <a:spcAft>
                <a:spcPts val="0"/>
              </a:spcAft>
              <a:buSzPts val="1800"/>
              <a:buChar char="-"/>
            </a:pPr>
            <a:r>
              <a:rPr lang="en" dirty="0"/>
              <a:t>Other spending could shift TPC up or down (e.g. public health, preventive care, nutrition, exercise) </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Production function of health </a:t>
            </a:r>
            <a:endParaRPr/>
          </a:p>
        </p:txBody>
      </p:sp>
      <p:sp>
        <p:nvSpPr>
          <p:cNvPr id="168" name="Google Shape;168;p29"/>
          <p:cNvSpPr txBox="1">
            <a:spLocks noGrp="1"/>
          </p:cNvSpPr>
          <p:nvPr>
            <p:ph type="body" idx="1"/>
          </p:nvPr>
        </p:nvSpPr>
        <p:spPr>
          <a:xfrm>
            <a:off x="855785" y="2857501"/>
            <a:ext cx="7976515" cy="776653"/>
          </a:xfrm>
          <a:prstGeom prst="rect">
            <a:avLst/>
          </a:prstGeom>
          <a:solidFill>
            <a:schemeClr val="accent4">
              <a:lumMod val="20000"/>
              <a:lumOff val="80000"/>
            </a:schemeClr>
          </a:solidFill>
        </p:spPr>
        <p:txBody>
          <a:bodyPr spcFirstLastPara="1" wrap="square" lIns="91425" tIns="91425" rIns="91425" bIns="91425" anchor="t" anchorCtr="0">
            <a:normAutofit fontScale="92500" lnSpcReduction="10000"/>
          </a:bodyPr>
          <a:lstStyle/>
          <a:p>
            <a:pPr marL="0" lvl="0" indent="0" algn="l" rtl="0">
              <a:spcBef>
                <a:spcPts val="0"/>
              </a:spcBef>
              <a:buNone/>
            </a:pPr>
            <a:r>
              <a:rPr lang="en" u="sng" dirty="0"/>
              <a:t>Social Determinants of Health: </a:t>
            </a:r>
            <a:r>
              <a:rPr lang="en" dirty="0"/>
              <a:t> conditions in which people are born, grow, live, work and age, and people’s access to power, money and resources </a:t>
            </a:r>
            <a:endParaRPr dirty="0"/>
          </a:p>
        </p:txBody>
      </p:sp>
      <p:pic>
        <p:nvPicPr>
          <p:cNvPr id="167" name="Google Shape;167;p29"/>
          <p:cNvPicPr preferRelativeResize="0"/>
          <p:nvPr/>
        </p:nvPicPr>
        <p:blipFill>
          <a:blip r:embed="rId3">
            <a:alphaModFix/>
          </a:blip>
          <a:stretch>
            <a:fillRect/>
          </a:stretch>
        </p:blipFill>
        <p:spPr>
          <a:xfrm>
            <a:off x="509275" y="1425800"/>
            <a:ext cx="8125446" cy="860200"/>
          </a:xfrm>
          <a:prstGeom prst="rect">
            <a:avLst/>
          </a:prstGeom>
          <a:noFill/>
          <a:ln>
            <a:noFill/>
          </a:ln>
        </p:spPr>
      </p:pic>
      <p:sp>
        <p:nvSpPr>
          <p:cNvPr id="2" name="Google Shape;168;p29">
            <a:extLst>
              <a:ext uri="{FF2B5EF4-FFF2-40B4-BE49-F238E27FC236}">
                <a16:creationId xmlns:a16="http://schemas.microsoft.com/office/drawing/2014/main" id="{1CF1509B-00D7-7575-4388-DBCF89E17B3F}"/>
              </a:ext>
            </a:extLst>
          </p:cNvPr>
          <p:cNvSpPr txBox="1">
            <a:spLocks/>
          </p:cNvSpPr>
          <p:nvPr/>
        </p:nvSpPr>
        <p:spPr>
          <a:xfrm>
            <a:off x="464100" y="2449426"/>
            <a:ext cx="1528823" cy="408075"/>
          </a:xfrm>
          <a:prstGeom prst="rect">
            <a:avLst/>
          </a:prstGeom>
          <a:solidFill>
            <a:schemeClr val="accent1">
              <a:lumMod val="20000"/>
              <a:lumOff val="80000"/>
            </a:schemeClr>
          </a:solid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u="sng" dirty="0"/>
              <a:t>Definition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Recap, Questions, &amp; Break </a:t>
            </a:r>
            <a:endParaRPr dirty="0"/>
          </a:p>
        </p:txBody>
      </p:sp>
      <p:sp>
        <p:nvSpPr>
          <p:cNvPr id="2" name="AutoShape 2">
            <a:extLst>
              <a:ext uri="{FF2B5EF4-FFF2-40B4-BE49-F238E27FC236}">
                <a16:creationId xmlns:a16="http://schemas.microsoft.com/office/drawing/2014/main" id="{275B8528-DBE0-F374-B676-111AF5F9F72B}"/>
              </a:ext>
            </a:extLst>
          </p:cNvPr>
          <p:cNvSpPr>
            <a:spLocks noChangeAspect="1" noChangeArrowheads="1"/>
          </p:cNvSpPr>
          <p:nvPr/>
        </p:nvSpPr>
        <p:spPr bwMode="auto">
          <a:xfrm>
            <a:off x="2825262" y="2419350"/>
            <a:ext cx="1899138" cy="18991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BBD5558E-5EDC-7F5A-246D-201ADA0CC233}"/>
              </a:ext>
            </a:extLst>
          </p:cNvPr>
          <p:cNvPicPr>
            <a:picLocks noChangeAspect="1"/>
          </p:cNvPicPr>
          <p:nvPr/>
        </p:nvPicPr>
        <p:blipFill>
          <a:blip r:embed="rId3"/>
          <a:stretch>
            <a:fillRect/>
          </a:stretch>
        </p:blipFill>
        <p:spPr>
          <a:xfrm>
            <a:off x="3626789" y="1915258"/>
            <a:ext cx="1890422" cy="21267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 Demand Curve for Medical Services </a:t>
            </a:r>
            <a:endParaRPr dirty="0"/>
          </a:p>
        </p:txBody>
      </p:sp>
      <p:pic>
        <p:nvPicPr>
          <p:cNvPr id="202" name="Google Shape;202;p34"/>
          <p:cNvPicPr preferRelativeResize="0"/>
          <p:nvPr/>
        </p:nvPicPr>
        <p:blipFill>
          <a:blip r:embed="rId3">
            <a:alphaModFix/>
          </a:blip>
          <a:stretch>
            <a:fillRect/>
          </a:stretch>
        </p:blipFill>
        <p:spPr>
          <a:xfrm>
            <a:off x="990925" y="1510900"/>
            <a:ext cx="6391275" cy="3248025"/>
          </a:xfrm>
          <a:prstGeom prst="rect">
            <a:avLst/>
          </a:prstGeom>
          <a:noFill/>
          <a:ln>
            <a:noFill/>
          </a:ln>
        </p:spPr>
      </p:pic>
      <p:sp>
        <p:nvSpPr>
          <p:cNvPr id="2" name="Rectangle 1">
            <a:extLst>
              <a:ext uri="{FF2B5EF4-FFF2-40B4-BE49-F238E27FC236}">
                <a16:creationId xmlns:a16="http://schemas.microsoft.com/office/drawing/2014/main" id="{A1FED619-E09C-0404-CDBD-658B1BBFFB24}"/>
              </a:ext>
            </a:extLst>
          </p:cNvPr>
          <p:cNvSpPr/>
          <p:nvPr/>
        </p:nvSpPr>
        <p:spPr>
          <a:xfrm>
            <a:off x="2228850" y="1522330"/>
            <a:ext cx="3154680" cy="240959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E15EE6F-263D-A988-98B3-61B72B103F37}"/>
              </a:ext>
            </a:extLst>
          </p:cNvPr>
          <p:cNvSpPr txBox="1"/>
          <p:nvPr/>
        </p:nvSpPr>
        <p:spPr>
          <a:xfrm>
            <a:off x="2537460" y="2611692"/>
            <a:ext cx="2903220" cy="523220"/>
          </a:xfrm>
          <a:prstGeom prst="rect">
            <a:avLst/>
          </a:prstGeom>
          <a:noFill/>
        </p:spPr>
        <p:txBody>
          <a:bodyPr wrap="square">
            <a:spAutoFit/>
          </a:bodyPr>
          <a:lstStyle/>
          <a:p>
            <a:r>
              <a:rPr lang="en-US" b="1" dirty="0">
                <a:solidFill>
                  <a:srgbClr val="333333"/>
                </a:solidFill>
                <a:latin typeface="Segoe UI" panose="020B0502040204020203" pitchFamily="34" charset="0"/>
              </a:rPr>
              <a:t>W</a:t>
            </a:r>
            <a:r>
              <a:rPr lang="en-US" b="1" i="0" dirty="0">
                <a:solidFill>
                  <a:srgbClr val="333333"/>
                </a:solidFill>
                <a:effectLst/>
                <a:latin typeface="Segoe UI" panose="020B0502040204020203" pitchFamily="34" charset="0"/>
              </a:rPr>
              <a:t>hich way </a:t>
            </a:r>
            <a:r>
              <a:rPr lang="en-US" b="1" dirty="0">
                <a:solidFill>
                  <a:srgbClr val="333333"/>
                </a:solidFill>
                <a:latin typeface="Segoe UI" panose="020B0502040204020203" pitchFamily="34" charset="0"/>
              </a:rPr>
              <a:t>does</a:t>
            </a:r>
            <a:r>
              <a:rPr lang="en-US" b="1" i="0" dirty="0">
                <a:solidFill>
                  <a:srgbClr val="333333"/>
                </a:solidFill>
                <a:effectLst/>
                <a:latin typeface="Segoe UI" panose="020B0502040204020203" pitchFamily="34" charset="0"/>
              </a:rPr>
              <a:t> the demand curve slope?</a:t>
            </a:r>
            <a:endParaRPr lang="en-US"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169CB8E9-A13E-28A4-9E8C-A0BE22D876A7}"/>
            </a:ext>
          </a:extLst>
        </p:cNvPr>
        <p:cNvGrpSpPr/>
        <p:nvPr/>
      </p:nvGrpSpPr>
      <p:grpSpPr>
        <a:xfrm>
          <a:off x="0" y="0"/>
          <a:ext cx="0" cy="0"/>
          <a:chOff x="0" y="0"/>
          <a:chExt cx="0" cy="0"/>
        </a:xfrm>
      </p:grpSpPr>
      <p:sp>
        <p:nvSpPr>
          <p:cNvPr id="201" name="Google Shape;201;p34">
            <a:extLst>
              <a:ext uri="{FF2B5EF4-FFF2-40B4-BE49-F238E27FC236}">
                <a16:creationId xmlns:a16="http://schemas.microsoft.com/office/drawing/2014/main" id="{7400E761-E6FB-CE65-87B3-6A8AE70D8FB7}"/>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Demand Curve for Medical Services </a:t>
            </a:r>
            <a:endParaRPr/>
          </a:p>
        </p:txBody>
      </p:sp>
      <p:pic>
        <p:nvPicPr>
          <p:cNvPr id="202" name="Google Shape;202;p34">
            <a:extLst>
              <a:ext uri="{FF2B5EF4-FFF2-40B4-BE49-F238E27FC236}">
                <a16:creationId xmlns:a16="http://schemas.microsoft.com/office/drawing/2014/main" id="{9C15F473-791A-10E0-BA74-AAC6F394F312}"/>
              </a:ext>
            </a:extLst>
          </p:cNvPr>
          <p:cNvPicPr preferRelativeResize="0"/>
          <p:nvPr/>
        </p:nvPicPr>
        <p:blipFill>
          <a:blip r:embed="rId3">
            <a:alphaModFix/>
          </a:blip>
          <a:stretch>
            <a:fillRect/>
          </a:stretch>
        </p:blipFill>
        <p:spPr>
          <a:xfrm>
            <a:off x="990925" y="1510900"/>
            <a:ext cx="6391275" cy="3248025"/>
          </a:xfrm>
          <a:prstGeom prst="rect">
            <a:avLst/>
          </a:prstGeom>
          <a:noFill/>
          <a:ln>
            <a:noFill/>
          </a:ln>
        </p:spPr>
      </p:pic>
    </p:spTree>
    <p:extLst>
      <p:ext uri="{BB962C8B-B14F-4D97-AF65-F5344CB8AC3E}">
        <p14:creationId xmlns:p14="http://schemas.microsoft.com/office/powerpoint/2010/main" val="2175153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Basics of Demand Curve </a:t>
            </a:r>
            <a:endParaRPr/>
          </a:p>
        </p:txBody>
      </p:sp>
      <p:pic>
        <p:nvPicPr>
          <p:cNvPr id="208" name="Google Shape;208;p35"/>
          <p:cNvPicPr preferRelativeResize="0"/>
          <p:nvPr/>
        </p:nvPicPr>
        <p:blipFill>
          <a:blip r:embed="rId3">
            <a:alphaModFix/>
          </a:blip>
          <a:stretch>
            <a:fillRect/>
          </a:stretch>
        </p:blipFill>
        <p:spPr>
          <a:xfrm>
            <a:off x="4463100" y="1302450"/>
            <a:ext cx="4369200" cy="3099575"/>
          </a:xfrm>
          <a:prstGeom prst="rect">
            <a:avLst/>
          </a:prstGeom>
          <a:noFill/>
          <a:ln>
            <a:noFill/>
          </a:ln>
        </p:spPr>
      </p:pic>
      <p:sp>
        <p:nvSpPr>
          <p:cNvPr id="209" name="Google Shape;209;p35"/>
          <p:cNvSpPr txBox="1"/>
          <p:nvPr/>
        </p:nvSpPr>
        <p:spPr>
          <a:xfrm>
            <a:off x="447050" y="1302450"/>
            <a:ext cx="3703800" cy="313929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t>This </a:t>
            </a:r>
            <a:r>
              <a:rPr lang="en" sz="1600" dirty="0">
                <a:solidFill>
                  <a:schemeClr val="accent1"/>
                </a:solidFill>
              </a:rPr>
              <a:t>demand curve </a:t>
            </a:r>
            <a:r>
              <a:rPr lang="en" sz="1600" dirty="0"/>
              <a:t>reflects the</a:t>
            </a:r>
            <a:r>
              <a:rPr lang="en" sz="1600" b="1" dirty="0"/>
              <a:t> Marginal Benefit (MB)</a:t>
            </a:r>
            <a:r>
              <a:rPr lang="en" sz="1600" dirty="0"/>
              <a:t> to an individual consumer from purchasing different amounts (q) of apples</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b="1" dirty="0">
                <a:solidFill>
                  <a:schemeClr val="accent1"/>
                </a:solidFill>
              </a:rPr>
              <a:t>MB = ΔTB / ΔQ</a:t>
            </a:r>
            <a:endParaRPr sz="1600" b="1" dirty="0">
              <a:solidFill>
                <a:schemeClr val="accent1"/>
              </a:solidFill>
            </a:endParaRPr>
          </a:p>
          <a:p>
            <a:pPr marL="0" lvl="0" indent="0" algn="l" rtl="0">
              <a:spcBef>
                <a:spcPts val="0"/>
              </a:spcBef>
              <a:spcAft>
                <a:spcPts val="0"/>
              </a:spcAft>
              <a:buNone/>
            </a:pPr>
            <a:r>
              <a:rPr lang="en" sz="1600" dirty="0"/>
              <a:t>MB = how much more are you paying for the additional apple?</a:t>
            </a:r>
            <a:endParaRPr sz="1600" dirty="0"/>
          </a:p>
          <a:p>
            <a:pPr marL="0" lvl="0" indent="0" algn="l" rtl="0">
              <a:spcBef>
                <a:spcPts val="0"/>
              </a:spcBef>
              <a:spcAft>
                <a:spcPts val="0"/>
              </a:spcAft>
              <a:buNone/>
            </a:pPr>
            <a:endParaRPr sz="1600" dirty="0"/>
          </a:p>
          <a:p>
            <a:pPr marL="0" lvl="0" indent="0" algn="l" rtl="0">
              <a:spcBef>
                <a:spcPts val="0"/>
              </a:spcBef>
              <a:spcAft>
                <a:spcPts val="0"/>
              </a:spcAft>
              <a:buNone/>
            </a:pPr>
            <a:r>
              <a:rPr lang="en" sz="1600" dirty="0"/>
              <a:t>Demand is a function of: </a:t>
            </a:r>
            <a:endParaRPr sz="1600" dirty="0"/>
          </a:p>
          <a:p>
            <a:pPr marL="457200" lvl="0" indent="-317500" algn="l" rtl="0">
              <a:spcBef>
                <a:spcPts val="0"/>
              </a:spcBef>
              <a:spcAft>
                <a:spcPts val="0"/>
              </a:spcAft>
              <a:buSzPts val="1400"/>
              <a:buAutoNum type="arabicPeriod"/>
            </a:pPr>
            <a:r>
              <a:rPr lang="en" sz="1600" dirty="0"/>
              <a:t>Consumer preferences </a:t>
            </a:r>
            <a:endParaRPr sz="1600" dirty="0"/>
          </a:p>
          <a:p>
            <a:pPr marL="457200" lvl="0" indent="-317500" algn="l" rtl="0">
              <a:spcBef>
                <a:spcPts val="0"/>
              </a:spcBef>
              <a:spcAft>
                <a:spcPts val="0"/>
              </a:spcAft>
              <a:buSzPts val="1400"/>
              <a:buAutoNum type="arabicPeriod"/>
            </a:pPr>
            <a:r>
              <a:rPr lang="en" sz="1600" dirty="0"/>
              <a:t>Substitution effects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213"/>
        <p:cNvGrpSpPr/>
        <p:nvPr/>
      </p:nvGrpSpPr>
      <p:grpSpPr>
        <a:xfrm>
          <a:off x="0" y="0"/>
          <a:ext cx="0" cy="0"/>
          <a:chOff x="0" y="0"/>
          <a:chExt cx="0" cy="0"/>
        </a:xfrm>
      </p:grpSpPr>
      <p:sp>
        <p:nvSpPr>
          <p:cNvPr id="214" name="Google Shape;214;p3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Demand Curve for Physician Services</a:t>
            </a:r>
            <a:endParaRPr/>
          </a:p>
        </p:txBody>
      </p:sp>
      <p:sp>
        <p:nvSpPr>
          <p:cNvPr id="215" name="Google Shape;215;p36"/>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6" name="Google Shape;216;p36"/>
          <p:cNvPicPr preferRelativeResize="0"/>
          <p:nvPr/>
        </p:nvPicPr>
        <p:blipFill>
          <a:blip r:embed="rId3">
            <a:alphaModFix/>
          </a:blip>
          <a:stretch>
            <a:fillRect/>
          </a:stretch>
        </p:blipFill>
        <p:spPr>
          <a:xfrm>
            <a:off x="1966038" y="1282750"/>
            <a:ext cx="4391025" cy="32861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Economic variables that impact demand </a:t>
            </a:r>
            <a:endParaRPr/>
          </a:p>
        </p:txBody>
      </p:sp>
      <p:sp>
        <p:nvSpPr>
          <p:cNvPr id="222" name="Google Shape;222;p37"/>
          <p:cNvSpPr txBox="1">
            <a:spLocks noGrp="1"/>
          </p:cNvSpPr>
          <p:nvPr>
            <p:ph type="body" idx="1"/>
          </p:nvPr>
        </p:nvSpPr>
        <p:spPr>
          <a:xfrm>
            <a:off x="311700" y="1203150"/>
            <a:ext cx="8520600" cy="3729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dirty="0"/>
              <a:t>Income </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pic>
        <p:nvPicPr>
          <p:cNvPr id="223" name="Google Shape;223;p37"/>
          <p:cNvPicPr preferRelativeResize="0"/>
          <p:nvPr/>
        </p:nvPicPr>
        <p:blipFill>
          <a:blip r:embed="rId3">
            <a:alphaModFix/>
          </a:blip>
          <a:stretch>
            <a:fillRect/>
          </a:stretch>
        </p:blipFill>
        <p:spPr>
          <a:xfrm>
            <a:off x="541450" y="1754050"/>
            <a:ext cx="4279700" cy="3073600"/>
          </a:xfrm>
          <a:prstGeom prst="rect">
            <a:avLst/>
          </a:prstGeom>
          <a:noFill/>
          <a:ln>
            <a:noFill/>
          </a:ln>
        </p:spPr>
      </p:pic>
      <p:sp>
        <p:nvSpPr>
          <p:cNvPr id="224" name="Google Shape;224;p37"/>
          <p:cNvSpPr txBox="1"/>
          <p:nvPr/>
        </p:nvSpPr>
        <p:spPr>
          <a:xfrm>
            <a:off x="5147700" y="1231050"/>
            <a:ext cx="3684600" cy="248526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dirty="0">
                <a:solidFill>
                  <a:schemeClr val="dk2"/>
                </a:solidFill>
              </a:rPr>
              <a:t>2. Time, transportation, costs of seeking care </a:t>
            </a:r>
          </a:p>
          <a:p>
            <a:pPr marL="0" lvl="0" indent="0" algn="l" rtl="0">
              <a:lnSpc>
                <a:spcPct val="115000"/>
              </a:lnSpc>
              <a:spcBef>
                <a:spcPts val="0"/>
              </a:spcBef>
              <a:spcAft>
                <a:spcPts val="0"/>
              </a:spcAft>
              <a:buNone/>
            </a:pPr>
            <a:endParaRPr lang="en" sz="1800" dirty="0">
              <a:solidFill>
                <a:schemeClr val="dk2"/>
              </a:solidFill>
            </a:endParaRPr>
          </a:p>
          <a:p>
            <a:pPr marL="0" lvl="0" indent="0" algn="l" rtl="0">
              <a:lnSpc>
                <a:spcPct val="115000"/>
              </a:lnSpc>
              <a:spcBef>
                <a:spcPts val="0"/>
              </a:spcBef>
              <a:spcAft>
                <a:spcPts val="0"/>
              </a:spcAft>
              <a:buNone/>
            </a:pPr>
            <a:endParaRPr sz="1800" dirty="0">
              <a:solidFill>
                <a:schemeClr val="dk2"/>
              </a:solidFill>
            </a:endParaRPr>
          </a:p>
          <a:p>
            <a:pPr marL="0" lvl="0" indent="0" algn="l" rtl="0">
              <a:lnSpc>
                <a:spcPct val="115000"/>
              </a:lnSpc>
              <a:spcBef>
                <a:spcPts val="1200"/>
              </a:spcBef>
              <a:spcAft>
                <a:spcPts val="0"/>
              </a:spcAft>
              <a:buNone/>
            </a:pPr>
            <a:r>
              <a:rPr lang="en" sz="1800" dirty="0">
                <a:solidFill>
                  <a:schemeClr val="dk2"/>
                </a:solidFill>
              </a:rPr>
              <a:t>3. Price of other goods </a:t>
            </a:r>
            <a:endParaRPr sz="1800" dirty="0">
              <a:solidFill>
                <a:schemeClr val="dk2"/>
              </a:solidFill>
            </a:endParaRPr>
          </a:p>
          <a:p>
            <a:pPr marL="400050" lvl="0" indent="-285750" algn="l" rtl="0">
              <a:spcAft>
                <a:spcPts val="0"/>
              </a:spcAft>
              <a:buClr>
                <a:schemeClr val="dk2"/>
              </a:buClr>
              <a:buSzPts val="1800"/>
              <a:buFont typeface="Arial" panose="020B0604020202020204" pitchFamily="34" charset="0"/>
              <a:buChar char="•"/>
            </a:pPr>
            <a:r>
              <a:rPr lang="en" sz="1800" dirty="0">
                <a:solidFill>
                  <a:schemeClr val="dk2"/>
                </a:solidFill>
              </a:rPr>
              <a:t>Complements</a:t>
            </a:r>
          </a:p>
          <a:p>
            <a:pPr marL="400050" lvl="0" indent="-285750" algn="l" rtl="0">
              <a:spcAft>
                <a:spcPts val="0"/>
              </a:spcAft>
              <a:buClr>
                <a:schemeClr val="dk2"/>
              </a:buClr>
              <a:buSzPts val="1800"/>
              <a:buFont typeface="Arial" panose="020B0604020202020204" pitchFamily="34" charset="0"/>
              <a:buChar char="•"/>
            </a:pPr>
            <a:r>
              <a:rPr lang="en" sz="1800" dirty="0">
                <a:solidFill>
                  <a:schemeClr val="dk2"/>
                </a:solidFill>
              </a:rPr>
              <a:t>Substitutes</a:t>
            </a:r>
            <a:endParaRPr sz="1800" dirty="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5B385B6F-8475-947B-8A21-6127D3E43D19}"/>
            </a:ext>
          </a:extLst>
        </p:cNvPr>
        <p:cNvGrpSpPr/>
        <p:nvPr/>
      </p:nvGrpSpPr>
      <p:grpSpPr>
        <a:xfrm>
          <a:off x="0" y="0"/>
          <a:ext cx="0" cy="0"/>
          <a:chOff x="0" y="0"/>
          <a:chExt cx="0" cy="0"/>
        </a:xfrm>
      </p:grpSpPr>
      <p:sp>
        <p:nvSpPr>
          <p:cNvPr id="221" name="Google Shape;221;p37">
            <a:extLst>
              <a:ext uri="{FF2B5EF4-FFF2-40B4-BE49-F238E27FC236}">
                <a16:creationId xmlns:a16="http://schemas.microsoft.com/office/drawing/2014/main" id="{FE4CE14A-62B8-3CD5-676A-0D0505B8BFC4}"/>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Economic variables that impact demand </a:t>
            </a:r>
            <a:endParaRPr/>
          </a:p>
        </p:txBody>
      </p:sp>
      <p:sp>
        <p:nvSpPr>
          <p:cNvPr id="222" name="Google Shape;222;p37">
            <a:extLst>
              <a:ext uri="{FF2B5EF4-FFF2-40B4-BE49-F238E27FC236}">
                <a16:creationId xmlns:a16="http://schemas.microsoft.com/office/drawing/2014/main" id="{438D6ADC-E3BE-ECB7-834C-D456EB97E94A}"/>
              </a:ext>
            </a:extLst>
          </p:cNvPr>
          <p:cNvSpPr txBox="1">
            <a:spLocks noGrp="1"/>
          </p:cNvSpPr>
          <p:nvPr>
            <p:ph type="body" idx="1"/>
          </p:nvPr>
        </p:nvSpPr>
        <p:spPr>
          <a:xfrm>
            <a:off x="311700" y="1203150"/>
            <a:ext cx="8520600" cy="3729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dirty="0"/>
              <a:t>Income </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pic>
        <p:nvPicPr>
          <p:cNvPr id="223" name="Google Shape;223;p37">
            <a:extLst>
              <a:ext uri="{FF2B5EF4-FFF2-40B4-BE49-F238E27FC236}">
                <a16:creationId xmlns:a16="http://schemas.microsoft.com/office/drawing/2014/main" id="{CE52F1D2-CFCB-3183-ACE1-7F87FAE1B64E}"/>
              </a:ext>
            </a:extLst>
          </p:cNvPr>
          <p:cNvPicPr preferRelativeResize="0"/>
          <p:nvPr/>
        </p:nvPicPr>
        <p:blipFill>
          <a:blip r:embed="rId3">
            <a:alphaModFix/>
          </a:blip>
          <a:stretch>
            <a:fillRect/>
          </a:stretch>
        </p:blipFill>
        <p:spPr>
          <a:xfrm>
            <a:off x="541450" y="1754050"/>
            <a:ext cx="4279700" cy="3073600"/>
          </a:xfrm>
          <a:prstGeom prst="rect">
            <a:avLst/>
          </a:prstGeom>
          <a:noFill/>
          <a:ln>
            <a:noFill/>
          </a:ln>
        </p:spPr>
      </p:pic>
      <p:sp>
        <p:nvSpPr>
          <p:cNvPr id="224" name="Google Shape;224;p37">
            <a:extLst>
              <a:ext uri="{FF2B5EF4-FFF2-40B4-BE49-F238E27FC236}">
                <a16:creationId xmlns:a16="http://schemas.microsoft.com/office/drawing/2014/main" id="{72B6F108-1537-6BDA-C52C-0E3C89268CE9}"/>
              </a:ext>
            </a:extLst>
          </p:cNvPr>
          <p:cNvSpPr txBox="1"/>
          <p:nvPr/>
        </p:nvSpPr>
        <p:spPr>
          <a:xfrm>
            <a:off x="5147700" y="1231050"/>
            <a:ext cx="3684600" cy="248526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dirty="0">
                <a:solidFill>
                  <a:schemeClr val="dk2"/>
                </a:solidFill>
              </a:rPr>
              <a:t>2. Time, transportation, costs of seeking care </a:t>
            </a:r>
          </a:p>
          <a:p>
            <a:pPr marL="0" lvl="0" indent="0" algn="l" rtl="0">
              <a:lnSpc>
                <a:spcPct val="115000"/>
              </a:lnSpc>
              <a:spcBef>
                <a:spcPts val="0"/>
              </a:spcBef>
              <a:spcAft>
                <a:spcPts val="0"/>
              </a:spcAft>
              <a:buNone/>
            </a:pPr>
            <a:endParaRPr lang="en" sz="1800" dirty="0">
              <a:solidFill>
                <a:schemeClr val="dk2"/>
              </a:solidFill>
            </a:endParaRPr>
          </a:p>
          <a:p>
            <a:pPr marL="0" lvl="0" indent="0" algn="l" rtl="0">
              <a:lnSpc>
                <a:spcPct val="115000"/>
              </a:lnSpc>
              <a:spcBef>
                <a:spcPts val="0"/>
              </a:spcBef>
              <a:spcAft>
                <a:spcPts val="0"/>
              </a:spcAft>
              <a:buNone/>
            </a:pPr>
            <a:endParaRPr sz="1800" dirty="0">
              <a:solidFill>
                <a:schemeClr val="dk2"/>
              </a:solidFill>
            </a:endParaRPr>
          </a:p>
          <a:p>
            <a:pPr marL="0" lvl="0" indent="0" algn="l" rtl="0">
              <a:lnSpc>
                <a:spcPct val="115000"/>
              </a:lnSpc>
              <a:spcBef>
                <a:spcPts val="1200"/>
              </a:spcBef>
              <a:spcAft>
                <a:spcPts val="0"/>
              </a:spcAft>
              <a:buNone/>
            </a:pPr>
            <a:r>
              <a:rPr lang="en" sz="1800" dirty="0">
                <a:solidFill>
                  <a:schemeClr val="dk2"/>
                </a:solidFill>
              </a:rPr>
              <a:t>3. Price of other goods </a:t>
            </a:r>
            <a:endParaRPr sz="1800" dirty="0">
              <a:solidFill>
                <a:schemeClr val="dk2"/>
              </a:solidFill>
            </a:endParaRPr>
          </a:p>
          <a:p>
            <a:pPr marL="400050" lvl="0" indent="-285750" algn="l" rtl="0">
              <a:spcAft>
                <a:spcPts val="0"/>
              </a:spcAft>
              <a:buClr>
                <a:schemeClr val="dk2"/>
              </a:buClr>
              <a:buSzPts val="1800"/>
              <a:buFont typeface="Arial" panose="020B0604020202020204" pitchFamily="34" charset="0"/>
              <a:buChar char="•"/>
            </a:pPr>
            <a:r>
              <a:rPr lang="en" sz="1800" dirty="0">
                <a:solidFill>
                  <a:schemeClr val="dk2"/>
                </a:solidFill>
              </a:rPr>
              <a:t>Complements</a:t>
            </a:r>
          </a:p>
          <a:p>
            <a:pPr marL="400050" lvl="0" indent="-285750" algn="l" rtl="0">
              <a:spcAft>
                <a:spcPts val="0"/>
              </a:spcAft>
              <a:buClr>
                <a:schemeClr val="dk2"/>
              </a:buClr>
              <a:buSzPts val="1800"/>
              <a:buFont typeface="Arial" panose="020B0604020202020204" pitchFamily="34" charset="0"/>
              <a:buChar char="•"/>
            </a:pPr>
            <a:r>
              <a:rPr lang="en" sz="1800" dirty="0">
                <a:solidFill>
                  <a:schemeClr val="dk2"/>
                </a:solidFill>
              </a:rPr>
              <a:t>Substitutes</a:t>
            </a:r>
            <a:endParaRPr sz="1800" dirty="0">
              <a:solidFill>
                <a:schemeClr val="dk2"/>
              </a:solidFill>
            </a:endParaRPr>
          </a:p>
        </p:txBody>
      </p:sp>
      <p:pic>
        <p:nvPicPr>
          <p:cNvPr id="3" name="Picture 2">
            <a:extLst>
              <a:ext uri="{FF2B5EF4-FFF2-40B4-BE49-F238E27FC236}">
                <a16:creationId xmlns:a16="http://schemas.microsoft.com/office/drawing/2014/main" id="{6C4DE701-6955-57BD-A06F-449219964F38}"/>
              </a:ext>
            </a:extLst>
          </p:cNvPr>
          <p:cNvPicPr>
            <a:picLocks noChangeAspect="1"/>
          </p:cNvPicPr>
          <p:nvPr/>
        </p:nvPicPr>
        <p:blipFill>
          <a:blip r:embed="rId4"/>
          <a:stretch>
            <a:fillRect/>
          </a:stretch>
        </p:blipFill>
        <p:spPr>
          <a:xfrm>
            <a:off x="6990000" y="3396657"/>
            <a:ext cx="1506624" cy="1564293"/>
          </a:xfrm>
          <a:prstGeom prst="rect">
            <a:avLst/>
          </a:prstGeom>
        </p:spPr>
      </p:pic>
    </p:spTree>
    <p:extLst>
      <p:ext uri="{BB962C8B-B14F-4D97-AF65-F5344CB8AC3E}">
        <p14:creationId xmlns:p14="http://schemas.microsoft.com/office/powerpoint/2010/main" val="443810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Non-Economic Variables that Impact Demand </a:t>
            </a:r>
            <a:endParaRPr/>
          </a:p>
        </p:txBody>
      </p:sp>
      <p:sp>
        <p:nvSpPr>
          <p:cNvPr id="251" name="Google Shape;251;p41"/>
          <p:cNvSpPr txBox="1">
            <a:spLocks noGrp="1"/>
          </p:cNvSpPr>
          <p:nvPr>
            <p:ph type="body" idx="1"/>
          </p:nvPr>
        </p:nvSpPr>
        <p:spPr>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Gender </a:t>
            </a:r>
            <a:endParaRPr/>
          </a:p>
          <a:p>
            <a:pPr marL="0" lvl="0" indent="0" algn="l" rtl="0">
              <a:spcBef>
                <a:spcPts val="1200"/>
              </a:spcBef>
              <a:spcAft>
                <a:spcPts val="0"/>
              </a:spcAft>
              <a:buNone/>
            </a:pPr>
            <a:r>
              <a:rPr lang="en"/>
              <a:t>Race </a:t>
            </a:r>
            <a:endParaRPr/>
          </a:p>
          <a:p>
            <a:pPr marL="0" lvl="0" indent="0" algn="l" rtl="0">
              <a:spcBef>
                <a:spcPts val="1200"/>
              </a:spcBef>
              <a:spcAft>
                <a:spcPts val="0"/>
              </a:spcAft>
              <a:buNone/>
            </a:pPr>
            <a:r>
              <a:rPr lang="en"/>
              <a:t>Age </a:t>
            </a:r>
            <a:endParaRPr/>
          </a:p>
          <a:p>
            <a:pPr marL="0" lvl="0" indent="0" algn="l" rtl="0">
              <a:spcBef>
                <a:spcPts val="1200"/>
              </a:spcBef>
              <a:spcAft>
                <a:spcPts val="0"/>
              </a:spcAft>
              <a:buNone/>
            </a:pPr>
            <a:r>
              <a:rPr lang="en"/>
              <a:t>Education </a:t>
            </a:r>
            <a:endParaRPr/>
          </a:p>
          <a:p>
            <a:pPr marL="0" lvl="0" indent="0" algn="l" rtl="0">
              <a:spcBef>
                <a:spcPts val="1200"/>
              </a:spcBef>
              <a:spcAft>
                <a:spcPts val="0"/>
              </a:spcAft>
              <a:buNone/>
            </a:pPr>
            <a:r>
              <a:rPr lang="en"/>
              <a:t>Lifestyle </a:t>
            </a:r>
            <a:endParaRPr/>
          </a:p>
          <a:p>
            <a:pPr marL="0" lvl="0" indent="0" algn="l" rtl="0">
              <a:spcBef>
                <a:spcPts val="1200"/>
              </a:spcBef>
              <a:spcAft>
                <a:spcPts val="0"/>
              </a:spcAft>
              <a:buNone/>
            </a:pPr>
            <a:r>
              <a:rPr lang="en"/>
              <a:t>Advertising </a:t>
            </a:r>
            <a:endParaRPr/>
          </a:p>
          <a:p>
            <a:pPr marL="0" lvl="0" indent="0" algn="l" rtl="0">
              <a:spcBef>
                <a:spcPts val="1200"/>
              </a:spcBef>
              <a:spcAft>
                <a:spcPts val="0"/>
              </a:spcAft>
              <a:buNone/>
            </a:pPr>
            <a:r>
              <a:rPr lang="en"/>
              <a:t>Health Status </a:t>
            </a:r>
            <a:endParaRPr/>
          </a:p>
          <a:p>
            <a:pPr marL="0" lvl="0" indent="0" algn="l" rtl="0">
              <a:spcBef>
                <a:spcPts val="1200"/>
              </a:spcBef>
              <a:spcAft>
                <a:spcPts val="1200"/>
              </a:spcAft>
              <a:buNone/>
            </a:pPr>
            <a:r>
              <a:rPr lang="en"/>
              <a:t>Quality of care (perceived)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311700" y="0"/>
            <a:ext cx="8520600" cy="972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Quiz: what happens to demand for spicy food when someone gets an ulcer?</a:t>
            </a:r>
            <a:endParaRPr dirty="0"/>
          </a:p>
        </p:txBody>
      </p:sp>
      <p:pic>
        <p:nvPicPr>
          <p:cNvPr id="237" name="Google Shape;237;p39"/>
          <p:cNvPicPr preferRelativeResize="0"/>
          <p:nvPr/>
        </p:nvPicPr>
        <p:blipFill>
          <a:blip r:embed="rId3">
            <a:alphaModFix/>
          </a:blip>
          <a:stretch>
            <a:fillRect/>
          </a:stretch>
        </p:blipFill>
        <p:spPr>
          <a:xfrm>
            <a:off x="3335988" y="1931813"/>
            <a:ext cx="1990725" cy="19716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Demand Shifters</a:t>
            </a:r>
            <a:endParaRPr dirty="0"/>
          </a:p>
        </p:txBody>
      </p:sp>
      <p:pic>
        <p:nvPicPr>
          <p:cNvPr id="244" name="Google Shape;244;p40"/>
          <p:cNvPicPr preferRelativeResize="0"/>
          <p:nvPr/>
        </p:nvPicPr>
        <p:blipFill>
          <a:blip r:embed="rId3">
            <a:alphaModFix/>
          </a:blip>
          <a:stretch>
            <a:fillRect/>
          </a:stretch>
        </p:blipFill>
        <p:spPr>
          <a:xfrm>
            <a:off x="1505950" y="2489575"/>
            <a:ext cx="2857500" cy="809625"/>
          </a:xfrm>
          <a:prstGeom prst="rect">
            <a:avLst/>
          </a:prstGeom>
          <a:noFill/>
          <a:ln>
            <a:noFill/>
          </a:ln>
        </p:spPr>
      </p:pic>
      <p:pic>
        <p:nvPicPr>
          <p:cNvPr id="245" name="Google Shape;245;p40"/>
          <p:cNvPicPr preferRelativeResize="0"/>
          <p:nvPr/>
        </p:nvPicPr>
        <p:blipFill>
          <a:blip r:embed="rId4">
            <a:alphaModFix/>
          </a:blip>
          <a:srcRect t="11214"/>
          <a:stretch>
            <a:fillRect/>
          </a:stretch>
        </p:blipFill>
        <p:spPr>
          <a:xfrm>
            <a:off x="311700" y="1570175"/>
            <a:ext cx="8618600" cy="31672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Impact of Health Insurance on Demand for Medical Care </a:t>
            </a:r>
            <a:endParaRPr/>
          </a:p>
        </p:txBody>
      </p:sp>
      <p:sp>
        <p:nvSpPr>
          <p:cNvPr id="257" name="Google Shape;257;p42"/>
          <p:cNvSpPr txBox="1">
            <a:spLocks noGrp="1"/>
          </p:cNvSpPr>
          <p:nvPr>
            <p:ph type="body" idx="1"/>
          </p:nvPr>
        </p:nvSpPr>
        <p:spPr>
          <a:xfrm>
            <a:off x="311700" y="101772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Insurance impacts the prices consumers face </a:t>
            </a:r>
            <a:endParaRPr dirty="0"/>
          </a:p>
        </p:txBody>
      </p:sp>
      <p:pic>
        <p:nvPicPr>
          <p:cNvPr id="3" name="Picture 2">
            <a:extLst>
              <a:ext uri="{FF2B5EF4-FFF2-40B4-BE49-F238E27FC236}">
                <a16:creationId xmlns:a16="http://schemas.microsoft.com/office/drawing/2014/main" id="{07BE8E50-2D90-5588-F031-28D016892DC0}"/>
              </a:ext>
            </a:extLst>
          </p:cNvPr>
          <p:cNvPicPr>
            <a:picLocks noChangeAspect="1"/>
          </p:cNvPicPr>
          <p:nvPr/>
        </p:nvPicPr>
        <p:blipFill>
          <a:blip r:embed="rId3"/>
          <a:stretch>
            <a:fillRect/>
          </a:stretch>
        </p:blipFill>
        <p:spPr>
          <a:xfrm>
            <a:off x="1094919" y="1480570"/>
            <a:ext cx="6689756" cy="336837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insurance changes market dynamics </a:t>
            </a:r>
            <a:endParaRPr/>
          </a:p>
        </p:txBody>
      </p:sp>
      <p:sp>
        <p:nvSpPr>
          <p:cNvPr id="263" name="Google Shape;263;p4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b="1" u="sng" dirty="0"/>
              <a:t>Stage I: Market prices are established. </a:t>
            </a:r>
            <a:endParaRPr b="1" u="sng" dirty="0"/>
          </a:p>
          <a:p>
            <a:pPr marL="0" lvl="0" indent="0" algn="l" rtl="0">
              <a:spcBef>
                <a:spcPts val="1200"/>
              </a:spcBef>
              <a:spcAft>
                <a:spcPts val="0"/>
              </a:spcAft>
              <a:buNone/>
            </a:pPr>
            <a:r>
              <a:rPr lang="en" dirty="0"/>
              <a:t>Private insurers negotiate/agree upon payment rates with providers. Most public programs set their own rates. </a:t>
            </a:r>
          </a:p>
          <a:p>
            <a:pPr marL="0" lvl="0" indent="0" algn="l" rtl="0">
              <a:spcBef>
                <a:spcPts val="1200"/>
              </a:spcBef>
              <a:spcAft>
                <a:spcPts val="0"/>
              </a:spcAft>
              <a:buNone/>
            </a:pPr>
            <a:r>
              <a:rPr lang="en" b="1" u="sng" dirty="0"/>
              <a:t>Stage II: Utilization levels are established. </a:t>
            </a:r>
            <a:endParaRPr b="1" u="sng" dirty="0"/>
          </a:p>
          <a:p>
            <a:pPr marL="0" lvl="0" indent="0" algn="l" rtl="0">
              <a:spcBef>
                <a:spcPts val="1200"/>
              </a:spcBef>
              <a:spcAft>
                <a:spcPts val="1200"/>
              </a:spcAft>
              <a:buNone/>
            </a:pPr>
            <a:r>
              <a:rPr lang="en" dirty="0"/>
              <a:t>Utilization is determined by individual-specific factors including prices faced by consumer (given market price levels, cost-sharing provisions) and other factors (e.g., health status, perceptions of quality)</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Moral Hazard</a:t>
            </a:r>
            <a:endParaRPr/>
          </a:p>
        </p:txBody>
      </p:sp>
      <p:sp>
        <p:nvSpPr>
          <p:cNvPr id="269" name="Google Shape;269;p44"/>
          <p:cNvSpPr txBox="1">
            <a:spLocks noGrp="1"/>
          </p:cNvSpPr>
          <p:nvPr>
            <p:ph type="body" idx="1"/>
          </p:nvPr>
        </p:nvSpPr>
        <p:spPr>
          <a:xfrm>
            <a:off x="311700" y="2600988"/>
            <a:ext cx="8520600" cy="229039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Consumers alter their behavior</a:t>
            </a:r>
            <a:r>
              <a:rPr lang="en" b="1" dirty="0"/>
              <a:t> because </a:t>
            </a:r>
            <a:r>
              <a:rPr lang="en" dirty="0"/>
              <a:t>they have insurance. They may: </a:t>
            </a:r>
            <a:endParaRPr dirty="0"/>
          </a:p>
          <a:p>
            <a:pPr marL="457200" lvl="0" indent="-342900" algn="l" rtl="0">
              <a:spcBef>
                <a:spcPts val="1200"/>
              </a:spcBef>
              <a:spcAft>
                <a:spcPts val="0"/>
              </a:spcAft>
              <a:buSzPts val="1800"/>
              <a:buAutoNum type="arabicPeriod"/>
            </a:pPr>
            <a:r>
              <a:rPr lang="en" dirty="0"/>
              <a:t>Engage in riskier behavior: </a:t>
            </a:r>
            <a:r>
              <a:rPr lang="en" b="1" dirty="0"/>
              <a:t>ex-ante</a:t>
            </a:r>
            <a:r>
              <a:rPr lang="en" dirty="0"/>
              <a:t> moral hazard </a:t>
            </a:r>
            <a:endParaRPr dirty="0"/>
          </a:p>
          <a:p>
            <a:pPr marL="457200" lvl="0" indent="-342900" algn="l" rtl="0">
              <a:spcBef>
                <a:spcPts val="0"/>
              </a:spcBef>
              <a:spcAft>
                <a:spcPts val="0"/>
              </a:spcAft>
              <a:buSzPts val="1800"/>
              <a:buAutoNum type="arabicPeriod"/>
            </a:pPr>
            <a:r>
              <a:rPr lang="en" dirty="0"/>
              <a:t>Be less price sensitive: </a:t>
            </a:r>
            <a:r>
              <a:rPr lang="en" b="1" dirty="0"/>
              <a:t>ex-post</a:t>
            </a:r>
            <a:r>
              <a:rPr lang="en" dirty="0"/>
              <a:t> moral hazard </a:t>
            </a:r>
          </a:p>
        </p:txBody>
      </p:sp>
      <p:sp>
        <p:nvSpPr>
          <p:cNvPr id="2" name="Google Shape;168;p29">
            <a:extLst>
              <a:ext uri="{FF2B5EF4-FFF2-40B4-BE49-F238E27FC236}">
                <a16:creationId xmlns:a16="http://schemas.microsoft.com/office/drawing/2014/main" id="{35979880-40E8-63B1-676A-BF9E3A126135}"/>
              </a:ext>
            </a:extLst>
          </p:cNvPr>
          <p:cNvSpPr txBox="1">
            <a:spLocks/>
          </p:cNvSpPr>
          <p:nvPr/>
        </p:nvSpPr>
        <p:spPr>
          <a:xfrm>
            <a:off x="855785" y="1601582"/>
            <a:ext cx="7976515" cy="700944"/>
          </a:xfrm>
          <a:prstGeom prst="rect">
            <a:avLst/>
          </a:prstGeom>
          <a:solidFill>
            <a:schemeClr val="accent4">
              <a:lumMod val="20000"/>
              <a:lumOff val="80000"/>
            </a:scheme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None/>
            </a:pPr>
            <a:r>
              <a:rPr lang="en-US" sz="1600" u="sng" dirty="0"/>
              <a:t>Moral Hazard: </a:t>
            </a:r>
            <a:r>
              <a:rPr lang="en-US" sz="1600" dirty="0"/>
              <a:t>a situation in which a party is incentivized to risk causing harm because another party is obligated to remedy the consequences of the harm caused</a:t>
            </a:r>
          </a:p>
        </p:txBody>
      </p:sp>
      <p:sp>
        <p:nvSpPr>
          <p:cNvPr id="3" name="Google Shape;168;p29">
            <a:extLst>
              <a:ext uri="{FF2B5EF4-FFF2-40B4-BE49-F238E27FC236}">
                <a16:creationId xmlns:a16="http://schemas.microsoft.com/office/drawing/2014/main" id="{EDA3428A-EE00-01C8-F44A-716138411167}"/>
              </a:ext>
            </a:extLst>
          </p:cNvPr>
          <p:cNvSpPr txBox="1">
            <a:spLocks/>
          </p:cNvSpPr>
          <p:nvPr/>
        </p:nvSpPr>
        <p:spPr>
          <a:xfrm>
            <a:off x="464100" y="1193506"/>
            <a:ext cx="1528823" cy="408075"/>
          </a:xfrm>
          <a:prstGeom prst="rect">
            <a:avLst/>
          </a:prstGeom>
          <a:solidFill>
            <a:schemeClr val="accent1">
              <a:lumMod val="20000"/>
              <a:lumOff val="80000"/>
            </a:schemeClr>
          </a:solid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u="sng" dirty="0"/>
              <a:t>Definition</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62A4B55F-6CBA-5304-63F8-7CDFD81DE526}"/>
            </a:ext>
          </a:extLst>
        </p:cNvPr>
        <p:cNvGrpSpPr/>
        <p:nvPr/>
      </p:nvGrpSpPr>
      <p:grpSpPr>
        <a:xfrm>
          <a:off x="0" y="0"/>
          <a:ext cx="0" cy="0"/>
          <a:chOff x="0" y="0"/>
          <a:chExt cx="0" cy="0"/>
        </a:xfrm>
      </p:grpSpPr>
      <p:sp>
        <p:nvSpPr>
          <p:cNvPr id="268" name="Google Shape;268;p44">
            <a:extLst>
              <a:ext uri="{FF2B5EF4-FFF2-40B4-BE49-F238E27FC236}">
                <a16:creationId xmlns:a16="http://schemas.microsoft.com/office/drawing/2014/main" id="{EE18E0AE-4593-0DDA-5EB8-86FE7B1BC1D1}"/>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Moral Hazard</a:t>
            </a:r>
            <a:endParaRPr/>
          </a:p>
        </p:txBody>
      </p:sp>
      <p:sp>
        <p:nvSpPr>
          <p:cNvPr id="269" name="Google Shape;269;p44">
            <a:extLst>
              <a:ext uri="{FF2B5EF4-FFF2-40B4-BE49-F238E27FC236}">
                <a16:creationId xmlns:a16="http://schemas.microsoft.com/office/drawing/2014/main" id="{28D1E46D-1CD9-DECB-8AF9-F6AB2D120F81}"/>
              </a:ext>
            </a:extLst>
          </p:cNvPr>
          <p:cNvSpPr txBox="1">
            <a:spLocks noGrp="1"/>
          </p:cNvSpPr>
          <p:nvPr>
            <p:ph type="body" idx="1"/>
          </p:nvPr>
        </p:nvSpPr>
        <p:spPr>
          <a:xfrm>
            <a:off x="311700" y="1366092"/>
            <a:ext cx="8520600" cy="3525289"/>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Examples of ex-ante vs. ex-post moral hazard? </a:t>
            </a:r>
            <a:endParaRPr dirty="0"/>
          </a:p>
        </p:txBody>
      </p:sp>
      <p:pic>
        <p:nvPicPr>
          <p:cNvPr id="5" name="Picture 4">
            <a:extLst>
              <a:ext uri="{FF2B5EF4-FFF2-40B4-BE49-F238E27FC236}">
                <a16:creationId xmlns:a16="http://schemas.microsoft.com/office/drawing/2014/main" id="{5EE99D69-E79F-581B-A752-F12AE9F78263}"/>
              </a:ext>
            </a:extLst>
          </p:cNvPr>
          <p:cNvPicPr>
            <a:picLocks noChangeAspect="1"/>
          </p:cNvPicPr>
          <p:nvPr/>
        </p:nvPicPr>
        <p:blipFill>
          <a:blip r:embed="rId3"/>
          <a:stretch>
            <a:fillRect/>
          </a:stretch>
        </p:blipFill>
        <p:spPr>
          <a:xfrm>
            <a:off x="3581259" y="1956995"/>
            <a:ext cx="1981477" cy="1943371"/>
          </a:xfrm>
          <a:prstGeom prst="rect">
            <a:avLst/>
          </a:prstGeom>
        </p:spPr>
      </p:pic>
      <p:sp>
        <p:nvSpPr>
          <p:cNvPr id="6" name="TextBox 5">
            <a:extLst>
              <a:ext uri="{FF2B5EF4-FFF2-40B4-BE49-F238E27FC236}">
                <a16:creationId xmlns:a16="http://schemas.microsoft.com/office/drawing/2014/main" id="{DA751961-C9C3-E56A-BD35-EC5F45A683B0}"/>
              </a:ext>
            </a:extLst>
          </p:cNvPr>
          <p:cNvSpPr txBox="1"/>
          <p:nvPr/>
        </p:nvSpPr>
        <p:spPr>
          <a:xfrm>
            <a:off x="695438" y="4248733"/>
            <a:ext cx="7753121" cy="400110"/>
          </a:xfrm>
          <a:prstGeom prst="rect">
            <a:avLst/>
          </a:prstGeom>
          <a:noFill/>
          <a:ln>
            <a:solidFill>
              <a:schemeClr val="accent1"/>
            </a:solidFill>
          </a:ln>
        </p:spPr>
        <p:txBody>
          <a:bodyPr wrap="square">
            <a:spAutoFit/>
          </a:bodyPr>
          <a:lstStyle/>
          <a:p>
            <a:pPr marL="0" lvl="0" indent="0" algn="l" rtl="0">
              <a:spcBef>
                <a:spcPts val="1200"/>
              </a:spcBef>
              <a:spcAft>
                <a:spcPts val="1200"/>
              </a:spcAft>
              <a:buNone/>
            </a:pPr>
            <a:r>
              <a:rPr lang="en-US" sz="2000" dirty="0"/>
              <a:t>→ Leads to increased utilization, choice of higher-priced providers </a:t>
            </a:r>
          </a:p>
        </p:txBody>
      </p:sp>
    </p:spTree>
    <p:extLst>
      <p:ext uri="{BB962C8B-B14F-4D97-AF65-F5344CB8AC3E}">
        <p14:creationId xmlns:p14="http://schemas.microsoft.com/office/powerpoint/2010/main" val="2547498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Rand Experiment: Effects of Cost Sharing on Demand</a:t>
            </a:r>
            <a:endParaRPr/>
          </a:p>
        </p:txBody>
      </p:sp>
      <p:sp>
        <p:nvSpPr>
          <p:cNvPr id="275" name="Google Shape;275;p45"/>
          <p:cNvSpPr txBox="1">
            <a:spLocks noGrp="1"/>
          </p:cNvSpPr>
          <p:nvPr>
            <p:ph type="body" idx="1"/>
          </p:nvPr>
        </p:nvSpPr>
        <p:spPr>
          <a:xfrm>
            <a:off x="311700" y="1152475"/>
            <a:ext cx="8520600" cy="36150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dirty="0"/>
              <a:t>Cost-sharing scenarios: </a:t>
            </a:r>
            <a:endParaRPr dirty="0"/>
          </a:p>
          <a:p>
            <a:pPr marL="457200" lvl="0" indent="-342900" algn="l" rtl="0">
              <a:spcBef>
                <a:spcPts val="1200"/>
              </a:spcBef>
              <a:spcAft>
                <a:spcPts val="0"/>
              </a:spcAft>
              <a:buSzPts val="1800"/>
              <a:buAutoNum type="arabicPeriod"/>
            </a:pPr>
            <a:r>
              <a:rPr lang="en" dirty="0"/>
              <a:t>No insurance </a:t>
            </a:r>
            <a:endParaRPr dirty="0"/>
          </a:p>
          <a:p>
            <a:pPr marL="457200" lvl="0" indent="-342900" algn="l" rtl="0">
              <a:spcBef>
                <a:spcPts val="0"/>
              </a:spcBef>
              <a:spcAft>
                <a:spcPts val="0"/>
              </a:spcAft>
              <a:buSzPts val="1800"/>
              <a:buAutoNum type="arabicPeriod"/>
            </a:pPr>
            <a:r>
              <a:rPr lang="en" dirty="0"/>
              <a:t>Insurance with 100% coverage </a:t>
            </a:r>
            <a:endParaRPr dirty="0"/>
          </a:p>
          <a:p>
            <a:pPr marL="457200" lvl="0" indent="-342900" algn="l" rtl="0">
              <a:spcBef>
                <a:spcPts val="0"/>
              </a:spcBef>
              <a:spcAft>
                <a:spcPts val="0"/>
              </a:spcAft>
              <a:buSzPts val="1800"/>
              <a:buAutoNum type="arabicPeriod"/>
            </a:pPr>
            <a:r>
              <a:rPr lang="en" dirty="0">
                <a:solidFill>
                  <a:schemeClr val="accent1"/>
                </a:solidFill>
              </a:rPr>
              <a:t>Copays</a:t>
            </a:r>
            <a:r>
              <a:rPr lang="en" dirty="0"/>
              <a:t>: a fixed amount for services that is independent of the market price or actual costs of services</a:t>
            </a:r>
            <a:endParaRPr dirty="0"/>
          </a:p>
          <a:p>
            <a:pPr marL="457200" lvl="0" indent="-342900" algn="l" rtl="0">
              <a:spcBef>
                <a:spcPts val="0"/>
              </a:spcBef>
              <a:spcAft>
                <a:spcPts val="0"/>
              </a:spcAft>
              <a:buSzPts val="1800"/>
              <a:buAutoNum type="arabicPeriod"/>
            </a:pPr>
            <a:r>
              <a:rPr lang="en" dirty="0">
                <a:solidFill>
                  <a:schemeClr val="accent1"/>
                </a:solidFill>
              </a:rPr>
              <a:t>Coinsurance: </a:t>
            </a:r>
            <a:r>
              <a:rPr lang="en" dirty="0"/>
              <a:t>fixed percentage share the individual is responsible for</a:t>
            </a:r>
            <a:endParaRPr dirty="0"/>
          </a:p>
          <a:p>
            <a:pPr marL="457200" lvl="0" indent="-342900" algn="l" rtl="0">
              <a:spcBef>
                <a:spcPts val="0"/>
              </a:spcBef>
              <a:spcAft>
                <a:spcPts val="0"/>
              </a:spcAft>
              <a:buSzPts val="1800"/>
              <a:buAutoNum type="arabicPeriod"/>
            </a:pPr>
            <a:r>
              <a:rPr lang="en" dirty="0">
                <a:solidFill>
                  <a:schemeClr val="accent1"/>
                </a:solidFill>
              </a:rPr>
              <a:t>Deductible: </a:t>
            </a:r>
            <a:r>
              <a:rPr lang="en" dirty="0"/>
              <a:t>fixed amount that the consumer must pay out-of-pocket (per calendar year) before coverage kicks in.</a:t>
            </a:r>
            <a:endParaRPr dirty="0"/>
          </a:p>
          <a:p>
            <a:pPr marL="457200" lvl="0" indent="0" algn="l" rtl="0">
              <a:spcBef>
                <a:spcPts val="1200"/>
              </a:spcBef>
              <a:spcAft>
                <a:spcPts val="0"/>
              </a:spcAft>
              <a:buNone/>
            </a:pPr>
            <a:endParaRPr dirty="0"/>
          </a:p>
          <a:p>
            <a:pPr marL="0" lvl="0" indent="0" algn="l" rtl="0">
              <a:spcBef>
                <a:spcPts val="1200"/>
              </a:spcBef>
              <a:spcAft>
                <a:spcPts val="1200"/>
              </a:spcAft>
              <a:buNone/>
            </a:pPr>
            <a:r>
              <a:rPr lang="en" b="1" dirty="0"/>
              <a:t>→ Most US private insurance has deductible, copay AND coinsurance</a:t>
            </a:r>
            <a:endParaRPr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6"/>
          <p:cNvSpPr txBox="1">
            <a:spLocks noGrp="1"/>
          </p:cNvSpPr>
          <p:nvPr>
            <p:ph type="title"/>
          </p:nvPr>
        </p:nvSpPr>
        <p:spPr>
          <a:xfrm>
            <a:off x="344748" y="32326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Definitions: Market vs. Effective Demand</a:t>
            </a:r>
            <a:endParaRPr dirty="0"/>
          </a:p>
        </p:txBody>
      </p:sp>
      <p:sp>
        <p:nvSpPr>
          <p:cNvPr id="3" name="TextBox 2">
            <a:extLst>
              <a:ext uri="{FF2B5EF4-FFF2-40B4-BE49-F238E27FC236}">
                <a16:creationId xmlns:a16="http://schemas.microsoft.com/office/drawing/2014/main" id="{2E4FCBFB-B8CD-7566-535B-AB2E05541604}"/>
              </a:ext>
            </a:extLst>
          </p:cNvPr>
          <p:cNvSpPr txBox="1"/>
          <p:nvPr/>
        </p:nvSpPr>
        <p:spPr>
          <a:xfrm>
            <a:off x="716094" y="3206656"/>
            <a:ext cx="7777909" cy="523220"/>
          </a:xfrm>
          <a:prstGeom prst="rect">
            <a:avLst/>
          </a:prstGeom>
          <a:solidFill>
            <a:schemeClr val="accent4">
              <a:lumMod val="20000"/>
              <a:lumOff val="80000"/>
            </a:schemeClr>
          </a:solidFill>
        </p:spPr>
        <p:txBody>
          <a:bodyPr wrap="square">
            <a:spAutoFit/>
          </a:bodyPr>
          <a:lstStyle/>
          <a:p>
            <a:pPr marL="152400" lvl="0" algn="l" rtl="0">
              <a:spcBef>
                <a:spcPts val="0"/>
              </a:spcBef>
              <a:spcAft>
                <a:spcPts val="0"/>
              </a:spcAft>
              <a:buClr>
                <a:schemeClr val="dk1"/>
              </a:buClr>
              <a:buSzPts val="1200"/>
            </a:pPr>
            <a:r>
              <a:rPr lang="en-US" dirty="0"/>
              <a:t>“Effective demand” (red curve): quantity of visits chosen as a function of the out-of-pocket price the patient actually pays. </a:t>
            </a:r>
          </a:p>
        </p:txBody>
      </p:sp>
      <p:sp>
        <p:nvSpPr>
          <p:cNvPr id="4" name="Google Shape;168;p29">
            <a:extLst>
              <a:ext uri="{FF2B5EF4-FFF2-40B4-BE49-F238E27FC236}">
                <a16:creationId xmlns:a16="http://schemas.microsoft.com/office/drawing/2014/main" id="{2E2C3DAC-EEE3-CFB5-A07C-C74D7CE22544}"/>
              </a:ext>
            </a:extLst>
          </p:cNvPr>
          <p:cNvSpPr txBox="1">
            <a:spLocks/>
          </p:cNvSpPr>
          <p:nvPr/>
        </p:nvSpPr>
        <p:spPr>
          <a:xfrm>
            <a:off x="475117" y="1226557"/>
            <a:ext cx="1528823" cy="408075"/>
          </a:xfrm>
          <a:prstGeom prst="rect">
            <a:avLst/>
          </a:prstGeom>
          <a:solidFill>
            <a:schemeClr val="accent1">
              <a:lumMod val="20000"/>
              <a:lumOff val="80000"/>
            </a:schemeClr>
          </a:solid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u="sng" dirty="0"/>
              <a:t>Definition</a:t>
            </a:r>
            <a:endParaRPr lang="en-US" dirty="0"/>
          </a:p>
        </p:txBody>
      </p:sp>
      <p:sp>
        <p:nvSpPr>
          <p:cNvPr id="5" name="Google Shape;168;p29">
            <a:extLst>
              <a:ext uri="{FF2B5EF4-FFF2-40B4-BE49-F238E27FC236}">
                <a16:creationId xmlns:a16="http://schemas.microsoft.com/office/drawing/2014/main" id="{29922007-4D6B-8E64-E7F8-F3580B6D1A98}"/>
              </a:ext>
            </a:extLst>
          </p:cNvPr>
          <p:cNvSpPr txBox="1">
            <a:spLocks/>
          </p:cNvSpPr>
          <p:nvPr/>
        </p:nvSpPr>
        <p:spPr>
          <a:xfrm>
            <a:off x="475117" y="2798581"/>
            <a:ext cx="1528823" cy="408075"/>
          </a:xfrm>
          <a:prstGeom prst="rect">
            <a:avLst/>
          </a:prstGeom>
          <a:solidFill>
            <a:schemeClr val="accent1">
              <a:lumMod val="20000"/>
              <a:lumOff val="80000"/>
            </a:schemeClr>
          </a:solid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Font typeface="Arial"/>
              <a:buNone/>
            </a:pPr>
            <a:r>
              <a:rPr lang="en-US" u="sng" dirty="0"/>
              <a:t>Definition</a:t>
            </a:r>
            <a:endParaRPr lang="en-US" dirty="0"/>
          </a:p>
        </p:txBody>
      </p:sp>
      <p:sp>
        <p:nvSpPr>
          <p:cNvPr id="7" name="TextBox 6">
            <a:extLst>
              <a:ext uri="{FF2B5EF4-FFF2-40B4-BE49-F238E27FC236}">
                <a16:creationId xmlns:a16="http://schemas.microsoft.com/office/drawing/2014/main" id="{B5617615-487C-5972-5F77-24BC40DCE230}"/>
              </a:ext>
            </a:extLst>
          </p:cNvPr>
          <p:cNvSpPr txBox="1"/>
          <p:nvPr/>
        </p:nvSpPr>
        <p:spPr>
          <a:xfrm>
            <a:off x="716094" y="1634632"/>
            <a:ext cx="7893585" cy="738664"/>
          </a:xfrm>
          <a:prstGeom prst="rect">
            <a:avLst/>
          </a:prstGeom>
          <a:solidFill>
            <a:schemeClr val="accent4">
              <a:lumMod val="20000"/>
              <a:lumOff val="80000"/>
            </a:schemeClr>
          </a:solidFill>
        </p:spPr>
        <p:txBody>
          <a:bodyPr wrap="square">
            <a:spAutoFit/>
          </a:bodyPr>
          <a:lstStyle/>
          <a:p>
            <a:pPr marL="152400" lvl="0" indent="0" algn="l" rtl="0">
              <a:spcBef>
                <a:spcPts val="0"/>
              </a:spcBef>
              <a:spcAft>
                <a:spcPts val="0"/>
              </a:spcAft>
              <a:buClr>
                <a:schemeClr val="dk1"/>
              </a:buClr>
              <a:buSzPts val="1200"/>
              <a:buNone/>
            </a:pPr>
            <a:r>
              <a:rPr lang="en-US" dirty="0"/>
              <a:t>“Market (nominal) demand” (gray curves): how many visits the market would see at different total prices paid to the provider (what the insurer + patient together pay). This assumes the same underlying behavior of the patient &amp; is expressed in terms of the full price per visit.</a:t>
            </a:r>
          </a:p>
        </p:txBody>
      </p:sp>
      <p:sp>
        <p:nvSpPr>
          <p:cNvPr id="9" name="TextBox 8">
            <a:extLst>
              <a:ext uri="{FF2B5EF4-FFF2-40B4-BE49-F238E27FC236}">
                <a16:creationId xmlns:a16="http://schemas.microsoft.com/office/drawing/2014/main" id="{2F8FD835-C510-E24C-4FCA-5E7BB10FFB62}"/>
              </a:ext>
            </a:extLst>
          </p:cNvPr>
          <p:cNvSpPr txBox="1"/>
          <p:nvPr/>
        </p:nvSpPr>
        <p:spPr>
          <a:xfrm>
            <a:off x="1916935" y="4255459"/>
            <a:ext cx="6775372" cy="307777"/>
          </a:xfrm>
          <a:prstGeom prst="rect">
            <a:avLst/>
          </a:prstGeom>
          <a:noFill/>
        </p:spPr>
        <p:txBody>
          <a:bodyPr wrap="square">
            <a:spAutoFit/>
          </a:bodyPr>
          <a:lstStyle/>
          <a:p>
            <a:pPr marL="0" lvl="0" indent="0" algn="l" rtl="0">
              <a:spcBef>
                <a:spcPts val="1200"/>
              </a:spcBef>
              <a:spcAft>
                <a:spcPts val="1200"/>
              </a:spcAft>
              <a:buNone/>
            </a:pPr>
            <a:r>
              <a:rPr lang="en-US" b="1" dirty="0">
                <a:sym typeface="Wingdings" panose="05000000000000000000" pitchFamily="2" charset="2"/>
              </a:rPr>
              <a:t> Without insurance, market demand = effective demand</a:t>
            </a:r>
            <a:endParaRPr lang="en-US"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No insurance</a:t>
            </a:r>
            <a:endParaRPr/>
          </a:p>
        </p:txBody>
      </p:sp>
      <p:sp>
        <p:nvSpPr>
          <p:cNvPr id="287" name="Google Shape;287;p47"/>
          <p:cNvSpPr txBox="1">
            <a:spLocks noGrp="1"/>
          </p:cNvSpPr>
          <p:nvPr>
            <p:ph type="body" idx="1"/>
          </p:nvPr>
        </p:nvSpPr>
        <p:spPr>
          <a:xfrm>
            <a:off x="5985700" y="1152475"/>
            <a:ext cx="28467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endParaRPr/>
          </a:p>
          <a:p>
            <a:pPr marL="0" lvl="0" indent="0" algn="l" rtl="0">
              <a:spcBef>
                <a:spcPts val="1200"/>
              </a:spcBef>
              <a:spcAft>
                <a:spcPts val="1200"/>
              </a:spcAft>
              <a:buNone/>
            </a:pPr>
            <a:endParaRPr/>
          </a:p>
        </p:txBody>
      </p:sp>
      <p:pic>
        <p:nvPicPr>
          <p:cNvPr id="288" name="Google Shape;288;p47"/>
          <p:cNvPicPr preferRelativeResize="0"/>
          <p:nvPr/>
        </p:nvPicPr>
        <p:blipFill rotWithShape="1">
          <a:blip r:embed="rId3">
            <a:alphaModFix/>
          </a:blip>
          <a:srcRect r="7347"/>
          <a:stretch/>
        </p:blipFill>
        <p:spPr>
          <a:xfrm>
            <a:off x="1123825" y="1228963"/>
            <a:ext cx="6741825" cy="32634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100% coverage </a:t>
            </a:r>
            <a:endParaRPr/>
          </a:p>
        </p:txBody>
      </p:sp>
      <p:sp>
        <p:nvSpPr>
          <p:cNvPr id="294" name="Google Shape;294;p48"/>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95" name="Google Shape;295;p48"/>
          <p:cNvPicPr preferRelativeResize="0"/>
          <p:nvPr/>
        </p:nvPicPr>
        <p:blipFill>
          <a:blip r:embed="rId3">
            <a:alphaModFix/>
          </a:blip>
          <a:stretch>
            <a:fillRect/>
          </a:stretch>
        </p:blipFill>
        <p:spPr>
          <a:xfrm>
            <a:off x="1222872" y="1320449"/>
            <a:ext cx="6525703" cy="303121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Cost-sharing</a:t>
            </a:r>
            <a:endParaRPr/>
          </a:p>
        </p:txBody>
      </p:sp>
      <p:sp>
        <p:nvSpPr>
          <p:cNvPr id="301" name="Google Shape;301;p49"/>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02" name="Google Shape;302;p49"/>
          <p:cNvPicPr preferRelativeResize="0"/>
          <p:nvPr/>
        </p:nvPicPr>
        <p:blipFill>
          <a:blip r:embed="rId3">
            <a:alphaModFix/>
          </a:blip>
          <a:stretch>
            <a:fillRect/>
          </a:stretch>
        </p:blipFill>
        <p:spPr>
          <a:xfrm>
            <a:off x="442175" y="1152475"/>
            <a:ext cx="8006200" cy="3286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Cost-sharing: Copayments</a:t>
            </a:r>
            <a:endParaRPr/>
          </a:p>
        </p:txBody>
      </p:sp>
      <p:pic>
        <p:nvPicPr>
          <p:cNvPr id="308" name="Google Shape;308;p50"/>
          <p:cNvPicPr preferRelativeResize="0"/>
          <p:nvPr/>
        </p:nvPicPr>
        <p:blipFill>
          <a:blip r:embed="rId3">
            <a:alphaModFix/>
          </a:blip>
          <a:stretch>
            <a:fillRect/>
          </a:stretch>
        </p:blipFill>
        <p:spPr>
          <a:xfrm>
            <a:off x="311700" y="1257146"/>
            <a:ext cx="8586924" cy="3148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Cost-sharing: Coinsurance </a:t>
            </a:r>
            <a:endParaRPr/>
          </a:p>
        </p:txBody>
      </p:sp>
      <p:sp>
        <p:nvSpPr>
          <p:cNvPr id="314" name="Google Shape;314;p51"/>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pic>
        <p:nvPicPr>
          <p:cNvPr id="315" name="Google Shape;315;p51"/>
          <p:cNvPicPr preferRelativeResize="0"/>
          <p:nvPr/>
        </p:nvPicPr>
        <p:blipFill rotWithShape="1">
          <a:blip r:embed="rId3">
            <a:alphaModFix/>
          </a:blip>
          <a:srcRect t="3353"/>
          <a:stretch/>
        </p:blipFill>
        <p:spPr>
          <a:xfrm>
            <a:off x="771525" y="1518975"/>
            <a:ext cx="7600950" cy="2779975"/>
          </a:xfrm>
          <a:prstGeom prst="rect">
            <a:avLst/>
          </a:prstGeom>
          <a:noFill/>
          <a:ln>
            <a:noFill/>
          </a:ln>
        </p:spPr>
      </p:pic>
      <p:sp>
        <p:nvSpPr>
          <p:cNvPr id="316" name="Google Shape;316;p51"/>
          <p:cNvSpPr/>
          <p:nvPr/>
        </p:nvSpPr>
        <p:spPr>
          <a:xfrm>
            <a:off x="2947725" y="1338525"/>
            <a:ext cx="2722200" cy="31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07B1516E-B9DC-78AC-3AE7-5E22865FB40B}"/>
              </a:ext>
            </a:extLst>
          </p:cNvPr>
          <p:cNvSpPr txBox="1"/>
          <p:nvPr/>
        </p:nvSpPr>
        <p:spPr>
          <a:xfrm>
            <a:off x="760165" y="1531342"/>
            <a:ext cx="991518" cy="830997"/>
          </a:xfrm>
          <a:prstGeom prst="rect">
            <a:avLst/>
          </a:prstGeom>
          <a:solidFill>
            <a:schemeClr val="bg1"/>
          </a:solidFill>
        </p:spPr>
        <p:txBody>
          <a:bodyPr wrap="square" rtlCol="0">
            <a:spAutoFit/>
          </a:bodyPr>
          <a:lstStyle/>
          <a:p>
            <a:r>
              <a:rPr lang="en-US" sz="1200" dirty="0"/>
              <a:t>Price per visit received by the provider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Cost-sharing: Coinsurance </a:t>
            </a:r>
            <a:endParaRPr/>
          </a:p>
        </p:txBody>
      </p:sp>
      <p:sp>
        <p:nvSpPr>
          <p:cNvPr id="322" name="Google Shape;322;p52"/>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323" name="Google Shape;323;p52"/>
          <p:cNvSpPr/>
          <p:nvPr/>
        </p:nvSpPr>
        <p:spPr>
          <a:xfrm>
            <a:off x="2947725" y="1338525"/>
            <a:ext cx="2722200" cy="31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4" name="Google Shape;324;p52"/>
          <p:cNvPicPr preferRelativeResize="0"/>
          <p:nvPr/>
        </p:nvPicPr>
        <p:blipFill>
          <a:blip r:embed="rId3">
            <a:alphaModFix/>
          </a:blip>
          <a:stretch>
            <a:fillRect/>
          </a:stretch>
        </p:blipFill>
        <p:spPr>
          <a:xfrm>
            <a:off x="385752" y="1338527"/>
            <a:ext cx="8520600" cy="342395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328"/>
        <p:cNvGrpSpPr/>
        <p:nvPr/>
      </p:nvGrpSpPr>
      <p:grpSpPr>
        <a:xfrm>
          <a:off x="0" y="0"/>
          <a:ext cx="0" cy="0"/>
          <a:chOff x="0" y="0"/>
          <a:chExt cx="0" cy="0"/>
        </a:xfrm>
      </p:grpSpPr>
      <p:sp>
        <p:nvSpPr>
          <p:cNvPr id="329" name="Google Shape;329;p5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Cost-sharing: Coinsurance </a:t>
            </a:r>
            <a:endParaRPr/>
          </a:p>
        </p:txBody>
      </p:sp>
      <p:sp>
        <p:nvSpPr>
          <p:cNvPr id="330" name="Google Shape;330;p5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331" name="Google Shape;331;p53"/>
          <p:cNvSpPr/>
          <p:nvPr/>
        </p:nvSpPr>
        <p:spPr>
          <a:xfrm>
            <a:off x="2947725" y="1338525"/>
            <a:ext cx="2722200" cy="315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2" name="Google Shape;332;p53"/>
          <p:cNvPicPr preferRelativeResize="0"/>
          <p:nvPr/>
        </p:nvPicPr>
        <p:blipFill>
          <a:blip r:embed="rId3">
            <a:alphaModFix/>
          </a:blip>
          <a:stretch>
            <a:fillRect/>
          </a:stretch>
        </p:blipFill>
        <p:spPr>
          <a:xfrm>
            <a:off x="311700" y="1277275"/>
            <a:ext cx="8520600" cy="337138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Cost-sharing: Deductible</a:t>
            </a:r>
            <a:endParaRPr/>
          </a:p>
        </p:txBody>
      </p:sp>
      <p:sp>
        <p:nvSpPr>
          <p:cNvPr id="338" name="Google Shape;338;p5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39" name="Google Shape;339;p54"/>
          <p:cNvPicPr preferRelativeResize="0"/>
          <p:nvPr/>
        </p:nvPicPr>
        <p:blipFill>
          <a:blip r:embed="rId3">
            <a:alphaModFix/>
          </a:blip>
          <a:stretch>
            <a:fillRect/>
          </a:stretch>
        </p:blipFill>
        <p:spPr>
          <a:xfrm>
            <a:off x="311700" y="1152475"/>
            <a:ext cx="8372475" cy="3705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Closing the loop: RAND</a:t>
            </a:r>
            <a:endParaRPr/>
          </a:p>
        </p:txBody>
      </p:sp>
      <p:sp>
        <p:nvSpPr>
          <p:cNvPr id="345" name="Google Shape;345;p55"/>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Rand Health Insurance Study: large randomized control trial (RCT) study conducted in the 1970s. Looked at service-centered cost-sharing, rather than on premium-sharing requirements. </a:t>
            </a:r>
            <a:endParaRPr/>
          </a:p>
          <a:p>
            <a:pPr marL="0" lvl="0" indent="0" algn="l" rtl="0">
              <a:spcBef>
                <a:spcPts val="1200"/>
              </a:spcBef>
              <a:spcAft>
                <a:spcPts val="0"/>
              </a:spcAft>
              <a:buNone/>
            </a:pPr>
            <a:r>
              <a:rPr lang="en"/>
              <a:t>Main findings: </a:t>
            </a:r>
            <a:endParaRPr/>
          </a:p>
          <a:p>
            <a:pPr marL="457200" lvl="0" indent="-342900" algn="l" rtl="0">
              <a:spcBef>
                <a:spcPts val="1200"/>
              </a:spcBef>
              <a:spcAft>
                <a:spcPts val="0"/>
              </a:spcAft>
              <a:buSzPts val="1800"/>
              <a:buAutoNum type="arabicPeriod"/>
            </a:pPr>
            <a:r>
              <a:rPr lang="en"/>
              <a:t>Higher cost-sharing → lower utilization </a:t>
            </a:r>
            <a:endParaRPr/>
          </a:p>
          <a:p>
            <a:pPr marL="457200" lvl="0" indent="-342900" algn="l" rtl="0">
              <a:spcBef>
                <a:spcPts val="0"/>
              </a:spcBef>
              <a:spcAft>
                <a:spcPts val="0"/>
              </a:spcAft>
              <a:buSzPts val="1800"/>
              <a:buAutoNum type="arabicPeriod"/>
            </a:pPr>
            <a:r>
              <a:rPr lang="en"/>
              <a:t>Higher impact on initiation of care, not level of care once treatment started </a:t>
            </a:r>
            <a:endParaRPr/>
          </a:p>
          <a:p>
            <a:pPr marL="457200" lvl="0" indent="-342900" algn="l" rtl="0">
              <a:spcBef>
                <a:spcPts val="0"/>
              </a:spcBef>
              <a:spcAft>
                <a:spcPts val="0"/>
              </a:spcAft>
              <a:buSzPts val="1800"/>
              <a:buAutoNum type="arabicPeriod"/>
            </a:pPr>
            <a:r>
              <a:rPr lang="en"/>
              <a:t>Larger impacts on low SES, persons with disabilities </a:t>
            </a:r>
            <a:endParaRPr/>
          </a:p>
          <a:p>
            <a:pPr marL="457200" lvl="0" indent="-342900" algn="l" rtl="0">
              <a:spcBef>
                <a:spcPts val="0"/>
              </a:spcBef>
              <a:spcAft>
                <a:spcPts val="0"/>
              </a:spcAft>
              <a:buSzPts val="1800"/>
              <a:buAutoNum type="arabicPeriod"/>
            </a:pPr>
            <a:r>
              <a:rPr lang="en"/>
              <a:t>Decrease use of low value and high value care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Aggregate demand = Σ individual demand curves</a:t>
            </a:r>
            <a:endParaRPr/>
          </a:p>
        </p:txBody>
      </p:sp>
      <p:sp>
        <p:nvSpPr>
          <p:cNvPr id="351" name="Google Shape;351;p56"/>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52" name="Google Shape;352;p56"/>
          <p:cNvPicPr preferRelativeResize="0"/>
          <p:nvPr/>
        </p:nvPicPr>
        <p:blipFill>
          <a:blip r:embed="rId3">
            <a:alphaModFix/>
          </a:blip>
          <a:stretch>
            <a:fillRect/>
          </a:stretch>
        </p:blipFill>
        <p:spPr>
          <a:xfrm>
            <a:off x="607600" y="1093788"/>
            <a:ext cx="7658100" cy="35337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Last thoughts &amp; Break </a:t>
            </a:r>
            <a:endParaRPr/>
          </a:p>
        </p:txBody>
      </p:sp>
      <p:sp>
        <p:nvSpPr>
          <p:cNvPr id="358" name="Google Shape;358;p57"/>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The widespread presence of health insurance in the US has: </a:t>
            </a:r>
            <a:endParaRPr dirty="0"/>
          </a:p>
          <a:p>
            <a:pPr marL="457200" lvl="0" indent="-342900" algn="l" rtl="0">
              <a:spcBef>
                <a:spcPts val="1200"/>
              </a:spcBef>
              <a:spcAft>
                <a:spcPts val="0"/>
              </a:spcAft>
              <a:buSzPts val="1800"/>
              <a:buChar char="-"/>
            </a:pPr>
            <a:r>
              <a:rPr lang="en" dirty="0"/>
              <a:t> ↑ the affordability of medical care for many</a:t>
            </a:r>
            <a:endParaRPr dirty="0"/>
          </a:p>
          <a:p>
            <a:pPr marL="457200" lvl="0" indent="-342900" algn="l" rtl="0">
              <a:spcBef>
                <a:spcPts val="0"/>
              </a:spcBef>
              <a:spcAft>
                <a:spcPts val="0"/>
              </a:spcAft>
              <a:buSzPts val="1800"/>
              <a:buChar char="-"/>
            </a:pPr>
            <a:r>
              <a:rPr lang="en" dirty="0"/>
              <a:t> ↑ the demand for &amp; utilization of medical care </a:t>
            </a:r>
            <a:endParaRPr dirty="0"/>
          </a:p>
          <a:p>
            <a:pPr marL="0" lvl="0" indent="0" algn="l" rtl="0">
              <a:spcBef>
                <a:spcPts val="1200"/>
              </a:spcBef>
              <a:spcAft>
                <a:spcPts val="1200"/>
              </a:spcAft>
              <a:buNone/>
            </a:pPr>
            <a:r>
              <a:rPr lang="en" dirty="0"/>
              <a:t>•But… Because we have not been able to effectively contain prices, it has contributed to the </a:t>
            </a:r>
            <a:r>
              <a:rPr lang="en" b="1" dirty="0"/>
              <a:t>rapid growth in prices and medical care spending </a:t>
            </a:r>
            <a:r>
              <a:rPr lang="en" dirty="0"/>
              <a:t>over time and therefore has created problems of affordability</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C794-4554-FBD5-4983-0EFBB2F53D61}"/>
              </a:ext>
            </a:extLst>
          </p:cNvPr>
          <p:cNvSpPr>
            <a:spLocks noGrp="1"/>
          </p:cNvSpPr>
          <p:nvPr>
            <p:ph type="title"/>
          </p:nvPr>
        </p:nvSpPr>
        <p:spPr/>
        <p:txBody>
          <a:bodyPr>
            <a:normAutofit fontScale="90000"/>
          </a:bodyPr>
          <a:lstStyle/>
          <a:p>
            <a:r>
              <a:rPr lang="en-US" dirty="0"/>
              <a:t>Elasticities </a:t>
            </a:r>
          </a:p>
        </p:txBody>
      </p:sp>
      <p:sp>
        <p:nvSpPr>
          <p:cNvPr id="3" name="Text Placeholder 2">
            <a:extLst>
              <a:ext uri="{FF2B5EF4-FFF2-40B4-BE49-F238E27FC236}">
                <a16:creationId xmlns:a16="http://schemas.microsoft.com/office/drawing/2014/main" id="{4C5A93B9-6D70-9102-025D-72BCD94FFBCC}"/>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F7F976A9-588B-68C0-3727-874E2F5E479E}"/>
              </a:ext>
            </a:extLst>
          </p:cNvPr>
          <p:cNvPicPr>
            <a:picLocks noChangeAspect="1"/>
          </p:cNvPicPr>
          <p:nvPr/>
        </p:nvPicPr>
        <p:blipFill>
          <a:blip r:embed="rId2"/>
          <a:stretch>
            <a:fillRect/>
          </a:stretch>
        </p:blipFill>
        <p:spPr>
          <a:xfrm>
            <a:off x="3626789" y="1915258"/>
            <a:ext cx="1890422" cy="2126725"/>
          </a:xfrm>
          <a:prstGeom prst="rect">
            <a:avLst/>
          </a:prstGeom>
        </p:spPr>
      </p:pic>
    </p:spTree>
    <p:extLst>
      <p:ext uri="{BB962C8B-B14F-4D97-AF65-F5344CB8AC3E}">
        <p14:creationId xmlns:p14="http://schemas.microsoft.com/office/powerpoint/2010/main" val="3392701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Elasticities </a:t>
            </a:r>
            <a:endParaRPr/>
          </a:p>
        </p:txBody>
      </p:sp>
      <p:sp>
        <p:nvSpPr>
          <p:cNvPr id="364" name="Google Shape;364;p58"/>
          <p:cNvSpPr txBox="1">
            <a:spLocks noGrp="1"/>
          </p:cNvSpPr>
          <p:nvPr>
            <p:ph type="body" idx="1"/>
          </p:nvPr>
        </p:nvSpPr>
        <p:spPr>
          <a:xfrm>
            <a:off x="311700" y="1152475"/>
            <a:ext cx="8520600" cy="3795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accent1"/>
                </a:solidFill>
              </a:rPr>
              <a:t>Demand-side elasticities </a:t>
            </a:r>
            <a:r>
              <a:rPr lang="en" dirty="0"/>
              <a:t>measure the responsiveness of quantity demanded (i.e., how much it changes) due to a change in an independent factor. </a:t>
            </a:r>
            <a:endParaRPr dirty="0"/>
          </a:p>
          <a:p>
            <a:pPr marL="457200" lvl="0" indent="-304800" algn="l" rtl="0">
              <a:spcBef>
                <a:spcPts val="1200"/>
              </a:spcBef>
              <a:spcAft>
                <a:spcPts val="0"/>
              </a:spcAft>
              <a:buClr>
                <a:schemeClr val="dk1"/>
              </a:buClr>
              <a:buSzPts val="1200"/>
              <a:buFont typeface="Times New Roman"/>
              <a:buChar char="●"/>
            </a:pPr>
            <a:r>
              <a:rPr lang="en" dirty="0"/>
              <a:t>% change in one variable brought about by a 1 percentage change in some other variable.</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b="1" u="sng" dirty="0"/>
              <a:t>Three types of demand-side elasticities: </a:t>
            </a:r>
            <a:endParaRPr b="1" u="sng" dirty="0"/>
          </a:p>
          <a:p>
            <a:pPr marL="457200" lvl="0" indent="-342900" algn="l" rtl="0">
              <a:spcBef>
                <a:spcPts val="1200"/>
              </a:spcBef>
              <a:spcAft>
                <a:spcPts val="0"/>
              </a:spcAft>
              <a:buSzPts val="1800"/>
              <a:buAutoNum type="arabicPeriod"/>
            </a:pPr>
            <a:r>
              <a:rPr lang="en" dirty="0"/>
              <a:t>Own-price elasticities </a:t>
            </a:r>
            <a:endParaRPr dirty="0"/>
          </a:p>
          <a:p>
            <a:pPr marL="457200" lvl="0" indent="-342900" algn="l" rtl="0">
              <a:spcBef>
                <a:spcPts val="0"/>
              </a:spcBef>
              <a:spcAft>
                <a:spcPts val="0"/>
              </a:spcAft>
              <a:buSzPts val="1800"/>
              <a:buAutoNum type="arabicPeriod"/>
            </a:pPr>
            <a:r>
              <a:rPr lang="en" dirty="0"/>
              <a:t>Cross-price elasticities (associated with complements &amp; substitutes) </a:t>
            </a:r>
            <a:endParaRPr dirty="0"/>
          </a:p>
          <a:p>
            <a:pPr marL="457200" lvl="0" indent="-342900" algn="l" rtl="0">
              <a:spcBef>
                <a:spcPts val="0"/>
              </a:spcBef>
              <a:spcAft>
                <a:spcPts val="0"/>
              </a:spcAft>
              <a:buSzPts val="1800"/>
              <a:buAutoNum type="arabicPeriod"/>
            </a:pPr>
            <a:r>
              <a:rPr lang="en" dirty="0"/>
              <a:t>Income elasticity of demand</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9"/>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Own Price Elasticity </a:t>
            </a:r>
            <a:endParaRPr/>
          </a:p>
        </p:txBody>
      </p:sp>
      <p:sp>
        <p:nvSpPr>
          <p:cNvPr id="370" name="Google Shape;370;p59"/>
          <p:cNvSpPr txBox="1">
            <a:spLocks noGrp="1"/>
          </p:cNvSpPr>
          <p:nvPr>
            <p:ph type="body" idx="1"/>
          </p:nvPr>
        </p:nvSpPr>
        <p:spPr>
          <a:xfrm>
            <a:off x="501750" y="1463937"/>
            <a:ext cx="8140500" cy="894550"/>
          </a:xfrm>
          <a:prstGeom prst="rect">
            <a:avLst/>
          </a:prstGeom>
          <a:solidFill>
            <a:schemeClr val="accent4">
              <a:lumMod val="20000"/>
              <a:lumOff val="80000"/>
            </a:schemeClr>
          </a:solidFill>
        </p:spPr>
        <p:txBody>
          <a:bodyPr spcFirstLastPara="1" wrap="square" lIns="91425" tIns="91425" rIns="91425" bIns="91425" anchor="t" anchorCtr="0">
            <a:normAutofit/>
          </a:bodyPr>
          <a:lstStyle/>
          <a:p>
            <a:pPr marL="0" lvl="0" indent="0" algn="l" rtl="0">
              <a:spcBef>
                <a:spcPts val="0"/>
              </a:spcBef>
              <a:buNone/>
            </a:pPr>
            <a:r>
              <a:rPr lang="en" dirty="0"/>
              <a:t>The extent to which consumers alter their consumption of a good or service when the price of that good or service changes. E ≤ 0</a:t>
            </a:r>
            <a:endParaRPr dirty="0"/>
          </a:p>
        </p:txBody>
      </p:sp>
      <p:sp>
        <p:nvSpPr>
          <p:cNvPr id="371" name="Google Shape;371;p59"/>
          <p:cNvSpPr txBox="1"/>
          <p:nvPr/>
        </p:nvSpPr>
        <p:spPr>
          <a:xfrm>
            <a:off x="236500" y="1127895"/>
            <a:ext cx="1899000" cy="436200"/>
          </a:xfrm>
          <a:prstGeom prst="rect">
            <a:avLst/>
          </a:prstGeom>
          <a:solidFill>
            <a:schemeClr val="accent1">
              <a:lumMod val="20000"/>
              <a:lumOff val="80000"/>
            </a:scheme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Definition</a:t>
            </a:r>
            <a:endParaRPr sz="1800" dirty="0">
              <a:solidFill>
                <a:schemeClr val="dk2"/>
              </a:solidFill>
            </a:endParaRPr>
          </a:p>
        </p:txBody>
      </p:sp>
      <p:pic>
        <p:nvPicPr>
          <p:cNvPr id="372" name="Google Shape;372;p59"/>
          <p:cNvPicPr preferRelativeResize="0"/>
          <p:nvPr/>
        </p:nvPicPr>
        <p:blipFill>
          <a:blip r:embed="rId3">
            <a:alphaModFix/>
          </a:blip>
          <a:stretch>
            <a:fillRect/>
          </a:stretch>
        </p:blipFill>
        <p:spPr>
          <a:xfrm>
            <a:off x="2959100" y="2474975"/>
            <a:ext cx="2116725" cy="1044250"/>
          </a:xfrm>
          <a:prstGeom prst="rect">
            <a:avLst/>
          </a:prstGeom>
          <a:noFill/>
          <a:ln>
            <a:noFill/>
          </a:ln>
        </p:spPr>
      </p:pic>
      <p:pic>
        <p:nvPicPr>
          <p:cNvPr id="373" name="Google Shape;373;p59"/>
          <p:cNvPicPr preferRelativeResize="0"/>
          <p:nvPr/>
        </p:nvPicPr>
        <p:blipFill>
          <a:blip r:embed="rId4">
            <a:alphaModFix/>
          </a:blip>
          <a:stretch>
            <a:fillRect/>
          </a:stretch>
        </p:blipFill>
        <p:spPr>
          <a:xfrm>
            <a:off x="5271313" y="2571738"/>
            <a:ext cx="3667125" cy="771525"/>
          </a:xfrm>
          <a:prstGeom prst="rect">
            <a:avLst/>
          </a:prstGeom>
          <a:noFill/>
          <a:ln>
            <a:noFill/>
          </a:ln>
        </p:spPr>
      </p:pic>
      <p:pic>
        <p:nvPicPr>
          <p:cNvPr id="374" name="Google Shape;374;p59"/>
          <p:cNvPicPr preferRelativeResize="0"/>
          <p:nvPr/>
        </p:nvPicPr>
        <p:blipFill>
          <a:blip r:embed="rId5">
            <a:alphaModFix/>
          </a:blip>
          <a:stretch>
            <a:fillRect/>
          </a:stretch>
        </p:blipFill>
        <p:spPr>
          <a:xfrm>
            <a:off x="1084775" y="3756900"/>
            <a:ext cx="6598700" cy="436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Own price elasticities - classifications</a:t>
            </a:r>
            <a:endParaRPr/>
          </a:p>
        </p:txBody>
      </p:sp>
      <p:sp>
        <p:nvSpPr>
          <p:cNvPr id="380" name="Google Shape;380;p60"/>
          <p:cNvSpPr txBox="1">
            <a:spLocks noGrp="1"/>
          </p:cNvSpPr>
          <p:nvPr>
            <p:ph type="body" idx="1"/>
          </p:nvPr>
        </p:nvSpPr>
        <p:spPr>
          <a:xfrm>
            <a:off x="311700" y="1152475"/>
            <a:ext cx="8520600" cy="3852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b="1" dirty="0">
                <a:solidFill>
                  <a:schemeClr val="accent1"/>
                </a:solidFill>
              </a:rPr>
              <a:t> |E| &gt; 1 →   |%ΔP| &lt; |%ΔQ| → Elastic demand</a:t>
            </a:r>
            <a:endParaRPr b="1" dirty="0">
              <a:solidFill>
                <a:schemeClr val="accent1"/>
              </a:solidFill>
            </a:endParaRPr>
          </a:p>
          <a:p>
            <a:pPr marL="0" lvl="0" indent="0" algn="l" rtl="0">
              <a:spcBef>
                <a:spcPts val="1200"/>
              </a:spcBef>
              <a:spcAft>
                <a:spcPts val="0"/>
              </a:spcAft>
              <a:buNone/>
            </a:pPr>
            <a:r>
              <a:rPr lang="en" dirty="0"/>
              <a:t>%Δ in quantity demanded is greater than the percentage change in the price </a:t>
            </a:r>
            <a:endParaRPr dirty="0"/>
          </a:p>
          <a:p>
            <a:pPr marL="457200" lvl="0" indent="-342900" algn="l" rtl="0">
              <a:spcBef>
                <a:spcPts val="1200"/>
              </a:spcBef>
              <a:spcAft>
                <a:spcPts val="0"/>
              </a:spcAft>
              <a:buSzPts val="1800"/>
              <a:buChar char="●"/>
            </a:pPr>
            <a:r>
              <a:rPr lang="en" dirty="0"/>
              <a:t> |E| = ∞ → Perfectly elastic demand</a:t>
            </a:r>
            <a:endParaRPr dirty="0"/>
          </a:p>
          <a:p>
            <a:pPr marL="0" lvl="0" indent="0" algn="l" rtl="0">
              <a:spcBef>
                <a:spcPts val="1200"/>
              </a:spcBef>
              <a:spcAft>
                <a:spcPts val="0"/>
              </a:spcAft>
              <a:buNone/>
            </a:pPr>
            <a:r>
              <a:rPr lang="en" b="1" dirty="0">
                <a:solidFill>
                  <a:schemeClr val="accent1"/>
                </a:solidFill>
              </a:rPr>
              <a:t> |E| &lt; 1 →  |%ΔP| &gt; |%ΔQ| → Inelastic demand </a:t>
            </a:r>
            <a:endParaRPr b="1" dirty="0">
              <a:solidFill>
                <a:schemeClr val="accent1"/>
              </a:solidFill>
            </a:endParaRPr>
          </a:p>
          <a:p>
            <a:pPr marL="0" lvl="0" indent="0" algn="l" rtl="0">
              <a:spcBef>
                <a:spcPts val="1200"/>
              </a:spcBef>
              <a:spcAft>
                <a:spcPts val="0"/>
              </a:spcAft>
              <a:buNone/>
            </a:pPr>
            <a:r>
              <a:rPr lang="en" dirty="0"/>
              <a:t>%Δ  in quantity demanded is smaller than the percentage change in the price </a:t>
            </a:r>
            <a:endParaRPr dirty="0"/>
          </a:p>
          <a:p>
            <a:pPr marL="457200" lvl="0" indent="-342900" algn="l" rtl="0">
              <a:spcBef>
                <a:spcPts val="1200"/>
              </a:spcBef>
              <a:spcAft>
                <a:spcPts val="0"/>
              </a:spcAft>
              <a:buSzPts val="1800"/>
              <a:buChar char="●"/>
            </a:pPr>
            <a:r>
              <a:rPr lang="en" dirty="0"/>
              <a:t>|E| = 0 → Perfectly inelastic demand</a:t>
            </a:r>
            <a:endParaRPr dirty="0"/>
          </a:p>
          <a:p>
            <a:pPr marL="0" lvl="0" indent="0" algn="l" rtl="0">
              <a:spcBef>
                <a:spcPts val="1200"/>
              </a:spcBef>
              <a:spcAft>
                <a:spcPts val="0"/>
              </a:spcAft>
              <a:buNone/>
            </a:pPr>
            <a:r>
              <a:rPr lang="en" b="1" dirty="0">
                <a:solidFill>
                  <a:schemeClr val="accent1"/>
                </a:solidFill>
              </a:rPr>
              <a:t> |E| = 1 →  |%ΔP| = |%ΔQD| → Unit elastic demand</a:t>
            </a:r>
            <a:endParaRPr b="1" dirty="0">
              <a:solidFill>
                <a:schemeClr val="accent1"/>
              </a:solidFill>
            </a:endParaRPr>
          </a:p>
          <a:p>
            <a:pPr marL="0" lvl="0" indent="0" algn="l" rtl="0">
              <a:spcBef>
                <a:spcPts val="1200"/>
              </a:spcBef>
              <a:spcAft>
                <a:spcPts val="1200"/>
              </a:spcAft>
              <a:buClr>
                <a:schemeClr val="dk1"/>
              </a:buClr>
              <a:buSzPts val="1100"/>
              <a:buFont typeface="Arial"/>
              <a:buNone/>
            </a:pPr>
            <a:r>
              <a:rPr lang="en" dirty="0"/>
              <a:t>%Δ  in quantity demanded is the same as the percentage change in the price </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Cross-price elasticities </a:t>
            </a:r>
            <a:endParaRPr/>
          </a:p>
        </p:txBody>
      </p:sp>
      <p:sp>
        <p:nvSpPr>
          <p:cNvPr id="386" name="Google Shape;386;p61"/>
          <p:cNvSpPr txBox="1">
            <a:spLocks noGrp="1"/>
          </p:cNvSpPr>
          <p:nvPr>
            <p:ph type="body" idx="1"/>
          </p:nvPr>
        </p:nvSpPr>
        <p:spPr>
          <a:prstGeom prst="rect">
            <a:avLst/>
          </a:prstGeom>
        </p:spPr>
        <p:txBody>
          <a:bodyPr spcFirstLastPara="1" wrap="square" lIns="91425" tIns="91425" rIns="91425" bIns="91425" anchor="t" anchorCtr="0">
            <a:normAutofit lnSpcReduction="10000"/>
          </a:bodyPr>
          <a:lstStyle/>
          <a:p>
            <a:pPr marL="0" lvl="0" indent="0" algn="l" rtl="0">
              <a:spcBef>
                <a:spcPts val="1200"/>
              </a:spcBef>
              <a:spcAft>
                <a:spcPts val="0"/>
              </a:spcAft>
              <a:buNone/>
            </a:pPr>
            <a:r>
              <a:rPr lang="en" dirty="0">
                <a:solidFill>
                  <a:schemeClr val="accent1"/>
                </a:solidFill>
              </a:rPr>
              <a:t>Defined as the percent change in the demand for good A for each one percent change in the price of good B.</a:t>
            </a:r>
            <a:endParaRPr dirty="0">
              <a:solidFill>
                <a:schemeClr val="accent1"/>
              </a:solidFill>
            </a:endParaRPr>
          </a:p>
          <a:p>
            <a:pPr marL="0" lvl="0" indent="0" algn="l" rtl="0">
              <a:spcBef>
                <a:spcPts val="1200"/>
              </a:spcBef>
              <a:spcAft>
                <a:spcPts val="0"/>
              </a:spcAft>
              <a:buNone/>
            </a:pPr>
            <a:endParaRPr sz="1100" dirty="0">
              <a:solidFill>
                <a:schemeClr val="dk1"/>
              </a:solidFill>
            </a:endParaRPr>
          </a:p>
          <a:p>
            <a:pPr marL="0" lvl="0" indent="0" algn="l" rtl="0">
              <a:spcBef>
                <a:spcPts val="1200"/>
              </a:spcBef>
              <a:spcAft>
                <a:spcPts val="0"/>
              </a:spcAft>
              <a:buNone/>
            </a:pPr>
            <a:endParaRPr sz="1100" dirty="0">
              <a:solidFill>
                <a:schemeClr val="dk1"/>
              </a:solidFill>
            </a:endParaRPr>
          </a:p>
          <a:p>
            <a:pPr marL="0" lvl="0" indent="0" algn="l" rtl="0">
              <a:spcBef>
                <a:spcPts val="1200"/>
              </a:spcBef>
              <a:spcAft>
                <a:spcPts val="0"/>
              </a:spcAft>
              <a:buNone/>
            </a:pPr>
            <a:endParaRPr sz="1100" dirty="0">
              <a:solidFill>
                <a:schemeClr val="dk1"/>
              </a:solidFill>
            </a:endParaRPr>
          </a:p>
          <a:p>
            <a:pPr marL="0" lvl="0" indent="0" algn="l" rtl="0">
              <a:spcBef>
                <a:spcPts val="1200"/>
              </a:spcBef>
              <a:spcAft>
                <a:spcPts val="0"/>
              </a:spcAft>
              <a:buNone/>
            </a:pPr>
            <a:endParaRPr dirty="0"/>
          </a:p>
          <a:p>
            <a:pPr marL="0" lvl="0" indent="0" algn="l" rtl="0">
              <a:spcBef>
                <a:spcPts val="1200"/>
              </a:spcBef>
              <a:spcAft>
                <a:spcPts val="0"/>
              </a:spcAft>
              <a:buNone/>
            </a:pPr>
            <a:r>
              <a:rPr lang="en" dirty="0"/>
              <a:t>If E &gt; 0 is positive, the goods are substitutes</a:t>
            </a:r>
            <a:endParaRPr dirty="0"/>
          </a:p>
          <a:p>
            <a:pPr marL="0" lvl="0" indent="0" algn="l" rtl="0">
              <a:spcBef>
                <a:spcPts val="1200"/>
              </a:spcBef>
              <a:spcAft>
                <a:spcPts val="1200"/>
              </a:spcAft>
              <a:buNone/>
            </a:pPr>
            <a:r>
              <a:rPr lang="en" dirty="0"/>
              <a:t>If E &lt; 0  is negative, the goods are complements.</a:t>
            </a:r>
            <a:endParaRPr dirty="0"/>
          </a:p>
        </p:txBody>
      </p:sp>
      <p:pic>
        <p:nvPicPr>
          <p:cNvPr id="387" name="Google Shape;387;p61"/>
          <p:cNvPicPr preferRelativeResize="0"/>
          <p:nvPr/>
        </p:nvPicPr>
        <p:blipFill>
          <a:blip r:embed="rId3">
            <a:alphaModFix/>
          </a:blip>
          <a:stretch>
            <a:fillRect/>
          </a:stretch>
        </p:blipFill>
        <p:spPr>
          <a:xfrm>
            <a:off x="3571875" y="2124075"/>
            <a:ext cx="2000250" cy="8953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2"/>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Income elasticity of demand</a:t>
            </a:r>
            <a:endParaRPr/>
          </a:p>
        </p:txBody>
      </p:sp>
      <p:sp>
        <p:nvSpPr>
          <p:cNvPr id="393" name="Google Shape;393;p62"/>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accent1"/>
                </a:solidFill>
              </a:rPr>
              <a:t>Defined as the percent change in demand resulting in each one percent change in income. </a:t>
            </a:r>
            <a:endParaRPr dirty="0">
              <a:solidFill>
                <a:schemeClr val="accent1"/>
              </a:solidFill>
            </a:endParaRPr>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Clr>
                <a:schemeClr val="dk1"/>
              </a:buClr>
              <a:buSzPts val="1100"/>
              <a:buFont typeface="Arial"/>
              <a:buNone/>
            </a:pPr>
            <a:r>
              <a:rPr lang="en" dirty="0"/>
              <a:t>. If E&lt;0, the good is an inferior good</a:t>
            </a:r>
            <a:endParaRPr dirty="0"/>
          </a:p>
          <a:p>
            <a:pPr marL="0" lvl="0" indent="0" algn="l" rtl="0">
              <a:spcBef>
                <a:spcPts val="1200"/>
              </a:spcBef>
              <a:spcAft>
                <a:spcPts val="0"/>
              </a:spcAft>
              <a:buClr>
                <a:schemeClr val="dk1"/>
              </a:buClr>
              <a:buSzPts val="1100"/>
              <a:buFont typeface="Arial"/>
              <a:buNone/>
            </a:pPr>
            <a:r>
              <a:rPr lang="en" dirty="0"/>
              <a:t>  If E&gt;0, the good is a normal good</a:t>
            </a:r>
            <a:endParaRPr sz="1100" dirty="0">
              <a:solidFill>
                <a:schemeClr val="dk1"/>
              </a:solidFill>
            </a:endParaRPr>
          </a:p>
          <a:p>
            <a:pPr marL="0" lvl="0" indent="0" algn="l" rtl="0">
              <a:spcBef>
                <a:spcPts val="1200"/>
              </a:spcBef>
              <a:spcAft>
                <a:spcPts val="1200"/>
              </a:spcAft>
              <a:buNone/>
            </a:pPr>
            <a:endParaRPr dirty="0"/>
          </a:p>
        </p:txBody>
      </p:sp>
      <p:pic>
        <p:nvPicPr>
          <p:cNvPr id="394" name="Google Shape;394;p62"/>
          <p:cNvPicPr preferRelativeResize="0"/>
          <p:nvPr/>
        </p:nvPicPr>
        <p:blipFill>
          <a:blip r:embed="rId3">
            <a:alphaModFix/>
          </a:blip>
          <a:stretch>
            <a:fillRect/>
          </a:stretch>
        </p:blipFill>
        <p:spPr>
          <a:xfrm>
            <a:off x="3036000" y="1739075"/>
            <a:ext cx="2190600" cy="12347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Recall: Economic variables that impact demand </a:t>
            </a:r>
            <a:endParaRPr dirty="0"/>
          </a:p>
        </p:txBody>
      </p:sp>
      <p:sp>
        <p:nvSpPr>
          <p:cNvPr id="230" name="Google Shape;230;p38"/>
          <p:cNvSpPr txBox="1">
            <a:spLocks noGrp="1"/>
          </p:cNvSpPr>
          <p:nvPr>
            <p:ph type="body" idx="1"/>
          </p:nvPr>
        </p:nvSpPr>
        <p:spPr>
          <a:xfrm>
            <a:off x="311700" y="1203150"/>
            <a:ext cx="8520600" cy="372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Shape or slope of the curve indicates the responsiveness of demand to prices</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231" name="Google Shape;231;p38"/>
          <p:cNvPicPr preferRelativeResize="0"/>
          <p:nvPr/>
        </p:nvPicPr>
        <p:blipFill>
          <a:blip r:embed="rId3">
            <a:alphaModFix/>
          </a:blip>
          <a:stretch>
            <a:fillRect/>
          </a:stretch>
        </p:blipFill>
        <p:spPr>
          <a:xfrm>
            <a:off x="1858544" y="1739350"/>
            <a:ext cx="5426906" cy="34041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6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Flatter curve </a:t>
            </a:r>
            <a:r>
              <a:rPr lang="en-US" dirty="0">
                <a:sym typeface="Wingdings" panose="05000000000000000000" pitchFamily="2" charset="2"/>
              </a:rPr>
              <a:t> higher elasticity </a:t>
            </a:r>
            <a:endParaRPr dirty="0"/>
          </a:p>
        </p:txBody>
      </p:sp>
      <p:sp>
        <p:nvSpPr>
          <p:cNvPr id="408" name="Google Shape;408;p6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09" name="Google Shape;409;p64"/>
          <p:cNvPicPr preferRelativeResize="0"/>
          <p:nvPr/>
        </p:nvPicPr>
        <p:blipFill rotWithShape="1">
          <a:blip r:embed="rId3">
            <a:alphaModFix/>
          </a:blip>
          <a:srcRect l="1380" t="21750"/>
          <a:stretch>
            <a:fillRect/>
          </a:stretch>
        </p:blipFill>
        <p:spPr>
          <a:xfrm>
            <a:off x="311700" y="1153455"/>
            <a:ext cx="8327049" cy="39312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413"/>
        <p:cNvGrpSpPr/>
        <p:nvPr/>
      </p:nvGrpSpPr>
      <p:grpSpPr>
        <a:xfrm>
          <a:off x="0" y="0"/>
          <a:ext cx="0" cy="0"/>
          <a:chOff x="0" y="0"/>
          <a:chExt cx="0" cy="0"/>
        </a:xfrm>
      </p:grpSpPr>
      <p:sp>
        <p:nvSpPr>
          <p:cNvPr id="414" name="Google Shape;414;p6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15" name="Google Shape;415;p65"/>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16" name="Google Shape;416;p65"/>
          <p:cNvPicPr preferRelativeResize="0"/>
          <p:nvPr/>
        </p:nvPicPr>
        <p:blipFill>
          <a:blip r:embed="rId3">
            <a:alphaModFix/>
          </a:blip>
          <a:stretch>
            <a:fillRect/>
          </a:stretch>
        </p:blipFill>
        <p:spPr>
          <a:xfrm>
            <a:off x="0" y="14444"/>
            <a:ext cx="9144000" cy="511463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63"/>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Normal vs. Inferior Goods </a:t>
            </a:r>
            <a:endParaRPr/>
          </a:p>
        </p:txBody>
      </p:sp>
      <p:sp>
        <p:nvSpPr>
          <p:cNvPr id="402" name="Google Shape;402;p63"/>
          <p:cNvSpPr txBox="1"/>
          <p:nvPr/>
        </p:nvSpPr>
        <p:spPr>
          <a:xfrm>
            <a:off x="556450" y="1647342"/>
            <a:ext cx="8437200" cy="1015632"/>
          </a:xfrm>
          <a:prstGeom prst="rect">
            <a:avLst/>
          </a:prstGeom>
          <a:solidFill>
            <a:schemeClr val="accent4">
              <a:lumMod val="20000"/>
              <a:lumOff val="80000"/>
            </a:schemeClr>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2"/>
                </a:solidFill>
              </a:rPr>
              <a:t>Normal Good: </a:t>
            </a:r>
            <a:r>
              <a:rPr lang="en" sz="1800" dirty="0">
                <a:solidFill>
                  <a:schemeClr val="dk2"/>
                </a:solidFill>
              </a:rPr>
              <a:t>as income increases, the consumer spends at least a portion of the increase in purchasing power on additional physician services. </a:t>
            </a:r>
          </a:p>
          <a:p>
            <a:pPr marL="0" lvl="0" indent="0" algn="l" rtl="0">
              <a:spcBef>
                <a:spcPts val="0"/>
              </a:spcBef>
              <a:spcAft>
                <a:spcPts val="0"/>
              </a:spcAft>
              <a:buNone/>
            </a:pPr>
            <a:r>
              <a:rPr lang="en" sz="1800" dirty="0">
                <a:solidFill>
                  <a:schemeClr val="dk2"/>
                </a:solidFill>
                <a:sym typeface="Wingdings" panose="05000000000000000000" pitchFamily="2" charset="2"/>
              </a:rPr>
              <a:t> Vs. </a:t>
            </a:r>
            <a:r>
              <a:rPr lang="en" sz="1800" b="1" dirty="0">
                <a:solidFill>
                  <a:schemeClr val="dk2"/>
                </a:solidFill>
                <a:sym typeface="Wingdings" panose="05000000000000000000" pitchFamily="2" charset="2"/>
              </a:rPr>
              <a:t>Inferior good: </a:t>
            </a:r>
            <a:r>
              <a:rPr lang="en" sz="1800" dirty="0">
                <a:solidFill>
                  <a:schemeClr val="dk2"/>
                </a:solidFill>
                <a:sym typeface="Wingdings" panose="05000000000000000000" pitchFamily="2" charset="2"/>
              </a:rPr>
              <a:t>demand declines when income rises </a:t>
            </a:r>
            <a:endParaRPr sz="1800" dirty="0">
              <a:solidFill>
                <a:schemeClr val="dk2"/>
              </a:solidFill>
            </a:endParaRPr>
          </a:p>
        </p:txBody>
      </p:sp>
      <p:sp>
        <p:nvSpPr>
          <p:cNvPr id="401" name="Google Shape;401;p63"/>
          <p:cNvSpPr txBox="1"/>
          <p:nvPr/>
        </p:nvSpPr>
        <p:spPr>
          <a:xfrm>
            <a:off x="311700" y="1296417"/>
            <a:ext cx="1684500" cy="461700"/>
          </a:xfrm>
          <a:prstGeom prst="rect">
            <a:avLst/>
          </a:prstGeom>
          <a:solidFill>
            <a:schemeClr val="accent1">
              <a:lumMod val="20000"/>
              <a:lumOff val="80000"/>
            </a:schemeClr>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Definition </a:t>
            </a:r>
            <a:endParaRPr sz="1800" dirty="0">
              <a:solidFill>
                <a:schemeClr val="dk2"/>
              </a:solidFill>
            </a:endParaRPr>
          </a:p>
        </p:txBody>
      </p:sp>
      <p:pic>
        <p:nvPicPr>
          <p:cNvPr id="3" name="Picture 2">
            <a:extLst>
              <a:ext uri="{FF2B5EF4-FFF2-40B4-BE49-F238E27FC236}">
                <a16:creationId xmlns:a16="http://schemas.microsoft.com/office/drawing/2014/main" id="{CCB42936-6A92-BE5A-6D11-E551324194A7}"/>
              </a:ext>
            </a:extLst>
          </p:cNvPr>
          <p:cNvPicPr>
            <a:picLocks noChangeAspect="1"/>
          </p:cNvPicPr>
          <p:nvPr/>
        </p:nvPicPr>
        <p:blipFill>
          <a:blip r:embed="rId3"/>
          <a:stretch>
            <a:fillRect/>
          </a:stretch>
        </p:blipFill>
        <p:spPr>
          <a:xfrm>
            <a:off x="3182873" y="2936247"/>
            <a:ext cx="2029108" cy="2010056"/>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98">
          <a:extLst>
            <a:ext uri="{FF2B5EF4-FFF2-40B4-BE49-F238E27FC236}">
              <a16:creationId xmlns:a16="http://schemas.microsoft.com/office/drawing/2014/main" id="{A6409555-1768-4ED8-6FC8-9C245B656B70}"/>
            </a:ext>
          </a:extLst>
        </p:cNvPr>
        <p:cNvGrpSpPr/>
        <p:nvPr/>
      </p:nvGrpSpPr>
      <p:grpSpPr>
        <a:xfrm>
          <a:off x="0" y="0"/>
          <a:ext cx="0" cy="0"/>
          <a:chOff x="0" y="0"/>
          <a:chExt cx="0" cy="0"/>
        </a:xfrm>
      </p:grpSpPr>
      <p:sp>
        <p:nvSpPr>
          <p:cNvPr id="399" name="Google Shape;399;p63">
            <a:extLst>
              <a:ext uri="{FF2B5EF4-FFF2-40B4-BE49-F238E27FC236}">
                <a16:creationId xmlns:a16="http://schemas.microsoft.com/office/drawing/2014/main" id="{95AF08F6-716B-CBDD-E630-D960DCDA8432}"/>
              </a:ext>
            </a:extLst>
          </p:cNvPr>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Normal vs. Inferior Goods </a:t>
            </a:r>
            <a:endParaRPr/>
          </a:p>
        </p:txBody>
      </p:sp>
      <p:sp>
        <p:nvSpPr>
          <p:cNvPr id="402" name="Google Shape;402;p63">
            <a:extLst>
              <a:ext uri="{FF2B5EF4-FFF2-40B4-BE49-F238E27FC236}">
                <a16:creationId xmlns:a16="http://schemas.microsoft.com/office/drawing/2014/main" id="{AD827A08-30A2-E8C2-87BD-19C39A806687}"/>
              </a:ext>
            </a:extLst>
          </p:cNvPr>
          <p:cNvSpPr txBox="1"/>
          <p:nvPr/>
        </p:nvSpPr>
        <p:spPr>
          <a:xfrm>
            <a:off x="556450" y="1647342"/>
            <a:ext cx="8437200" cy="1015632"/>
          </a:xfrm>
          <a:prstGeom prst="rect">
            <a:avLst/>
          </a:prstGeom>
          <a:solidFill>
            <a:schemeClr val="accent4">
              <a:lumMod val="20000"/>
              <a:lumOff val="80000"/>
            </a:schemeClr>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a:solidFill>
                  <a:schemeClr val="dk2"/>
                </a:solidFill>
              </a:rPr>
              <a:t>Normal Good: </a:t>
            </a:r>
            <a:r>
              <a:rPr lang="en" sz="1800" dirty="0">
                <a:solidFill>
                  <a:schemeClr val="dk2"/>
                </a:solidFill>
              </a:rPr>
              <a:t>as income increases, the consumer spends at least a portion of the increase in purchasing power on additional physician services. </a:t>
            </a:r>
          </a:p>
          <a:p>
            <a:pPr marL="0" lvl="0" indent="0" algn="l" rtl="0">
              <a:spcBef>
                <a:spcPts val="0"/>
              </a:spcBef>
              <a:spcAft>
                <a:spcPts val="0"/>
              </a:spcAft>
              <a:buNone/>
            </a:pPr>
            <a:r>
              <a:rPr lang="en" sz="1800" dirty="0">
                <a:solidFill>
                  <a:schemeClr val="dk2"/>
                </a:solidFill>
                <a:sym typeface="Wingdings" panose="05000000000000000000" pitchFamily="2" charset="2"/>
              </a:rPr>
              <a:t> Vs. </a:t>
            </a:r>
            <a:r>
              <a:rPr lang="en" sz="1800" b="1" dirty="0">
                <a:solidFill>
                  <a:schemeClr val="dk2"/>
                </a:solidFill>
                <a:sym typeface="Wingdings" panose="05000000000000000000" pitchFamily="2" charset="2"/>
              </a:rPr>
              <a:t>Inferior good: </a:t>
            </a:r>
            <a:r>
              <a:rPr lang="en" sz="1800" dirty="0">
                <a:solidFill>
                  <a:schemeClr val="dk2"/>
                </a:solidFill>
                <a:sym typeface="Wingdings" panose="05000000000000000000" pitchFamily="2" charset="2"/>
              </a:rPr>
              <a:t>demand declines when income rises </a:t>
            </a:r>
            <a:endParaRPr sz="1800" dirty="0">
              <a:solidFill>
                <a:schemeClr val="dk2"/>
              </a:solidFill>
            </a:endParaRPr>
          </a:p>
        </p:txBody>
      </p:sp>
      <p:sp>
        <p:nvSpPr>
          <p:cNvPr id="401" name="Google Shape;401;p63">
            <a:extLst>
              <a:ext uri="{FF2B5EF4-FFF2-40B4-BE49-F238E27FC236}">
                <a16:creationId xmlns:a16="http://schemas.microsoft.com/office/drawing/2014/main" id="{E37232AA-0E99-F952-2BF9-FC416864C700}"/>
              </a:ext>
            </a:extLst>
          </p:cNvPr>
          <p:cNvSpPr txBox="1"/>
          <p:nvPr/>
        </p:nvSpPr>
        <p:spPr>
          <a:xfrm>
            <a:off x="311700" y="1296417"/>
            <a:ext cx="1684500" cy="461700"/>
          </a:xfrm>
          <a:prstGeom prst="rect">
            <a:avLst/>
          </a:prstGeom>
          <a:solidFill>
            <a:schemeClr val="accent1">
              <a:lumMod val="20000"/>
              <a:lumOff val="80000"/>
            </a:schemeClr>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dirty="0">
                <a:solidFill>
                  <a:schemeClr val="dk2"/>
                </a:solidFill>
              </a:rPr>
              <a:t>Definition </a:t>
            </a:r>
            <a:endParaRPr sz="1800" dirty="0">
              <a:solidFill>
                <a:schemeClr val="dk2"/>
              </a:solidFill>
            </a:endParaRPr>
          </a:p>
        </p:txBody>
      </p:sp>
      <p:sp>
        <p:nvSpPr>
          <p:cNvPr id="400" name="Google Shape;400;p63">
            <a:extLst>
              <a:ext uri="{FF2B5EF4-FFF2-40B4-BE49-F238E27FC236}">
                <a16:creationId xmlns:a16="http://schemas.microsoft.com/office/drawing/2014/main" id="{C4C02F27-08E1-6AB4-8887-DC0DB196FAEE}"/>
              </a:ext>
            </a:extLst>
          </p:cNvPr>
          <p:cNvSpPr txBox="1">
            <a:spLocks noGrp="1"/>
          </p:cNvSpPr>
          <p:nvPr>
            <p:ph type="body" idx="1"/>
          </p:nvPr>
        </p:nvSpPr>
        <p:spPr>
          <a:xfrm>
            <a:off x="311700" y="3334625"/>
            <a:ext cx="8520600" cy="60665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en" dirty="0"/>
              <a:t>Medical care is assumed to be a “normal” good. </a:t>
            </a:r>
            <a:endParaRPr dirty="0"/>
          </a:p>
        </p:txBody>
      </p:sp>
    </p:spTree>
    <p:extLst>
      <p:ext uri="{BB962C8B-B14F-4D97-AF65-F5344CB8AC3E}">
        <p14:creationId xmlns:p14="http://schemas.microsoft.com/office/powerpoint/2010/main" val="25280904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420"/>
        <p:cNvGrpSpPr/>
        <p:nvPr/>
      </p:nvGrpSpPr>
      <p:grpSpPr>
        <a:xfrm>
          <a:off x="0" y="0"/>
          <a:ext cx="0" cy="0"/>
          <a:chOff x="0" y="0"/>
          <a:chExt cx="0" cy="0"/>
        </a:xfrm>
      </p:grpSpPr>
      <p:sp>
        <p:nvSpPr>
          <p:cNvPr id="421" name="Google Shape;421;p66"/>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22" name="Google Shape;422;p66"/>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23" name="Google Shape;423;p66"/>
          <p:cNvPicPr preferRelativeResize="0"/>
          <p:nvPr/>
        </p:nvPicPr>
        <p:blipFill>
          <a:blip r:embed="rId3">
            <a:alphaModFix/>
          </a:blip>
          <a:stretch>
            <a:fillRect/>
          </a:stretch>
        </p:blipFill>
        <p:spPr>
          <a:xfrm>
            <a:off x="101175" y="-59550"/>
            <a:ext cx="8941659" cy="52626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002a9b-0017-404d-97dc-3d3bab09be81}" enabled="0" method="" siteId="{b0002a9b-0017-404d-97dc-3d3bab09be81}" removed="1"/>
</clbl:labelList>
</file>

<file path=docProps/app.xml><?xml version="1.0" encoding="utf-8"?>
<Properties xmlns="http://schemas.openxmlformats.org/officeDocument/2006/extended-properties" xmlns:vt="http://schemas.openxmlformats.org/officeDocument/2006/docPropsVTypes">
  <Template/>
  <TotalTime>5</TotalTime>
  <Words>3508</Words>
  <Application>Microsoft Office PowerPoint</Application>
  <PresentationFormat>On-screen Show (16:9)</PresentationFormat>
  <Paragraphs>356</Paragraphs>
  <Slides>59</Slides>
  <Notes>58</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Times New Roman</vt:lpstr>
      <vt:lpstr>Arial</vt:lpstr>
      <vt:lpstr>Roboto</vt:lpstr>
      <vt:lpstr>Segoe UI</vt:lpstr>
      <vt:lpstr>Wingdings</vt:lpstr>
      <vt:lpstr>Simple Light</vt:lpstr>
      <vt:lpstr>Week 2: Demand for Health</vt:lpstr>
      <vt:lpstr>Week 2: Outline </vt:lpstr>
      <vt:lpstr>AI Policy </vt:lpstr>
      <vt:lpstr>PPF Review </vt:lpstr>
      <vt:lpstr>1. PPF: Production Possibility Frontier - Review</vt:lpstr>
      <vt:lpstr>Review of the PPF</vt:lpstr>
      <vt:lpstr>Demand for Medical Care </vt:lpstr>
      <vt:lpstr>Utility - Definition, uses </vt:lpstr>
      <vt:lpstr>From Utility to Demand </vt:lpstr>
      <vt:lpstr>From Utility to Demand </vt:lpstr>
      <vt:lpstr>From Utility to Demand</vt:lpstr>
      <vt:lpstr>Diminishing Marginal Returns </vt:lpstr>
      <vt:lpstr>Economic Definition of Medical Care </vt:lpstr>
      <vt:lpstr>Demand for Health &amp; Health Care </vt:lpstr>
      <vt:lpstr>Grossman Model: Demand for care is a derived demand </vt:lpstr>
      <vt:lpstr>Law of diminishing marginal utility (of health)  </vt:lpstr>
      <vt:lpstr>Law of diminishing marginal productivity (of health) </vt:lpstr>
      <vt:lpstr>Law of diminishing marginal productivity (of health) </vt:lpstr>
      <vt:lpstr>Law of diminishing marginal productivity (of health) </vt:lpstr>
      <vt:lpstr>Production function of health </vt:lpstr>
      <vt:lpstr>Recap, Questions, &amp; Break </vt:lpstr>
      <vt:lpstr>The Demand Curve for Medical Services </vt:lpstr>
      <vt:lpstr>The Demand Curve for Medical Services </vt:lpstr>
      <vt:lpstr>Basics of Demand Curve </vt:lpstr>
      <vt:lpstr>Demand Curve for Physician Services</vt:lpstr>
      <vt:lpstr>Economic variables that impact demand </vt:lpstr>
      <vt:lpstr>Economic variables that impact demand </vt:lpstr>
      <vt:lpstr>Non-Economic Variables that Impact Demand </vt:lpstr>
      <vt:lpstr>Quiz: what happens to demand for spicy food when someone gets an ulcer?</vt:lpstr>
      <vt:lpstr>Demand Shifters</vt:lpstr>
      <vt:lpstr>Impact of Health Insurance on Demand for Medical Care </vt:lpstr>
      <vt:lpstr>How insurance changes market dynamics </vt:lpstr>
      <vt:lpstr>Moral Hazard</vt:lpstr>
      <vt:lpstr>Moral Hazard</vt:lpstr>
      <vt:lpstr>Rand Experiment: Effects of Cost Sharing on Demand</vt:lpstr>
      <vt:lpstr>Definitions: Market vs. Effective Demand</vt:lpstr>
      <vt:lpstr>No insurance</vt:lpstr>
      <vt:lpstr>100% coverage </vt:lpstr>
      <vt:lpstr>Cost-sharing</vt:lpstr>
      <vt:lpstr>Cost-sharing: Copayments</vt:lpstr>
      <vt:lpstr>Cost-sharing: Coinsurance </vt:lpstr>
      <vt:lpstr>Cost-sharing: Coinsurance </vt:lpstr>
      <vt:lpstr>Cost-sharing: Coinsurance </vt:lpstr>
      <vt:lpstr>Cost-sharing: Deductible</vt:lpstr>
      <vt:lpstr>Closing the loop: RAND</vt:lpstr>
      <vt:lpstr>Aggregate demand = Σ individual demand curves</vt:lpstr>
      <vt:lpstr>Last thoughts &amp; Break </vt:lpstr>
      <vt:lpstr>Elasticities </vt:lpstr>
      <vt:lpstr>Elasticities </vt:lpstr>
      <vt:lpstr>Own Price Elasticity </vt:lpstr>
      <vt:lpstr>Own price elasticities - classifications</vt:lpstr>
      <vt:lpstr>Cross-price elasticities </vt:lpstr>
      <vt:lpstr>Income elasticity of demand</vt:lpstr>
      <vt:lpstr>Recall: Economic variables that impact demand </vt:lpstr>
      <vt:lpstr>Flatter curve  higher elasticity </vt:lpstr>
      <vt:lpstr>PowerPoint Presentation</vt:lpstr>
      <vt:lpstr>Normal vs. Inferior Goods </vt:lpstr>
      <vt:lpstr>Normal vs. Inferior Goods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Booboo</dc:creator>
  <cp:lastModifiedBy>Boualam, Nada</cp:lastModifiedBy>
  <cp:revision>1</cp:revision>
  <dcterms:modified xsi:type="dcterms:W3CDTF">2026-01-28T16:36:41Z</dcterms:modified>
</cp:coreProperties>
</file>