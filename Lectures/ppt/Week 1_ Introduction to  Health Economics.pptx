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51" r:id="rId1"/>
  </p:sldMasterIdLst>
  <p:notesMasterIdLst>
    <p:notesMasterId r:id="rId3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5" r:id="rId29"/>
    <p:sldId id="283" r:id="rId30"/>
    <p:sldId id="284" r:id="rId31"/>
  </p:sldIdLst>
  <p:sldSz cx="9144000" cy="5143500" type="screen16x9"/>
  <p:notesSz cx="6858000" cy="9144000"/>
  <p:embeddedFontLst>
    <p:embeddedFont>
      <p:font typeface="Georgia" panose="02040502050405020303" pitchFamily="18" charset="0"/>
      <p:regular r:id="rId33"/>
      <p:bold r:id="rId34"/>
      <p:italic r:id="rId35"/>
      <p:boldItalic r:id="rId36"/>
    </p:embeddedFont>
    <p:embeddedFont>
      <p:font typeface="Inter" panose="020B0604020202020204" charset="0"/>
      <p:regular r:id="rId37"/>
      <p:bold r:id="rId38"/>
      <p:italic r:id="rId39"/>
      <p:boldItalic r:id="rId4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58" d="100"/>
          <a:sy n="158" d="100"/>
        </p:scale>
        <p:origin x="264" y="138"/>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7.fntdata"/><Relationship Id="rId21" Type="http://schemas.openxmlformats.org/officeDocument/2006/relationships/slide" Target="slides/slide20.xml"/><Relationship Id="rId34" Type="http://schemas.openxmlformats.org/officeDocument/2006/relationships/font" Target="fonts/font2.fntdata"/><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font" Target="fonts/font5.fntdata"/><Relationship Id="rId40"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3.fntdata"/><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1.fntdata"/><Relationship Id="rId38" Type="http://schemas.openxmlformats.org/officeDocument/2006/relationships/font" Target="fonts/font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www.aeaweb.org/research/does-health-insurance-improve-financial-health" TargetMode="External"/><Relationship Id="rId2" Type="http://schemas.openxmlformats.org/officeDocument/2006/relationships/slide" Target="../slides/slide11.xml"/><Relationship Id="rId1" Type="http://schemas.openxmlformats.org/officeDocument/2006/relationships/notesMaster" Target="../notesMasters/notesMaster1.xml"/><Relationship Id="rId4" Type="http://schemas.openxmlformats.org/officeDocument/2006/relationships/hyperlink" Target="https://www.aeaweb.org/research/could-better-contracts-prevent-default" TargetMode="Externa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3" Type="http://schemas.openxmlformats.org/officeDocument/2006/relationships/hyperlink" Target="https://www.healthsystemtracker.org/indicator/spending/treatment-prevalence/#Inpatient%20care%20average%20length%20of%20stay%20in%20days,%20all%20hospitals,%202021%20or%20nearest%20year" TargetMode="External"/><Relationship Id="rId2" Type="http://schemas.openxmlformats.org/officeDocument/2006/relationships/slide" Target="../slides/slide18.xml"/><Relationship Id="rId1" Type="http://schemas.openxmlformats.org/officeDocument/2006/relationships/notesMaster" Target="../notesMasters/notesMaster1.xml"/><Relationship Id="rId5" Type="http://schemas.openxmlformats.org/officeDocument/2006/relationships/hyperlink" Target="https://www.healthsystemtracker.org/chart-collection/how-do-prescription-drug-costs-in-the-united-states-compare-to-other-countries/#Per%20capita%20spending%20on%20prescribed%20medicines%20in%20dollars,%20by%20financing%20scheme,%202019%20or%20latest%20year" TargetMode="External"/><Relationship Id="rId4" Type="http://schemas.openxmlformats.org/officeDocument/2006/relationships/hyperlink" Target="https://www.healthsystemtracker.org/indicator/spending/treatment-prevalence/#Annual%20in-person%20doctor%20visits%20per%20capita,%202020" TargetMode="Externa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3" Type="http://schemas.openxmlformats.org/officeDocument/2006/relationships/hyperlink" Target="https://www.healthsystemtracker.org/indicator/spending/treatment-prevalence/#Inpatient%20care%20average%20length%20of%20stay%20in%20days,%20all%20hospitals,%202021%20or%20nearest%20year" TargetMode="External"/><Relationship Id="rId2" Type="http://schemas.openxmlformats.org/officeDocument/2006/relationships/slide" Target="../slides/slide29.xml"/><Relationship Id="rId1" Type="http://schemas.openxmlformats.org/officeDocument/2006/relationships/notesMaster" Target="../notesMasters/notesMaster1.xml"/><Relationship Id="rId5" Type="http://schemas.openxmlformats.org/officeDocument/2006/relationships/hyperlink" Target="https://www.healthsystemtracker.org/chart-collection/how-do-prescription-drug-costs-in-the-united-states-compare-to-other-countries/#Per%20capita%20spending%20on%20prescribed%20medicines%20in%20dollars,%20by%20financing%20scheme,%202019%20or%20latest%20year" TargetMode="External"/><Relationship Id="rId4" Type="http://schemas.openxmlformats.org/officeDocument/2006/relationships/hyperlink" Target="https://www.healthsystemtracker.org/indicator/spending/treatment-prevalence/#Annual%20in-person%20doctor%20visits%20per%20capita,%202020" TargetMode="Externa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3b918821590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3b918821590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3b91d65582e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3b91d65582e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g3b918821590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3b918821590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SLIDES_API873610445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SLIDES_API873610445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 This is Slido interaction slide, please don't delete it.</a:t>
            </a:r>
            <a:br>
              <a:rPr lang="en"/>
            </a:br>
            <a:r>
              <a:rPr lang="en"/>
              <a:t>✅ Click on 'Present with Slido' and the poll will launch automatically when you get to this slide.</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g3b91d65582e_1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 name="Google Shape;88;g3b91d65582e_1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3b931946cd2_0_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3b931946cd2_0_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SLIDES_API352815397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SLIDES_API352815397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 This is Slido interaction slide, please don't delete it.</a:t>
            </a:r>
            <a:br>
              <a:rPr lang="en"/>
            </a:br>
            <a:r>
              <a:rPr lang="en"/>
              <a:t>✅ Click on 'Present with Slido' and the poll will launch automatically when you get to this slide.</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g3b91d65582e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 name="Google Shape;112;g3b91d65582e_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g3b91d65582e_2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7" name="Google Shape;117;g3b91d65582e_2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g3b91d65582e_2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 name="Google Shape;123;g3b91d65582e_2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rgbClr val="595959"/>
                </a:solidFill>
              </a:rPr>
              <a:t>It often involves topics like wealth and finance, but it’s not all about money. </a:t>
            </a:r>
            <a:endParaRPr sz="1800">
              <a:solidFill>
                <a:srgbClr val="595959"/>
              </a:solidFill>
            </a:endParaRPr>
          </a:p>
          <a:p>
            <a:pPr marL="0" lvl="0" indent="0" algn="l" rtl="0">
              <a:spcBef>
                <a:spcPts val="0"/>
              </a:spcBef>
              <a:spcAft>
                <a:spcPts val="0"/>
              </a:spcAft>
              <a:buClr>
                <a:schemeClr val="dk1"/>
              </a:buClr>
              <a:buSzPts val="1100"/>
              <a:buFont typeface="Arial"/>
              <a:buNone/>
            </a:pPr>
            <a:r>
              <a:rPr lang="en" sz="1200">
                <a:solidFill>
                  <a:srgbClr val="353C3F"/>
                </a:solidFill>
                <a:highlight>
                  <a:srgbClr val="FFFFFF"/>
                </a:highlight>
                <a:latin typeface="Georgia"/>
                <a:ea typeface="Georgia"/>
                <a:cs typeface="Georgia"/>
                <a:sym typeface="Georgia"/>
              </a:rPr>
              <a:t>Economics ranges from the very small to the very large. The study of individual decisions is called </a:t>
            </a:r>
            <a:r>
              <a:rPr lang="en" sz="1200" b="1">
                <a:solidFill>
                  <a:srgbClr val="353C3F"/>
                </a:solidFill>
                <a:highlight>
                  <a:srgbClr val="FFFFFF"/>
                </a:highlight>
                <a:latin typeface="Georgia"/>
                <a:ea typeface="Georgia"/>
                <a:cs typeface="Georgia"/>
                <a:sym typeface="Georgia"/>
              </a:rPr>
              <a:t>microeconomics</a:t>
            </a:r>
            <a:r>
              <a:rPr lang="en" sz="1200">
                <a:solidFill>
                  <a:srgbClr val="353C3F"/>
                </a:solidFill>
                <a:highlight>
                  <a:srgbClr val="FFFFFF"/>
                </a:highlight>
                <a:latin typeface="Georgia"/>
                <a:ea typeface="Georgia"/>
                <a:cs typeface="Georgia"/>
                <a:sym typeface="Georgia"/>
              </a:rPr>
              <a:t>. The study of the economy as a whole is called </a:t>
            </a:r>
            <a:r>
              <a:rPr lang="en" sz="1200" b="1">
                <a:solidFill>
                  <a:srgbClr val="353C3F"/>
                </a:solidFill>
                <a:highlight>
                  <a:srgbClr val="FFFFFF"/>
                </a:highlight>
                <a:latin typeface="Georgia"/>
                <a:ea typeface="Georgia"/>
                <a:cs typeface="Georgia"/>
                <a:sym typeface="Georgia"/>
              </a:rPr>
              <a:t>macroeconomics</a:t>
            </a:r>
            <a:r>
              <a:rPr lang="en" sz="1200">
                <a:solidFill>
                  <a:srgbClr val="353C3F"/>
                </a:solidFill>
                <a:highlight>
                  <a:srgbClr val="FFFFFF"/>
                </a:highlight>
                <a:latin typeface="Georgia"/>
                <a:ea typeface="Georgia"/>
                <a:cs typeface="Georgia"/>
                <a:sym typeface="Georgia"/>
              </a:rPr>
              <a:t>. A microeconomist might focus on </a:t>
            </a:r>
            <a:r>
              <a:rPr lang="en" sz="1200">
                <a:solidFill>
                  <a:srgbClr val="924046"/>
                </a:solidFill>
                <a:highlight>
                  <a:srgbClr val="FFFFFF"/>
                </a:highlight>
                <a:uFill>
                  <a:noFill/>
                </a:uFill>
                <a:latin typeface="Georgia"/>
                <a:ea typeface="Georgia"/>
                <a:cs typeface="Georgia"/>
                <a:sym typeface="Georgia"/>
                <a:hlinkClick r:id="rId3">
                  <a:extLst>
                    <a:ext uri="{A12FA001-AC4F-418D-AE19-62706E023703}">
                      <ahyp:hlinkClr xmlns:ahyp="http://schemas.microsoft.com/office/drawing/2018/hyperlinkcolor" val="tx"/>
                    </a:ext>
                  </a:extLst>
                </a:hlinkClick>
              </a:rPr>
              <a:t>families’ medical debt</a:t>
            </a:r>
            <a:r>
              <a:rPr lang="en" sz="1200">
                <a:solidFill>
                  <a:srgbClr val="353C3F"/>
                </a:solidFill>
                <a:highlight>
                  <a:srgbClr val="FFFFFF"/>
                </a:highlight>
                <a:latin typeface="Georgia"/>
                <a:ea typeface="Georgia"/>
                <a:cs typeface="Georgia"/>
                <a:sym typeface="Georgia"/>
              </a:rPr>
              <a:t>, whereas a macroeconomist might focus on </a:t>
            </a:r>
            <a:r>
              <a:rPr lang="en" sz="1200">
                <a:solidFill>
                  <a:srgbClr val="924046"/>
                </a:solidFill>
                <a:highlight>
                  <a:srgbClr val="FFFFFF"/>
                </a:highlight>
                <a:uFill>
                  <a:noFill/>
                </a:uFill>
                <a:latin typeface="Georgia"/>
                <a:ea typeface="Georgia"/>
                <a:cs typeface="Georgia"/>
                <a:sym typeface="Georgia"/>
                <a:hlinkClick r:id="rId4">
                  <a:extLst>
                    <a:ext uri="{A12FA001-AC4F-418D-AE19-62706E023703}">
                      <ahyp:hlinkClr xmlns:ahyp="http://schemas.microsoft.com/office/drawing/2018/hyperlinkcolor" val="tx"/>
                    </a:ext>
                  </a:extLst>
                </a:hlinkClick>
              </a:rPr>
              <a:t>sovereign debt</a:t>
            </a:r>
            <a:r>
              <a:rPr lang="en" sz="1200">
                <a:solidFill>
                  <a:srgbClr val="353C3F"/>
                </a:solidFill>
                <a:highlight>
                  <a:srgbClr val="FFFFFF"/>
                </a:highlight>
                <a:latin typeface="Georgia"/>
                <a:ea typeface="Georgia"/>
                <a:cs typeface="Georgia"/>
                <a:sym typeface="Georgia"/>
              </a:rPr>
              <a:t>.</a:t>
            </a:r>
            <a:endParaRPr sz="1800">
              <a:solidFill>
                <a:srgbClr val="595959"/>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g3b91d65582e_2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 name="Google Shape;129;g3b91d65582e_2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g3b91d65582e_2_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 name="Google Shape;136;g3b91d65582e_2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This raises questions - is the healthcare system efficient? </a:t>
            </a:r>
            <a:endParaRPr/>
          </a:p>
          <a:p>
            <a:pPr marL="0" lvl="0" indent="0" algn="l" rtl="0">
              <a:lnSpc>
                <a:spcPct val="115000"/>
              </a:lnSpc>
              <a:spcBef>
                <a:spcPts val="1200"/>
              </a:spcBef>
              <a:spcAft>
                <a:spcPts val="0"/>
              </a:spcAft>
              <a:buClr>
                <a:schemeClr val="dk1"/>
              </a:buClr>
              <a:buSzPts val="1100"/>
              <a:buFont typeface="Arial"/>
              <a:buNone/>
            </a:pPr>
            <a:r>
              <a:rPr lang="en"/>
              <a:t>à these things don’t apply to most purchase, certainly not all, like food, computers, tvs. Unique to healthcare, and thus very interesting to economists</a:t>
            </a:r>
            <a:endParaRPr/>
          </a:p>
          <a:p>
            <a:pPr marL="0" lvl="0" indent="0" algn="l" rtl="0">
              <a:spcBef>
                <a:spcPts val="120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g3b91d65582e_2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2" name="Google Shape;142;g3b91d65582e_2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This raises questions - is the healthcare system efficient?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3b91d65582e_2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 name="Google Shape;148;g3b91d65582e_2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This raises questions - is the healthcare system efficient?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3b91d65582e_2_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g3b91d65582e_2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This raises questions - is the healthcare system efficient?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3b91d65582e_2_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2" name="Google Shape;162;g3b91d65582e_2_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g3b91d65582e_2_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 name="Google Shape;169;g3b91d65582e_2_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350">
                <a:solidFill>
                  <a:srgbClr val="1C3467"/>
                </a:solidFill>
                <a:highlight>
                  <a:srgbClr val="FFFFFF"/>
                </a:highlight>
              </a:rPr>
              <a:t>Patients in the U.S. have </a:t>
            </a:r>
            <a:r>
              <a:rPr lang="en" sz="1350" b="1" u="sng">
                <a:solidFill>
                  <a:srgbClr val="0085CF"/>
                </a:solidFill>
                <a:highlight>
                  <a:srgbClr val="FFFFFF"/>
                </a:highlight>
                <a:hlinkClick r:id="rId3">
                  <a:extLst>
                    <a:ext uri="{A12FA001-AC4F-418D-AE19-62706E023703}">
                      <ahyp:hlinkClr xmlns:ahyp="http://schemas.microsoft.com/office/drawing/2018/hyperlinkcolor" val="tx"/>
                    </a:ext>
                  </a:extLst>
                </a:hlinkClick>
              </a:rPr>
              <a:t>shorter average</a:t>
            </a:r>
            <a:r>
              <a:rPr lang="en" sz="1350">
                <a:solidFill>
                  <a:srgbClr val="1C3467"/>
                </a:solidFill>
                <a:highlight>
                  <a:srgbClr val="FFFFFF"/>
                </a:highlight>
              </a:rPr>
              <a:t> hospital stays and </a:t>
            </a:r>
            <a:r>
              <a:rPr lang="en" sz="1350" b="1" u="sng">
                <a:solidFill>
                  <a:srgbClr val="0085CF"/>
                </a:solidFill>
                <a:highlight>
                  <a:srgbClr val="FFFFFF"/>
                </a:highlight>
                <a:hlinkClick r:id="rId4">
                  <a:extLst>
                    <a:ext uri="{A12FA001-AC4F-418D-AE19-62706E023703}">
                      <ahyp:hlinkClr xmlns:ahyp="http://schemas.microsoft.com/office/drawing/2018/hyperlinkcolor" val="tx"/>
                    </a:ext>
                  </a:extLst>
                </a:hlinkClick>
              </a:rPr>
              <a:t>fewer physician visits</a:t>
            </a:r>
            <a:r>
              <a:rPr lang="en" sz="1350">
                <a:solidFill>
                  <a:srgbClr val="1C3467"/>
                </a:solidFill>
                <a:highlight>
                  <a:srgbClr val="FFFFFF"/>
                </a:highlight>
              </a:rPr>
              <a:t> per capita, while many hospital procedures have been shown to have higher prices in the U.S. This category also includes prescription drugs administered in inpatient and outpatient settings, which may lead to higher cost in countries, such as the U.S., where </a:t>
            </a:r>
            <a:r>
              <a:rPr lang="en" sz="1350" b="1" u="sng">
                <a:solidFill>
                  <a:srgbClr val="0085CF"/>
                </a:solidFill>
                <a:highlight>
                  <a:srgbClr val="FFFFFF"/>
                </a:highlight>
                <a:hlinkClick r:id="rId5">
                  <a:extLst>
                    <a:ext uri="{A12FA001-AC4F-418D-AE19-62706E023703}">
                      <ahyp:hlinkClr xmlns:ahyp="http://schemas.microsoft.com/office/drawing/2018/hyperlinkcolor" val="tx"/>
                    </a:ext>
                  </a:extLst>
                </a:hlinkClick>
              </a:rPr>
              <a:t>these drugs have higher prices</a:t>
            </a:r>
            <a:r>
              <a:rPr lang="en" sz="1350">
                <a:solidFill>
                  <a:srgbClr val="1C3467"/>
                </a:solidFill>
                <a:highlight>
                  <a:srgbClr val="FFFFFF"/>
                </a:highlight>
              </a:rPr>
              <a:t>.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SLIDES_API701854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5" name="Google Shape;175;SLIDES_API701854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 This is Slido interaction slide, please don't delete it.</a:t>
            </a:r>
            <a:br>
              <a:rPr lang="en"/>
            </a:br>
            <a:r>
              <a:rPr lang="en"/>
              <a:t>✅ Click on 'Present with Slido' and the poll will launch automatically when you get to this slide.</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b931946cd2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3b931946cd2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800">
                <a:solidFill>
                  <a:srgbClr val="595959"/>
                </a:solidFill>
              </a:rPr>
              <a:t>Higher spending on healthcare means lower spending on other things (education, leisure, housing) → tradeoff</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3b931946cd2_0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3" name="Google Shape;193;g3b931946cd2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rgbClr val="595959"/>
                </a:solidFill>
              </a:rPr>
              <a:t>Higher spending on healthcare means lower spending on other things (education, leisure, housing) → tradeoff</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g3b931946cd2_0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9" name="Google Shape;199;g3b931946cd2_0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rgbClr val="595959"/>
                </a:solidFill>
              </a:rPr>
              <a:t>Higher spending on healthcare means lower spending on other things (education, leisure, housing) → tradeoff</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g3b931946cd2_0_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6" name="Google Shape;206;g3b931946cd2_0_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g3b931946cd2_0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2" name="Google Shape;212;g3b931946cd2_0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800">
                <a:solidFill>
                  <a:srgbClr val="595959"/>
                </a:solidFill>
              </a:rPr>
              <a:t>→ 1st bite of dessert vs. last bite of dessert </a:t>
            </a:r>
            <a:endParaRPr sz="1800">
              <a:solidFill>
                <a:srgbClr val="595959"/>
              </a:solidFill>
            </a:endParaRPr>
          </a:p>
          <a:p>
            <a:pPr marL="0" lvl="0" indent="0" algn="l" rtl="0">
              <a:spcBef>
                <a:spcPts val="0"/>
              </a:spcBef>
              <a:spcAft>
                <a:spcPts val="0"/>
              </a:spcAft>
              <a:buClr>
                <a:schemeClr val="dk1"/>
              </a:buClr>
              <a:buSzPts val="1100"/>
              <a:buFont typeface="Arial"/>
              <a:buNone/>
            </a:pPr>
            <a:r>
              <a:rPr lang="en" sz="1800">
                <a:solidFill>
                  <a:srgbClr val="595959"/>
                </a:solidFill>
              </a:rPr>
              <a:t>→ average pollution vs. marginal pollution of flying</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g3b931946cd2_0_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8" name="Google Shape;218;g3b931946cd2_0_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g3b931946cd2_0_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4" name="Google Shape;224;g3b931946cd2_0_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3b931946cd2_0_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1" name="Google Shape;231;g3b931946cd2_0_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g3b931946cd2_0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7" name="Google Shape;237;g3b931946cd2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350">
                <a:solidFill>
                  <a:srgbClr val="1C3467"/>
                </a:solidFill>
                <a:highlight>
                  <a:srgbClr val="FFFFFF"/>
                </a:highlight>
              </a:rPr>
              <a:t>Patients in the U.S. have </a:t>
            </a:r>
            <a:r>
              <a:rPr lang="en" sz="1350" b="1" u="sng">
                <a:solidFill>
                  <a:srgbClr val="0085CF"/>
                </a:solidFill>
                <a:highlight>
                  <a:srgbClr val="FFFFFF"/>
                </a:highlight>
                <a:hlinkClick r:id="rId3">
                  <a:extLst>
                    <a:ext uri="{A12FA001-AC4F-418D-AE19-62706E023703}">
                      <ahyp:hlinkClr xmlns:ahyp="http://schemas.microsoft.com/office/drawing/2018/hyperlinkcolor" val="tx"/>
                    </a:ext>
                  </a:extLst>
                </a:hlinkClick>
              </a:rPr>
              <a:t>shorter average</a:t>
            </a:r>
            <a:r>
              <a:rPr lang="en" sz="1350">
                <a:solidFill>
                  <a:srgbClr val="1C3467"/>
                </a:solidFill>
                <a:highlight>
                  <a:srgbClr val="FFFFFF"/>
                </a:highlight>
              </a:rPr>
              <a:t> hospital stays and </a:t>
            </a:r>
            <a:r>
              <a:rPr lang="en" sz="1350" b="1" u="sng">
                <a:solidFill>
                  <a:srgbClr val="0085CF"/>
                </a:solidFill>
                <a:highlight>
                  <a:srgbClr val="FFFFFF"/>
                </a:highlight>
                <a:hlinkClick r:id="rId4">
                  <a:extLst>
                    <a:ext uri="{A12FA001-AC4F-418D-AE19-62706E023703}">
                      <ahyp:hlinkClr xmlns:ahyp="http://schemas.microsoft.com/office/drawing/2018/hyperlinkcolor" val="tx"/>
                    </a:ext>
                  </a:extLst>
                </a:hlinkClick>
              </a:rPr>
              <a:t>fewer physician visits</a:t>
            </a:r>
            <a:r>
              <a:rPr lang="en" sz="1350">
                <a:solidFill>
                  <a:srgbClr val="1C3467"/>
                </a:solidFill>
                <a:highlight>
                  <a:srgbClr val="FFFFFF"/>
                </a:highlight>
              </a:rPr>
              <a:t> per capita, while many hospital procedures have been shown to have higher prices in the U.S. This category also includes prescription drugs administered in inpatient and outpatient settings, which may lead to higher cost in countries, such as the U.S., where </a:t>
            </a:r>
            <a:r>
              <a:rPr lang="en" sz="1350" b="1" u="sng">
                <a:solidFill>
                  <a:srgbClr val="0085CF"/>
                </a:solidFill>
                <a:highlight>
                  <a:srgbClr val="FFFFFF"/>
                </a:highlight>
                <a:hlinkClick r:id="rId5">
                  <a:extLst>
                    <a:ext uri="{A12FA001-AC4F-418D-AE19-62706E023703}">
                      <ahyp:hlinkClr xmlns:ahyp="http://schemas.microsoft.com/office/drawing/2018/hyperlinkcolor" val="tx"/>
                    </a:ext>
                  </a:extLst>
                </a:hlinkClick>
              </a:rPr>
              <a:t>these drugs have higher prices</a:t>
            </a:r>
            <a:r>
              <a:rPr lang="en" sz="1350">
                <a:solidFill>
                  <a:srgbClr val="1C3467"/>
                </a:solidFill>
                <a:highlight>
                  <a:srgbClr val="FFFFFF"/>
                </a:highlight>
              </a:rPr>
              <a:t>.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g3b931946cd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3" name="Google Shape;243;g3b931946cd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5CD1B3-3C8F-2469-AA22-F295D40A6984}"/>
              </a:ext>
            </a:extLst>
          </p:cNvPr>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DD8AC73F-92E8-FB6E-EA5A-D51CF7158A84}"/>
              </a:ext>
            </a:extLst>
          </p:cNvPr>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919760B2-5BA8-6C5D-80F6-F41EA353C3F1}"/>
              </a:ext>
            </a:extLst>
          </p:cNvPr>
          <p:cNvSpPr>
            <a:spLocks noGrp="1"/>
          </p:cNvSpPr>
          <p:nvPr>
            <p:ph type="dt" sz="half" idx="10"/>
          </p:nvPr>
        </p:nvSpPr>
        <p:spPr/>
        <p:txBody>
          <a:bodyPr/>
          <a:lstStyle/>
          <a:p>
            <a:fld id="{DC9E61C3-CCE9-493F-ABA7-3AA328DF0FC9}" type="datetimeFigureOut">
              <a:rPr lang="en-US" smtClean="0"/>
              <a:t>1/21/2026</a:t>
            </a:fld>
            <a:endParaRPr lang="en-US"/>
          </a:p>
        </p:txBody>
      </p:sp>
      <p:sp>
        <p:nvSpPr>
          <p:cNvPr id="5" name="Footer Placeholder 4">
            <a:extLst>
              <a:ext uri="{FF2B5EF4-FFF2-40B4-BE49-F238E27FC236}">
                <a16:creationId xmlns:a16="http://schemas.microsoft.com/office/drawing/2014/main" id="{AAF4B3D0-2620-71BA-0457-3201A2CB4DA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07920DE-1DA7-3CEB-0EA8-AAB4DE6721B5}"/>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4260742405"/>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D33BCA-F533-2B79-2924-47DF5DCEFC3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058FC2A-B5E2-EAC8-4985-2A06F4FFBAD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E988408-26BC-7BA1-0C49-76536B949FC4}"/>
              </a:ext>
            </a:extLst>
          </p:cNvPr>
          <p:cNvSpPr>
            <a:spLocks noGrp="1"/>
          </p:cNvSpPr>
          <p:nvPr>
            <p:ph type="dt" sz="half" idx="10"/>
          </p:nvPr>
        </p:nvSpPr>
        <p:spPr/>
        <p:txBody>
          <a:bodyPr/>
          <a:lstStyle/>
          <a:p>
            <a:fld id="{DC9E61C3-CCE9-493F-ABA7-3AA328DF0FC9}" type="datetimeFigureOut">
              <a:rPr lang="en-US" smtClean="0"/>
              <a:t>1/21/2026</a:t>
            </a:fld>
            <a:endParaRPr lang="en-US"/>
          </a:p>
        </p:txBody>
      </p:sp>
      <p:sp>
        <p:nvSpPr>
          <p:cNvPr id="5" name="Footer Placeholder 4">
            <a:extLst>
              <a:ext uri="{FF2B5EF4-FFF2-40B4-BE49-F238E27FC236}">
                <a16:creationId xmlns:a16="http://schemas.microsoft.com/office/drawing/2014/main" id="{73A64CB8-84FF-8431-E5EB-85308548641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F67D1F6-2C41-F9E3-AFDB-711FA9F0C1A8}"/>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2187156205"/>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CD92DE-FEA5-604A-85DA-5768653D6B18}"/>
              </a:ext>
            </a:extLst>
          </p:cNvPr>
          <p:cNvSpPr>
            <a:spLocks noGrp="1"/>
          </p:cNvSpPr>
          <p:nvPr>
            <p:ph type="title"/>
          </p:nvPr>
        </p:nvSpPr>
        <p:spPr>
          <a:xfrm>
            <a:off x="623888" y="1282304"/>
            <a:ext cx="7886700" cy="2139553"/>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78D08276-F416-C91E-ED6C-DC7DF0346270}"/>
              </a:ext>
            </a:extLst>
          </p:cNvPr>
          <p:cNvSpPr>
            <a:spLocks noGrp="1"/>
          </p:cNvSpPr>
          <p:nvPr>
            <p:ph type="body" idx="1"/>
          </p:nvPr>
        </p:nvSpPr>
        <p:spPr>
          <a:xfrm>
            <a:off x="623888" y="3442098"/>
            <a:ext cx="7886700" cy="1125140"/>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15B9AEB-058E-3507-B944-4CC5FDA721B6}"/>
              </a:ext>
            </a:extLst>
          </p:cNvPr>
          <p:cNvSpPr>
            <a:spLocks noGrp="1"/>
          </p:cNvSpPr>
          <p:nvPr>
            <p:ph type="dt" sz="half" idx="10"/>
          </p:nvPr>
        </p:nvSpPr>
        <p:spPr/>
        <p:txBody>
          <a:bodyPr/>
          <a:lstStyle/>
          <a:p>
            <a:fld id="{DC9E61C3-CCE9-493F-ABA7-3AA328DF0FC9}" type="datetimeFigureOut">
              <a:rPr lang="en-US" smtClean="0"/>
              <a:t>1/21/2026</a:t>
            </a:fld>
            <a:endParaRPr lang="en-US"/>
          </a:p>
        </p:txBody>
      </p:sp>
      <p:sp>
        <p:nvSpPr>
          <p:cNvPr id="5" name="Footer Placeholder 4">
            <a:extLst>
              <a:ext uri="{FF2B5EF4-FFF2-40B4-BE49-F238E27FC236}">
                <a16:creationId xmlns:a16="http://schemas.microsoft.com/office/drawing/2014/main" id="{F51C5491-2BDC-BF6B-0B06-126D7F96C8F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FF6818A-2531-6147-A145-6FEC5BB0688C}"/>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1768895973"/>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16FDE2-F425-EF05-5ECA-897818174B1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6843EAE-DAD8-42B6-F573-9EA9ADBDD480}"/>
              </a:ext>
            </a:extLst>
          </p:cNvPr>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8214CC0-F19A-86E9-2566-A3FD73F3B3DA}"/>
              </a:ext>
            </a:extLst>
          </p:cNvPr>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5AB8249-8100-1D56-B42B-8841E40A0B8C}"/>
              </a:ext>
            </a:extLst>
          </p:cNvPr>
          <p:cNvSpPr>
            <a:spLocks noGrp="1"/>
          </p:cNvSpPr>
          <p:nvPr>
            <p:ph type="dt" sz="half" idx="10"/>
          </p:nvPr>
        </p:nvSpPr>
        <p:spPr/>
        <p:txBody>
          <a:bodyPr/>
          <a:lstStyle/>
          <a:p>
            <a:fld id="{DC9E61C3-CCE9-493F-ABA7-3AA328DF0FC9}" type="datetimeFigureOut">
              <a:rPr lang="en-US" smtClean="0"/>
              <a:t>1/21/2026</a:t>
            </a:fld>
            <a:endParaRPr lang="en-US"/>
          </a:p>
        </p:txBody>
      </p:sp>
      <p:sp>
        <p:nvSpPr>
          <p:cNvPr id="6" name="Footer Placeholder 5">
            <a:extLst>
              <a:ext uri="{FF2B5EF4-FFF2-40B4-BE49-F238E27FC236}">
                <a16:creationId xmlns:a16="http://schemas.microsoft.com/office/drawing/2014/main" id="{30CDFB2C-ABDB-F804-F192-BE410DB30B2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726C9FF-76EA-FE3E-3984-53600DF75434}"/>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1152527071"/>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4B2F79-5DB6-B505-ED97-68EE6B0CE081}"/>
              </a:ext>
            </a:extLst>
          </p:cNvPr>
          <p:cNvSpPr>
            <a:spLocks noGrp="1"/>
          </p:cNvSpPr>
          <p:nvPr>
            <p:ph type="title"/>
          </p:nvPr>
        </p:nvSpPr>
        <p:spPr>
          <a:xfrm>
            <a:off x="629841" y="273844"/>
            <a:ext cx="7886700" cy="994172"/>
          </a:xfrm>
        </p:spPr>
        <p:txBody>
          <a:bodyPr/>
          <a:lstStyle/>
          <a:p>
            <a:r>
              <a:rPr lang="en-US"/>
              <a:t>Click to edit Master title style</a:t>
            </a:r>
          </a:p>
        </p:txBody>
      </p:sp>
      <p:sp>
        <p:nvSpPr>
          <p:cNvPr id="3" name="Text Placeholder 2">
            <a:extLst>
              <a:ext uri="{FF2B5EF4-FFF2-40B4-BE49-F238E27FC236}">
                <a16:creationId xmlns:a16="http://schemas.microsoft.com/office/drawing/2014/main" id="{47E691F8-23C6-0934-9A23-E76682C5C9E4}"/>
              </a:ext>
            </a:extLst>
          </p:cNvPr>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01D354CA-E013-AFA6-435D-834AF93DA88E}"/>
              </a:ext>
            </a:extLst>
          </p:cNvPr>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CB0B63C-EF51-F5BF-7650-A07565A97B5A}"/>
              </a:ext>
            </a:extLst>
          </p:cNvPr>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338A08E5-B24E-BF3E-AA7C-F37C2A3DABBE}"/>
              </a:ext>
            </a:extLst>
          </p:cNvPr>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E8242F2-BD89-A2B7-D357-8728358A27F6}"/>
              </a:ext>
            </a:extLst>
          </p:cNvPr>
          <p:cNvSpPr>
            <a:spLocks noGrp="1"/>
          </p:cNvSpPr>
          <p:nvPr>
            <p:ph type="dt" sz="half" idx="10"/>
          </p:nvPr>
        </p:nvSpPr>
        <p:spPr/>
        <p:txBody>
          <a:bodyPr/>
          <a:lstStyle/>
          <a:p>
            <a:fld id="{DC9E61C3-CCE9-493F-ABA7-3AA328DF0FC9}" type="datetimeFigureOut">
              <a:rPr lang="en-US" smtClean="0"/>
              <a:t>1/21/2026</a:t>
            </a:fld>
            <a:endParaRPr lang="en-US"/>
          </a:p>
        </p:txBody>
      </p:sp>
      <p:sp>
        <p:nvSpPr>
          <p:cNvPr id="8" name="Footer Placeholder 7">
            <a:extLst>
              <a:ext uri="{FF2B5EF4-FFF2-40B4-BE49-F238E27FC236}">
                <a16:creationId xmlns:a16="http://schemas.microsoft.com/office/drawing/2014/main" id="{D5625D2C-FE61-2B28-DA14-9C24A08771B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B33D77C-6654-3F4C-918A-DDD206C9D1E4}"/>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2018679151"/>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8AF15B-F83E-EDDA-F69D-30606648E36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0303320-723C-E7F1-DCFE-89060DE9824B}"/>
              </a:ext>
            </a:extLst>
          </p:cNvPr>
          <p:cNvSpPr>
            <a:spLocks noGrp="1"/>
          </p:cNvSpPr>
          <p:nvPr>
            <p:ph type="dt" sz="half" idx="10"/>
          </p:nvPr>
        </p:nvSpPr>
        <p:spPr/>
        <p:txBody>
          <a:bodyPr/>
          <a:lstStyle/>
          <a:p>
            <a:fld id="{DC9E61C3-CCE9-493F-ABA7-3AA328DF0FC9}" type="datetimeFigureOut">
              <a:rPr lang="en-US" smtClean="0"/>
              <a:t>1/21/2026</a:t>
            </a:fld>
            <a:endParaRPr lang="en-US"/>
          </a:p>
        </p:txBody>
      </p:sp>
      <p:sp>
        <p:nvSpPr>
          <p:cNvPr id="4" name="Footer Placeholder 3">
            <a:extLst>
              <a:ext uri="{FF2B5EF4-FFF2-40B4-BE49-F238E27FC236}">
                <a16:creationId xmlns:a16="http://schemas.microsoft.com/office/drawing/2014/main" id="{65C5FBFA-8784-1AA5-2FB3-B45747D1A3C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C254F34-E66F-DBBE-B4C6-8DDA4CCC4BEC}"/>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1634554477"/>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F0D28E3-A1F2-BB17-F772-649A19C5DBFE}"/>
              </a:ext>
            </a:extLst>
          </p:cNvPr>
          <p:cNvSpPr>
            <a:spLocks noGrp="1"/>
          </p:cNvSpPr>
          <p:nvPr>
            <p:ph type="dt" sz="half" idx="10"/>
          </p:nvPr>
        </p:nvSpPr>
        <p:spPr/>
        <p:txBody>
          <a:bodyPr/>
          <a:lstStyle/>
          <a:p>
            <a:fld id="{DC9E61C3-CCE9-493F-ABA7-3AA328DF0FC9}" type="datetimeFigureOut">
              <a:rPr lang="en-US" smtClean="0"/>
              <a:t>1/21/2026</a:t>
            </a:fld>
            <a:endParaRPr lang="en-US"/>
          </a:p>
        </p:txBody>
      </p:sp>
      <p:sp>
        <p:nvSpPr>
          <p:cNvPr id="3" name="Footer Placeholder 2">
            <a:extLst>
              <a:ext uri="{FF2B5EF4-FFF2-40B4-BE49-F238E27FC236}">
                <a16:creationId xmlns:a16="http://schemas.microsoft.com/office/drawing/2014/main" id="{17E520BB-D385-50F2-4D78-783BE6500A3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1621055-6CB8-B26D-5DF4-7068C23F1C0F}"/>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8911631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015FB9-3C12-C4D3-D8E4-67349CFFE5D0}"/>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E53B162D-E192-AED2-73BE-906BF9540F0C}"/>
              </a:ext>
            </a:extLst>
          </p:cNvPr>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921DBA6-1DCE-DFEB-DF94-3954B8071C66}"/>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EE55109B-4A7D-3AC3-B854-4FA947017E79}"/>
              </a:ext>
            </a:extLst>
          </p:cNvPr>
          <p:cNvSpPr>
            <a:spLocks noGrp="1"/>
          </p:cNvSpPr>
          <p:nvPr>
            <p:ph type="dt" sz="half" idx="10"/>
          </p:nvPr>
        </p:nvSpPr>
        <p:spPr/>
        <p:txBody>
          <a:bodyPr/>
          <a:lstStyle/>
          <a:p>
            <a:fld id="{DC9E61C3-CCE9-493F-ABA7-3AA328DF0FC9}" type="datetimeFigureOut">
              <a:rPr lang="en-US" smtClean="0"/>
              <a:t>1/21/2026</a:t>
            </a:fld>
            <a:endParaRPr lang="en-US"/>
          </a:p>
        </p:txBody>
      </p:sp>
      <p:sp>
        <p:nvSpPr>
          <p:cNvPr id="6" name="Footer Placeholder 5">
            <a:extLst>
              <a:ext uri="{FF2B5EF4-FFF2-40B4-BE49-F238E27FC236}">
                <a16:creationId xmlns:a16="http://schemas.microsoft.com/office/drawing/2014/main" id="{974A5F4D-696F-684B-EAA6-7040EF64B3A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90C98A6-7BBD-7913-CD31-0D5C1BA4C7C5}"/>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2332904075"/>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60B618-74CC-6665-FE96-8197C0617FC9}"/>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D615DAEF-A4D8-E6E6-B524-368405873021}"/>
              </a:ext>
            </a:extLst>
          </p:cNvPr>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05DE2D22-0820-86E9-CE5A-42C024228FB2}"/>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5B1CEC46-60E1-F209-8423-8E6D79C76F43}"/>
              </a:ext>
            </a:extLst>
          </p:cNvPr>
          <p:cNvSpPr>
            <a:spLocks noGrp="1"/>
          </p:cNvSpPr>
          <p:nvPr>
            <p:ph type="dt" sz="half" idx="10"/>
          </p:nvPr>
        </p:nvSpPr>
        <p:spPr/>
        <p:txBody>
          <a:bodyPr/>
          <a:lstStyle/>
          <a:p>
            <a:fld id="{DC9E61C3-CCE9-493F-ABA7-3AA328DF0FC9}" type="datetimeFigureOut">
              <a:rPr lang="en-US" smtClean="0"/>
              <a:t>1/21/2026</a:t>
            </a:fld>
            <a:endParaRPr lang="en-US"/>
          </a:p>
        </p:txBody>
      </p:sp>
      <p:sp>
        <p:nvSpPr>
          <p:cNvPr id="6" name="Footer Placeholder 5">
            <a:extLst>
              <a:ext uri="{FF2B5EF4-FFF2-40B4-BE49-F238E27FC236}">
                <a16:creationId xmlns:a16="http://schemas.microsoft.com/office/drawing/2014/main" id="{29FCF796-AC9D-CFF1-A259-B147972CDC4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1BDEFBD-105D-6AC0-3F2C-EAD7C796BDDA}"/>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2997818738"/>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5BE6D9-768C-5BCB-6924-14E81AB38DB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4D1C75E-401C-EF89-B999-9D64712D144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860515C-A520-DB31-39CE-F1A363CB2EDB}"/>
              </a:ext>
            </a:extLst>
          </p:cNvPr>
          <p:cNvSpPr>
            <a:spLocks noGrp="1"/>
          </p:cNvSpPr>
          <p:nvPr>
            <p:ph type="dt" sz="half" idx="10"/>
          </p:nvPr>
        </p:nvSpPr>
        <p:spPr/>
        <p:txBody>
          <a:bodyPr/>
          <a:lstStyle/>
          <a:p>
            <a:fld id="{DC9E61C3-CCE9-493F-ABA7-3AA328DF0FC9}" type="datetimeFigureOut">
              <a:rPr lang="en-US" smtClean="0"/>
              <a:t>1/21/2026</a:t>
            </a:fld>
            <a:endParaRPr lang="en-US"/>
          </a:p>
        </p:txBody>
      </p:sp>
      <p:sp>
        <p:nvSpPr>
          <p:cNvPr id="5" name="Footer Placeholder 4">
            <a:extLst>
              <a:ext uri="{FF2B5EF4-FFF2-40B4-BE49-F238E27FC236}">
                <a16:creationId xmlns:a16="http://schemas.microsoft.com/office/drawing/2014/main" id="{86FED9F9-3581-ACE7-9438-C42ACDDA939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A883F30-114A-BAE8-C9EF-181F968434A5}"/>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cxnSp>
        <p:nvCxnSpPr>
          <p:cNvPr id="7" name="Straight Connector 6">
            <a:extLst>
              <a:ext uri="{FF2B5EF4-FFF2-40B4-BE49-F238E27FC236}">
                <a16:creationId xmlns:a16="http://schemas.microsoft.com/office/drawing/2014/main" id="{C3C55A1A-A0B1-5785-AA63-CB43B6D353FF}"/>
              </a:ext>
            </a:extLst>
          </p:cNvPr>
          <p:cNvCxnSpPr>
            <a:cxnSpLocks/>
          </p:cNvCxnSpPr>
          <p:nvPr userDrawn="1"/>
        </p:nvCxnSpPr>
        <p:spPr>
          <a:xfrm>
            <a:off x="324465" y="578137"/>
            <a:ext cx="5816763"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8115808"/>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9D8A3AB-BFDE-B8E8-8AF2-BE55D0C4E963}"/>
              </a:ext>
            </a:extLst>
          </p:cNvPr>
          <p:cNvSpPr>
            <a:spLocks noGrp="1"/>
          </p:cNvSpPr>
          <p:nvPr>
            <p:ph type="title" orient="vert"/>
          </p:nvPr>
        </p:nvSpPr>
        <p:spPr>
          <a:xfrm>
            <a:off x="6543675" y="273844"/>
            <a:ext cx="1971675" cy="4358879"/>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5757A31-0EEE-70CE-DEB2-E80CC1DF0E54}"/>
              </a:ext>
            </a:extLst>
          </p:cNvPr>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AD21F31-322F-38DB-2469-E0AEC0FCC365}"/>
              </a:ext>
            </a:extLst>
          </p:cNvPr>
          <p:cNvSpPr>
            <a:spLocks noGrp="1"/>
          </p:cNvSpPr>
          <p:nvPr>
            <p:ph type="dt" sz="half" idx="10"/>
          </p:nvPr>
        </p:nvSpPr>
        <p:spPr/>
        <p:txBody>
          <a:bodyPr/>
          <a:lstStyle/>
          <a:p>
            <a:fld id="{DC9E61C3-CCE9-493F-ABA7-3AA328DF0FC9}" type="datetimeFigureOut">
              <a:rPr lang="en-US" smtClean="0"/>
              <a:t>1/21/2026</a:t>
            </a:fld>
            <a:endParaRPr lang="en-US"/>
          </a:p>
        </p:txBody>
      </p:sp>
      <p:sp>
        <p:nvSpPr>
          <p:cNvPr id="5" name="Footer Placeholder 4">
            <a:extLst>
              <a:ext uri="{FF2B5EF4-FFF2-40B4-BE49-F238E27FC236}">
                <a16:creationId xmlns:a16="http://schemas.microsoft.com/office/drawing/2014/main" id="{01C784DD-D9D0-C067-D6AD-32D2C0825ED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F7D2343-0B09-79E5-5144-0412F712A7B0}"/>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2762829178"/>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58531"/>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dirty="0"/>
          </a:p>
        </p:txBody>
      </p:sp>
      <p:sp>
        <p:nvSpPr>
          <p:cNvPr id="18" name="Google Shape;18;p4"/>
          <p:cNvSpPr txBox="1">
            <a:spLocks noGrp="1"/>
          </p:cNvSpPr>
          <p:nvPr>
            <p:ph type="body" idx="1"/>
          </p:nvPr>
        </p:nvSpPr>
        <p:spPr>
          <a:xfrm>
            <a:off x="311700" y="1616423"/>
            <a:ext cx="8520600" cy="2952452"/>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dirty="0"/>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cxnSp>
        <p:nvCxnSpPr>
          <p:cNvPr id="3" name="Straight Connector 2">
            <a:extLst>
              <a:ext uri="{FF2B5EF4-FFF2-40B4-BE49-F238E27FC236}">
                <a16:creationId xmlns:a16="http://schemas.microsoft.com/office/drawing/2014/main" id="{471CE1D0-9893-521B-7AF8-94850A2FB23A}"/>
              </a:ext>
            </a:extLst>
          </p:cNvPr>
          <p:cNvCxnSpPr>
            <a:cxnSpLocks/>
          </p:cNvCxnSpPr>
          <p:nvPr userDrawn="1"/>
        </p:nvCxnSpPr>
        <p:spPr>
          <a:xfrm>
            <a:off x="159283" y="696124"/>
            <a:ext cx="7356495"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840900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BEC330E-69A5-C6BC-9619-4633350A1484}"/>
              </a:ext>
            </a:extLst>
          </p:cNvPr>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8FCD61C-C84C-4AA0-C64A-64AA187AA224}"/>
              </a:ext>
            </a:extLst>
          </p:cNvPr>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A22CB7-0432-4535-8564-6BB3673F4FD6}"/>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82000"/>
                  </a:schemeClr>
                </a:solidFill>
              </a:defRPr>
            </a:lvl1pPr>
          </a:lstStyle>
          <a:p>
            <a:fld id="{DC9E61C3-CCE9-493F-ABA7-3AA328DF0FC9}" type="datetimeFigureOut">
              <a:rPr lang="en-US" smtClean="0"/>
              <a:t>1/21/2026</a:t>
            </a:fld>
            <a:endParaRPr lang="en-US"/>
          </a:p>
        </p:txBody>
      </p:sp>
      <p:sp>
        <p:nvSpPr>
          <p:cNvPr id="5" name="Footer Placeholder 4">
            <a:extLst>
              <a:ext uri="{FF2B5EF4-FFF2-40B4-BE49-F238E27FC236}">
                <a16:creationId xmlns:a16="http://schemas.microsoft.com/office/drawing/2014/main" id="{15CAE9C1-12E6-74A5-C3A0-AC4762B02E3F}"/>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746C6DB-A8D7-F37F-B149-8A241EDFC52F}"/>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82000"/>
                  </a:schemeClr>
                </a:solidFill>
              </a:defRPr>
            </a:lvl1p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238812917"/>
      </p:ext>
    </p:extLst>
  </p:cSld>
  <p:clrMap bg1="lt1" tx1="dk1" bg2="lt2" tx2="dk2" accent1="accent1" accent2="accent2" accent3="accent3" accent4="accent4" accent5="accent5" accent6="accent6" hlink="hlink" folHlink="folHlink"/>
  <p:sldLayoutIdLst>
    <p:sldLayoutId id="2147483752" r:id="rId1"/>
    <p:sldLayoutId id="2147483753" r:id="rId2"/>
    <p:sldLayoutId id="2147483754" r:id="rId3"/>
    <p:sldLayoutId id="2147483755" r:id="rId4"/>
    <p:sldLayoutId id="2147483756" r:id="rId5"/>
    <p:sldLayoutId id="2147483757" r:id="rId6"/>
    <p:sldLayoutId id="2147483758" r:id="rId7"/>
    <p:sldLayoutId id="2147483759" r:id="rId8"/>
    <p:sldLayoutId id="2147483760" r:id="rId9"/>
    <p:sldLayoutId id="2147483761" r:id="rId10"/>
    <p:sldLayoutId id="2147483762" r:id="rId11"/>
    <p:sldLayoutId id="2147483763" r:id="rId12"/>
  </p:sldLayoutIdLst>
  <p:hf sldNum="0"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8" Type="http://schemas.openxmlformats.org/officeDocument/2006/relationships/hyperlink" Target="https://www.sli.do/features-google-slides?payload=eyJwb2xsVXVpZCI6IjhmMWQwYWQ1LTFjZTAtNDI2NC1iZmNlLTE1ZmYwOGVhZjE0NiIsInByZXNlbnRhdGlvbklkIjoiMVJ4b3RmRkJxdzFmcThfcFdYSEdUVWxtNzk4QVB3QWxDX3g1TDlJNnd2V2ciLCJzbGlkZUlkIjoiU0xJREVTX0FQSTg3MzYxMDQ0NV8wIiwidGltZWxpbmUiOlt7InBvbGxRdWVzdGlvblV1aWQiOiI1NWEwMmEyMy1kNzY5LTQ1YzAtYThjZi1lZDQ0NTJlNzRlNzMiLCJzaG93UmVzdWx0cyI6dHJ1ZX1dLCJ0eXBlIjoiU2xpZG9Qb2xsIn0%3D" TargetMode="External"/><Relationship Id="rId3" Type="http://schemas.openxmlformats.org/officeDocument/2006/relationships/hyperlink" Target="https://www.slido.com/support/gsi/how-to-change-the-design" TargetMode="External"/><Relationship Id="rId7"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hyperlink" Target="https://chrome.google.com/webstore/detail/slido/dhhclfjehmpacimcdknijodpjpmppkii" TargetMode="External"/><Relationship Id="rId5" Type="http://schemas.openxmlformats.org/officeDocument/2006/relationships/image" Target="../media/image1.png"/><Relationship Id="rId4" Type="http://schemas.openxmlformats.org/officeDocument/2006/relationships/hyperlink" Target="https://www.sli.do/features-google-slides?interaction-type=TXVsdGlwbGVDaG9pY2U%3D" TargetMode="External"/><Relationship Id="rId9"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8" Type="http://schemas.openxmlformats.org/officeDocument/2006/relationships/hyperlink" Target="https://www.sli.do/features-google-slides?payload=eyJwb2xsVXVpZCI6IjM1NzVhMWE4LTdlOTQtNDk1YS1iNDg2LTZlYzc2MjgwYjM2ZSIsInByZXNlbnRhdGlvbklkIjoiMVJ4b3RmRkJxdzFmcThfcFdYSEdUVWxtNzk4QVB3QWxDX3g1TDlJNnd2V2ciLCJzbGlkZUlkIjoiU0xJREVTX0FQSTM1MjgxNTM5N18wIiwidGltZWxpbmUiOlt7InNob3dSZXN1bHRzIjp0cnVlLCJwb2xsUXVlc3Rpb25VdWlkIjoiOTlkMTBlOGYtMzc4Yi00ZGZjLWE5NDItNTRjYjkwYTI0OTMwIn1dLCJ0eXBlIjoiU2xpZG9Qb2xsIn0%3D" TargetMode="External"/><Relationship Id="rId3" Type="http://schemas.openxmlformats.org/officeDocument/2006/relationships/hyperlink" Target="https://www.slido.com/support/gsi/how-to-change-the-design" TargetMode="External"/><Relationship Id="rId7"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hyperlink" Target="https://chrome.google.com/webstore/detail/slido/dhhclfjehmpacimcdknijodpjpmppkii" TargetMode="External"/><Relationship Id="rId5" Type="http://schemas.openxmlformats.org/officeDocument/2006/relationships/image" Target="../media/image1.png"/><Relationship Id="rId4" Type="http://schemas.openxmlformats.org/officeDocument/2006/relationships/hyperlink" Target="https://www.sli.do/features-google-slides?interaction-type=TXVsdGlwbGVDaG9pY2U%3D" TargetMode="External"/><Relationship Id="rId9" Type="http://schemas.openxmlformats.org/officeDocument/2006/relationships/image" Target="../media/image3.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hyperlink" Target="https://www.aeaweb.org/research/mafia-italy-voting-construction" TargetMode="External"/><Relationship Id="rId2" Type="http://schemas.openxmlformats.org/officeDocument/2006/relationships/notesSlide" Target="../notesSlides/notesSlide11.xml"/><Relationship Id="rId1" Type="http://schemas.openxmlformats.org/officeDocument/2006/relationships/slideLayout" Target="../slideLayouts/slideLayout12.xml"/><Relationship Id="rId5" Type="http://schemas.openxmlformats.org/officeDocument/2006/relationships/hyperlink" Target="https://www.aeaweb.org/research/rain-on-election-day-dampen-turnout-years-to-come" TargetMode="External"/><Relationship Id="rId4" Type="http://schemas.openxmlformats.org/officeDocument/2006/relationships/hyperlink" Target="https://www.aeaweb.org/research/what-impact-does-public-health-insurance-have-on-labor-market"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hyperlink" Target="http://cms.gov" TargetMode="External"/><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hyperlink" Target="http://cms.gov" TargetMode="External"/><Relationship Id="rId2" Type="http://schemas.openxmlformats.org/officeDocument/2006/relationships/notesSlide" Target="../notesSlides/notesSlide15.xml"/><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8" Type="http://schemas.openxmlformats.org/officeDocument/2006/relationships/hyperlink" Target="https://www.sli.do/features-google-slides?payload=eyJwb2xsVXVpZCI6ImVhNDVkMDAwLTZhZDktNDkyOC1iMTFhLWEyYmUzYzI2OGY5NiIsInByZXNlbnRhdGlvbklkIjoiMVJ4b3RmRkJxdzFmcThfcFdYSEdUVWxtNzk4QVB3QWxDX3g1TDlJNnd2V2ciLCJzbGlkZUlkIjoiU0xJREVTX0FQSTcwMTg1NF8wIiwidGltZWxpbmUiOlt7InNob3dSZXN1bHRzIjp0cnVlLCJwb2xsUXVlc3Rpb25VdWlkIjoiZjA2OTU2NTktYWUyZi00ODI1LTkyMWEtN2ZjY2ZmYmI1YzA3In1dLCJ0eXBlIjoiU2xpZG9Qb2xsIn0%3D" TargetMode="External"/><Relationship Id="rId3" Type="http://schemas.openxmlformats.org/officeDocument/2006/relationships/hyperlink" Target="https://www.slido.com/support/gsi/how-to-change-the-design" TargetMode="External"/><Relationship Id="rId7"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7.xml"/><Relationship Id="rId6" Type="http://schemas.openxmlformats.org/officeDocument/2006/relationships/hyperlink" Target="https://chrome.google.com/webstore/detail/slido/dhhclfjehmpacimcdknijodpjpmppkii" TargetMode="External"/><Relationship Id="rId5" Type="http://schemas.openxmlformats.org/officeDocument/2006/relationships/image" Target="../media/image1.png"/><Relationship Id="rId4" Type="http://schemas.openxmlformats.org/officeDocument/2006/relationships/hyperlink" Target="https://www.sli.do/features-google-slides?interaction-type=TXVsdGlwbGVDaG9pY2U%3D" TargetMode="External"/><Relationship Id="rId9" Type="http://schemas.openxmlformats.org/officeDocument/2006/relationships/image" Target="../media/image3.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n"/>
              <a:t>Week 1: Introduction to </a:t>
            </a:r>
            <a:endParaRPr/>
          </a:p>
          <a:p>
            <a:pPr marL="0" lvl="0" indent="0" algn="ctr" rtl="0">
              <a:spcBef>
                <a:spcPts val="0"/>
              </a:spcBef>
              <a:spcAft>
                <a:spcPts val="0"/>
              </a:spcAft>
              <a:buNone/>
            </a:pPr>
            <a:r>
              <a:rPr lang="en"/>
              <a:t>Health Economics </a:t>
            </a:r>
            <a:endParaRPr/>
          </a:p>
        </p:txBody>
      </p:sp>
      <p:sp>
        <p:nvSpPr>
          <p:cNvPr id="55" name="Google Shape;55;p13"/>
          <p:cNvSpPr txBox="1"/>
          <p:nvPr/>
        </p:nvSpPr>
        <p:spPr>
          <a:xfrm>
            <a:off x="6357995" y="3424894"/>
            <a:ext cx="3007200" cy="1015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dirty="0">
                <a:solidFill>
                  <a:schemeClr val="dk1"/>
                </a:solidFill>
              </a:rPr>
              <a:t>HPM 6503 </a:t>
            </a:r>
            <a:endParaRPr sz="1800" dirty="0">
              <a:solidFill>
                <a:schemeClr val="dk1"/>
              </a:solidFill>
            </a:endParaRPr>
          </a:p>
          <a:p>
            <a:pPr marL="0" lvl="0" indent="0" algn="l" rtl="0">
              <a:spcBef>
                <a:spcPts val="0"/>
              </a:spcBef>
              <a:spcAft>
                <a:spcPts val="0"/>
              </a:spcAft>
              <a:buNone/>
            </a:pPr>
            <a:r>
              <a:rPr lang="en" sz="1800" dirty="0">
                <a:solidFill>
                  <a:schemeClr val="dk1"/>
                </a:solidFill>
              </a:rPr>
              <a:t>Spring 2026 </a:t>
            </a:r>
            <a:endParaRPr sz="1800" dirty="0">
              <a:solidFill>
                <a:schemeClr val="dk1"/>
              </a:solidFill>
            </a:endParaRPr>
          </a:p>
          <a:p>
            <a:pPr marL="0" lvl="0" indent="0" algn="l" rtl="0">
              <a:spcBef>
                <a:spcPts val="0"/>
              </a:spcBef>
              <a:spcAft>
                <a:spcPts val="0"/>
              </a:spcAft>
              <a:buNone/>
            </a:pPr>
            <a:r>
              <a:rPr lang="en" sz="1800" dirty="0">
                <a:solidFill>
                  <a:schemeClr val="dk1"/>
                </a:solidFill>
              </a:rPr>
              <a:t>Nada Boualam, PhD</a:t>
            </a:r>
            <a:endParaRPr sz="1800" dirty="0">
              <a:solidFill>
                <a:schemeClr val="dk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Week 1: Outline </a:t>
            </a:r>
            <a:endParaRPr dirty="0"/>
          </a:p>
        </p:txBody>
      </p:sp>
      <p:sp>
        <p:nvSpPr>
          <p:cNvPr id="61" name="Google Shape;61;p14"/>
          <p:cNvSpPr txBox="1">
            <a:spLocks noGrp="1"/>
          </p:cNvSpPr>
          <p:nvPr>
            <p:ph type="body" idx="1"/>
          </p:nvPr>
        </p:nvSpPr>
        <p:spPr>
          <a:xfrm>
            <a:off x="311700" y="1168307"/>
            <a:ext cx="8520600" cy="2952452"/>
          </a:xfrm>
          <a:prstGeom prst="rect">
            <a:avLst/>
          </a:prstGeom>
        </p:spPr>
        <p:txBody>
          <a:bodyPr spcFirstLastPara="1" wrap="square" lIns="91425" tIns="91425" rIns="91425" bIns="91425" anchor="t" anchorCtr="0">
            <a:normAutofit lnSpcReduction="10000"/>
          </a:bodyPr>
          <a:lstStyle/>
          <a:p>
            <a:pPr marL="457200" lvl="0" indent="-342900" algn="l" rtl="0">
              <a:spcBef>
                <a:spcPts val="0"/>
              </a:spcBef>
              <a:spcAft>
                <a:spcPts val="0"/>
              </a:spcAft>
              <a:buSzPts val="1800"/>
              <a:buChar char="●"/>
            </a:pPr>
            <a:r>
              <a:rPr lang="en" dirty="0"/>
              <a:t>Teaching team introductions </a:t>
            </a:r>
            <a:endParaRPr dirty="0"/>
          </a:p>
          <a:p>
            <a:pPr marL="457200" lvl="0" indent="-342900" algn="l" rtl="0">
              <a:spcBef>
                <a:spcPts val="0"/>
              </a:spcBef>
              <a:spcAft>
                <a:spcPts val="0"/>
              </a:spcAft>
              <a:buSzPts val="1800"/>
              <a:buChar char="●"/>
            </a:pPr>
            <a:r>
              <a:rPr lang="en" dirty="0"/>
              <a:t>Course overview</a:t>
            </a:r>
            <a:endParaRPr dirty="0"/>
          </a:p>
          <a:p>
            <a:pPr marL="457200" lvl="0" indent="-342900" algn="l" rtl="0">
              <a:spcBef>
                <a:spcPts val="0"/>
              </a:spcBef>
              <a:spcAft>
                <a:spcPts val="0"/>
              </a:spcAft>
              <a:buSzPts val="1800"/>
              <a:buChar char="●"/>
            </a:pPr>
            <a:r>
              <a:rPr lang="en" dirty="0"/>
              <a:t>Course policies </a:t>
            </a:r>
            <a:endParaRPr dirty="0"/>
          </a:p>
          <a:p>
            <a:pPr marL="457200" lvl="0" indent="-342900" algn="l" rtl="0">
              <a:spcBef>
                <a:spcPts val="0"/>
              </a:spcBef>
              <a:spcAft>
                <a:spcPts val="0"/>
              </a:spcAft>
              <a:buSzPts val="1800"/>
              <a:buChar char="●"/>
            </a:pPr>
            <a:r>
              <a:rPr lang="en" dirty="0"/>
              <a:t>Break </a:t>
            </a:r>
            <a:endParaRPr dirty="0"/>
          </a:p>
          <a:p>
            <a:pPr marL="457200" lvl="0" indent="-342900" algn="l" rtl="0">
              <a:spcBef>
                <a:spcPts val="0"/>
              </a:spcBef>
              <a:spcAft>
                <a:spcPts val="0"/>
              </a:spcAft>
              <a:buSzPts val="1800"/>
              <a:buChar char="●"/>
            </a:pPr>
            <a:r>
              <a:rPr lang="en" dirty="0"/>
              <a:t>Today’s material </a:t>
            </a:r>
            <a:endParaRPr dirty="0"/>
          </a:p>
          <a:p>
            <a:pPr marL="914400" lvl="1" indent="-292100" algn="l" rtl="0">
              <a:lnSpc>
                <a:spcPct val="100000"/>
              </a:lnSpc>
              <a:spcBef>
                <a:spcPts val="0"/>
              </a:spcBef>
              <a:spcAft>
                <a:spcPts val="0"/>
              </a:spcAft>
              <a:buSzPts val="1000"/>
              <a:buChar char="○"/>
            </a:pPr>
            <a:r>
              <a:rPr lang="en" dirty="0"/>
              <a:t>I - What is health economics?</a:t>
            </a:r>
            <a:endParaRPr dirty="0"/>
          </a:p>
          <a:p>
            <a:pPr marL="914400" lvl="1" indent="-292100" algn="l" rtl="0">
              <a:lnSpc>
                <a:spcPct val="100000"/>
              </a:lnSpc>
              <a:spcBef>
                <a:spcPts val="0"/>
              </a:spcBef>
              <a:spcAft>
                <a:spcPts val="0"/>
              </a:spcAft>
              <a:buSzPts val="1000"/>
              <a:buChar char="○"/>
            </a:pPr>
            <a:r>
              <a:rPr lang="en" dirty="0"/>
              <a:t>II - Why </a:t>
            </a:r>
            <a:r>
              <a:rPr lang="en" b="1" dirty="0"/>
              <a:t>health</a:t>
            </a:r>
            <a:r>
              <a:rPr lang="en" dirty="0"/>
              <a:t> economics? </a:t>
            </a:r>
            <a:endParaRPr dirty="0"/>
          </a:p>
          <a:p>
            <a:pPr marL="914400" lvl="1" indent="-292100" algn="l" rtl="0">
              <a:lnSpc>
                <a:spcPct val="100000"/>
              </a:lnSpc>
              <a:spcBef>
                <a:spcPts val="0"/>
              </a:spcBef>
              <a:spcAft>
                <a:spcPts val="0"/>
              </a:spcAft>
              <a:buSzPts val="1000"/>
              <a:buChar char="○"/>
            </a:pPr>
            <a:r>
              <a:rPr lang="en" dirty="0"/>
              <a:t>III - Opportunity cost &amp; scarcity </a:t>
            </a:r>
          </a:p>
          <a:p>
            <a:pPr marL="914400" lvl="1" indent="-292100" algn="l" rtl="0">
              <a:lnSpc>
                <a:spcPct val="100000"/>
              </a:lnSpc>
              <a:spcBef>
                <a:spcPts val="0"/>
              </a:spcBef>
              <a:spcAft>
                <a:spcPts val="0"/>
              </a:spcAft>
              <a:buSzPts val="1000"/>
              <a:buChar char="○"/>
            </a:pPr>
            <a:r>
              <a:rPr lang="en" dirty="0"/>
              <a:t>IV - Thinking on the margin</a:t>
            </a:r>
          </a:p>
          <a:p>
            <a:pPr marL="914400" lvl="1" indent="-292100" algn="l" rtl="0">
              <a:lnSpc>
                <a:spcPct val="100000"/>
              </a:lnSpc>
              <a:spcBef>
                <a:spcPts val="0"/>
              </a:spcBef>
              <a:spcAft>
                <a:spcPts val="0"/>
              </a:spcAft>
              <a:buSzPts val="1000"/>
              <a:buChar char="○"/>
            </a:pPr>
            <a:r>
              <a:rPr lang="en" dirty="0"/>
              <a:t>V - Rational thinking </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15"/>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Teaching Team Introductions </a:t>
            </a:r>
            <a:endParaRPr dirty="0"/>
          </a:p>
        </p:txBody>
      </p:sp>
      <p:sp>
        <p:nvSpPr>
          <p:cNvPr id="67" name="Google Shape;67;p15"/>
          <p:cNvSpPr txBox="1">
            <a:spLocks noGrp="1"/>
          </p:cNvSpPr>
          <p:nvPr>
            <p:ph type="body" idx="1"/>
          </p:nvPr>
        </p:nvSpPr>
        <p:spPr>
          <a:xfrm>
            <a:off x="311700" y="1240974"/>
            <a:ext cx="8520600" cy="2952452"/>
          </a:xfrm>
          <a:prstGeom prst="rect">
            <a:avLst/>
          </a:prstGeom>
        </p:spPr>
        <p:txBody>
          <a:bodyPr spcFirstLastPara="1" wrap="square" lIns="91425" tIns="91425" rIns="91425" bIns="91425" anchor="t" anchorCtr="0">
            <a:normAutofit fontScale="92500" lnSpcReduction="20000"/>
          </a:bodyPr>
          <a:lstStyle/>
          <a:p>
            <a:pPr marL="0" lvl="0" indent="0" algn="l" rtl="0">
              <a:spcBef>
                <a:spcPts val="0"/>
              </a:spcBef>
              <a:spcAft>
                <a:spcPts val="0"/>
              </a:spcAft>
              <a:buNone/>
            </a:pPr>
            <a:r>
              <a:rPr lang="en" dirty="0"/>
              <a:t>Instructor: Nada Boualam, PhD</a:t>
            </a:r>
            <a:endParaRPr dirty="0"/>
          </a:p>
          <a:p>
            <a:pPr marL="457200" lvl="0" indent="-325755" algn="l" rtl="0">
              <a:spcBef>
                <a:spcPts val="1200"/>
              </a:spcBef>
              <a:spcAft>
                <a:spcPts val="0"/>
              </a:spcAft>
              <a:buSzPct val="100000"/>
              <a:buChar char="●"/>
            </a:pPr>
            <a:r>
              <a:rPr lang="en" dirty="0"/>
              <a:t>Adjunct Professor, Columbia Mailman SPH</a:t>
            </a:r>
            <a:endParaRPr dirty="0"/>
          </a:p>
          <a:p>
            <a:pPr marL="457200" lvl="0" indent="-325755" algn="l" rtl="0">
              <a:spcBef>
                <a:spcPts val="0"/>
              </a:spcBef>
              <a:spcAft>
                <a:spcPts val="0"/>
              </a:spcAft>
              <a:buSzPct val="100000"/>
              <a:buChar char="●"/>
            </a:pPr>
            <a:r>
              <a:rPr lang="en" dirty="0"/>
              <a:t>Full time work at Flatiron Health as an Associate Research Scientist </a:t>
            </a:r>
            <a:endParaRPr dirty="0"/>
          </a:p>
          <a:p>
            <a:pPr marL="457200" lvl="0" indent="-325755" algn="l" rtl="0">
              <a:spcBef>
                <a:spcPts val="0"/>
              </a:spcBef>
              <a:spcAft>
                <a:spcPts val="0"/>
              </a:spcAft>
              <a:buSzPct val="100000"/>
              <a:buChar char="●"/>
            </a:pPr>
            <a:r>
              <a:rPr lang="en" dirty="0"/>
              <a:t>PhD in Health Economics (pharmaceutical policy focus) </a:t>
            </a:r>
            <a:endParaRPr dirty="0"/>
          </a:p>
          <a:p>
            <a:pPr marL="457200" lvl="0" indent="-325755" algn="l" rtl="0">
              <a:spcBef>
                <a:spcPts val="0"/>
              </a:spcBef>
              <a:spcAft>
                <a:spcPts val="0"/>
              </a:spcAft>
              <a:buSzPct val="100000"/>
              <a:buChar char="●"/>
            </a:pPr>
            <a:r>
              <a:rPr lang="en" dirty="0"/>
              <a:t>Talk to me about: pharma/biotech, causal inference in industry work, HEOR </a:t>
            </a:r>
            <a:endParaRPr dirty="0"/>
          </a:p>
          <a:p>
            <a:pPr marL="0" lvl="0" indent="0" algn="l" rtl="0">
              <a:spcBef>
                <a:spcPts val="1200"/>
              </a:spcBef>
              <a:spcAft>
                <a:spcPts val="0"/>
              </a:spcAft>
              <a:buNone/>
            </a:pPr>
            <a:endParaRPr dirty="0"/>
          </a:p>
          <a:p>
            <a:pPr marL="0" lvl="0" indent="0" algn="l" rtl="0">
              <a:spcBef>
                <a:spcPts val="1200"/>
              </a:spcBef>
              <a:spcAft>
                <a:spcPts val="0"/>
              </a:spcAft>
              <a:buNone/>
            </a:pPr>
            <a:r>
              <a:rPr lang="en" dirty="0"/>
              <a:t>TAs: Julia, Salome (Sally), Devon </a:t>
            </a:r>
            <a:endParaRPr dirty="0"/>
          </a:p>
          <a:p>
            <a:pPr marL="457200" lvl="0" indent="-325755" algn="l" rtl="0">
              <a:spcBef>
                <a:spcPts val="1200"/>
              </a:spcBef>
              <a:spcAft>
                <a:spcPts val="0"/>
              </a:spcAft>
              <a:buSzPct val="100000"/>
              <a:buChar char="●"/>
            </a:pPr>
            <a:r>
              <a:rPr lang="en" dirty="0"/>
              <a:t>If your last name starts with A-H, your lead TA is Julia</a:t>
            </a:r>
            <a:endParaRPr dirty="0"/>
          </a:p>
          <a:p>
            <a:pPr marL="457200" lvl="0" indent="-325755" algn="l" rtl="0">
              <a:spcBef>
                <a:spcPts val="0"/>
              </a:spcBef>
              <a:spcAft>
                <a:spcPts val="0"/>
              </a:spcAft>
              <a:buSzPct val="100000"/>
              <a:buChar char="●"/>
            </a:pPr>
            <a:r>
              <a:rPr lang="en" dirty="0"/>
              <a:t>If your last name starts with I-P, your lead TA is Salome (Sally)</a:t>
            </a:r>
            <a:endParaRPr dirty="0"/>
          </a:p>
          <a:p>
            <a:pPr marL="457200" lvl="0" indent="-325755" algn="l" rtl="0">
              <a:spcBef>
                <a:spcPts val="0"/>
              </a:spcBef>
              <a:spcAft>
                <a:spcPts val="0"/>
              </a:spcAft>
              <a:buSzPct val="100000"/>
              <a:buChar char="●"/>
            </a:pPr>
            <a:r>
              <a:rPr lang="en" dirty="0"/>
              <a:t>If your last name starts with R-Z, your lead TA is Devon </a:t>
            </a:r>
            <a:endParaRPr dirty="0"/>
          </a:p>
          <a:p>
            <a:pPr marL="0" lvl="0" indent="0" algn="l" rtl="0">
              <a:spcBef>
                <a:spcPts val="1200"/>
              </a:spcBef>
              <a:spcAft>
                <a:spcPts val="1200"/>
              </a:spcAft>
              <a:buNone/>
            </a:pP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16"/>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Course Overview </a:t>
            </a:r>
            <a:endParaRPr/>
          </a:p>
        </p:txBody>
      </p:sp>
      <p:sp>
        <p:nvSpPr>
          <p:cNvPr id="73" name="Google Shape;73;p16"/>
          <p:cNvSpPr txBox="1">
            <a:spLocks noGrp="1"/>
          </p:cNvSpPr>
          <p:nvPr>
            <p:ph type="body" idx="1"/>
          </p:nvPr>
        </p:nvSpPr>
        <p:spPr>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At the end of the course, you should be able to use economic theory and analysis to identify, understand, assess, anticipate and respond to developments in the healthcare marketplace. </a:t>
            </a:r>
            <a:endParaRPr/>
          </a:p>
          <a:p>
            <a:pPr marL="0" lvl="0" indent="0" algn="l" rtl="0">
              <a:spcBef>
                <a:spcPts val="1200"/>
              </a:spcBef>
              <a:spcAft>
                <a:spcPts val="1200"/>
              </a:spcAft>
              <a:buNone/>
            </a:pPr>
            <a:r>
              <a:rPr lang="en"/>
              <a:t>→ Learn to think about health using a microeconomic framework.</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77"/>
        <p:cNvGrpSpPr/>
        <p:nvPr/>
      </p:nvGrpSpPr>
      <p:grpSpPr>
        <a:xfrm>
          <a:off x="0" y="0"/>
          <a:ext cx="0" cy="0"/>
          <a:chOff x="0" y="0"/>
          <a:chExt cx="0" cy="0"/>
        </a:xfrm>
      </p:grpSpPr>
      <p:sp>
        <p:nvSpPr>
          <p:cNvPr id="78" name="Google Shape;78;p17"/>
          <p:cNvSpPr/>
          <p:nvPr/>
        </p:nvSpPr>
        <p:spPr>
          <a:xfrm rot="5400000">
            <a:off x="7365228" y="0"/>
            <a:ext cx="1778700" cy="1778700"/>
          </a:xfrm>
          <a:prstGeom prst="diagStripe">
            <a:avLst>
              <a:gd name="adj" fmla="val 50000"/>
            </a:avLst>
          </a:prstGeom>
          <a:solidFill>
            <a:srgbClr val="EDFA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9" name="Google Shape;79;p17"/>
          <p:cNvSpPr txBox="1"/>
          <p:nvPr/>
        </p:nvSpPr>
        <p:spPr>
          <a:xfrm rot="2700000">
            <a:off x="7215273" y="386217"/>
            <a:ext cx="2501461" cy="583787"/>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b="1">
                <a:solidFill>
                  <a:srgbClr val="198038"/>
                </a:solidFill>
                <a:latin typeface="Inter"/>
                <a:ea typeface="Inter"/>
                <a:cs typeface="Inter"/>
                <a:sym typeface="Inter"/>
              </a:rPr>
              <a:t>Do not edit</a:t>
            </a:r>
            <a:endParaRPr sz="1200" b="1">
              <a:solidFill>
                <a:srgbClr val="198038"/>
              </a:solidFill>
              <a:latin typeface="Inter"/>
              <a:ea typeface="Inter"/>
              <a:cs typeface="Inter"/>
              <a:sym typeface="Inter"/>
            </a:endParaRPr>
          </a:p>
          <a:p>
            <a:pPr marL="0" lvl="0" indent="0" algn="ctr" rtl="0">
              <a:spcBef>
                <a:spcPts val="0"/>
              </a:spcBef>
              <a:spcAft>
                <a:spcPts val="0"/>
              </a:spcAft>
              <a:buNone/>
            </a:pPr>
            <a:r>
              <a:rPr lang="en" sz="1200" u="sng">
                <a:solidFill>
                  <a:srgbClr val="198038"/>
                </a:solidFill>
                <a:latin typeface="Inter"/>
                <a:ea typeface="Inter"/>
                <a:cs typeface="Inter"/>
                <a:sym typeface="Inter"/>
                <a:hlinkClick r:id="rId3">
                  <a:extLst>
                    <a:ext uri="{A12FA001-AC4F-418D-AE19-62706E023703}">
                      <ahyp:hlinkClr xmlns:ahyp="http://schemas.microsoft.com/office/drawing/2018/hyperlinkcolor" val="tx"/>
                    </a:ext>
                  </a:extLst>
                </a:hlinkClick>
              </a:rPr>
              <a:t>How to change the design</a:t>
            </a:r>
            <a:endParaRPr sz="1200">
              <a:solidFill>
                <a:srgbClr val="198038"/>
              </a:solidFill>
              <a:latin typeface="Inter"/>
              <a:ea typeface="Inter"/>
              <a:cs typeface="Inter"/>
              <a:sym typeface="Inter"/>
            </a:endParaRPr>
          </a:p>
        </p:txBody>
      </p:sp>
      <p:pic>
        <p:nvPicPr>
          <p:cNvPr id="80" name="Google Shape;80;p17" descr="poll-type-id">
            <a:hlinkClick r:id="rId4"/>
          </p:cNvPr>
          <p:cNvPicPr preferRelativeResize="0"/>
          <p:nvPr/>
        </p:nvPicPr>
        <p:blipFill>
          <a:blip r:embed="rId5">
            <a:alphaModFix/>
          </a:blip>
          <a:stretch>
            <a:fillRect/>
          </a:stretch>
        </p:blipFill>
        <p:spPr>
          <a:xfrm>
            <a:off x="333520" y="1307027"/>
            <a:ext cx="1778772" cy="1778772"/>
          </a:xfrm>
          <a:prstGeom prst="rect">
            <a:avLst/>
          </a:prstGeom>
          <a:noFill/>
          <a:ln>
            <a:noFill/>
          </a:ln>
        </p:spPr>
      </p:pic>
      <p:sp>
        <p:nvSpPr>
          <p:cNvPr id="81" name="Google Shape;81;p17" descr="title-id"/>
          <p:cNvSpPr txBox="1"/>
          <p:nvPr/>
        </p:nvSpPr>
        <p:spPr>
          <a:xfrm>
            <a:off x="2334638" y="1320628"/>
            <a:ext cx="6364800" cy="1751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3600" b="1">
                <a:solidFill>
                  <a:srgbClr val="5B5B5B"/>
                </a:solidFill>
                <a:latin typeface="Inter"/>
                <a:ea typeface="Inter"/>
                <a:cs typeface="Inter"/>
                <a:sym typeface="Inter"/>
              </a:rPr>
              <a:t>What classes have you taken?</a:t>
            </a:r>
            <a:endParaRPr sz="3600" b="1">
              <a:solidFill>
                <a:srgbClr val="5B5B5B"/>
              </a:solidFill>
              <a:latin typeface="Inter"/>
              <a:ea typeface="Inter"/>
              <a:cs typeface="Inter"/>
              <a:sym typeface="Inter"/>
            </a:endParaRPr>
          </a:p>
        </p:txBody>
      </p:sp>
      <p:sp>
        <p:nvSpPr>
          <p:cNvPr id="82" name="Google Shape;82;p17"/>
          <p:cNvSpPr/>
          <p:nvPr/>
        </p:nvSpPr>
        <p:spPr>
          <a:xfrm>
            <a:off x="0" y="4365024"/>
            <a:ext cx="9144000" cy="778500"/>
          </a:xfrm>
          <a:prstGeom prst="rect">
            <a:avLst/>
          </a:prstGeom>
          <a:solidFill>
            <a:srgbClr val="19803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3" name="Google Shape;83;p17"/>
          <p:cNvSpPr txBox="1"/>
          <p:nvPr/>
        </p:nvSpPr>
        <p:spPr>
          <a:xfrm>
            <a:off x="555866" y="4365024"/>
            <a:ext cx="6948300" cy="778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a:solidFill>
                  <a:srgbClr val="FFFFFF"/>
                </a:solidFill>
                <a:latin typeface="Inter"/>
                <a:ea typeface="Inter"/>
                <a:cs typeface="Inter"/>
                <a:sym typeface="Inter"/>
              </a:rPr>
              <a:t>Presenting with animations, GIFs or speaker notes? Enable our </a:t>
            </a:r>
            <a:r>
              <a:rPr lang="en" sz="1200" u="sng">
                <a:solidFill>
                  <a:srgbClr val="FFFFFF"/>
                </a:solidFill>
                <a:latin typeface="Inter"/>
                <a:ea typeface="Inter"/>
                <a:cs typeface="Inter"/>
                <a:sym typeface="Inter"/>
                <a:hlinkClick r:id="rId6">
                  <a:extLst>
                    <a:ext uri="{A12FA001-AC4F-418D-AE19-62706E023703}">
                      <ahyp:hlinkClr xmlns:ahyp="http://schemas.microsoft.com/office/drawing/2018/hyperlinkcolor" val="tx"/>
                    </a:ext>
                  </a:extLst>
                </a:hlinkClick>
              </a:rPr>
              <a:t>Chrome extension</a:t>
            </a:r>
            <a:endParaRPr sz="1200">
              <a:solidFill>
                <a:srgbClr val="FFFFFF"/>
              </a:solidFill>
              <a:latin typeface="Inter"/>
              <a:ea typeface="Inter"/>
              <a:cs typeface="Inter"/>
              <a:sym typeface="Inter"/>
            </a:endParaRPr>
          </a:p>
        </p:txBody>
      </p:sp>
      <p:pic>
        <p:nvPicPr>
          <p:cNvPr id="84" name="Google Shape;84;p17"/>
          <p:cNvPicPr preferRelativeResize="0"/>
          <p:nvPr/>
        </p:nvPicPr>
        <p:blipFill>
          <a:blip r:embed="rId7">
            <a:alphaModFix/>
          </a:blip>
          <a:stretch>
            <a:fillRect/>
          </a:stretch>
        </p:blipFill>
        <p:spPr>
          <a:xfrm>
            <a:off x="222347" y="4643089"/>
            <a:ext cx="222347" cy="222347"/>
          </a:xfrm>
          <a:prstGeom prst="rect">
            <a:avLst/>
          </a:prstGeom>
          <a:noFill/>
          <a:ln>
            <a:noFill/>
          </a:ln>
        </p:spPr>
      </p:pic>
      <p:pic>
        <p:nvPicPr>
          <p:cNvPr id="85" name="Google Shape;85;p17" descr="logo-id">
            <a:hlinkClick r:id="rId8"/>
          </p:cNvPr>
          <p:cNvPicPr preferRelativeResize="0"/>
          <p:nvPr/>
        </p:nvPicPr>
        <p:blipFill>
          <a:blip r:embed="rId9">
            <a:alphaModFix/>
          </a:blip>
          <a:stretch>
            <a:fillRect/>
          </a:stretch>
        </p:blipFill>
        <p:spPr>
          <a:xfrm>
            <a:off x="7921094" y="4476329"/>
            <a:ext cx="1111733" cy="55586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8"/>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Course Policies </a:t>
            </a:r>
            <a:endParaRPr/>
          </a:p>
        </p:txBody>
      </p:sp>
      <p:sp>
        <p:nvSpPr>
          <p:cNvPr id="91" name="Google Shape;91;p18"/>
          <p:cNvSpPr txBox="1"/>
          <p:nvPr/>
        </p:nvSpPr>
        <p:spPr>
          <a:xfrm>
            <a:off x="311700" y="1017725"/>
            <a:ext cx="8369400" cy="3509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b="1" dirty="0">
                <a:solidFill>
                  <a:schemeClr val="dk2"/>
                </a:solidFill>
              </a:rPr>
              <a:t>Readings: </a:t>
            </a:r>
            <a:r>
              <a:rPr lang="en" sz="1800" dirty="0">
                <a:solidFill>
                  <a:schemeClr val="dk2"/>
                </a:solidFill>
              </a:rPr>
              <a:t>posted in modules ~1 week prior to class</a:t>
            </a:r>
            <a:endParaRPr sz="1800" dirty="0">
              <a:solidFill>
                <a:schemeClr val="dk2"/>
              </a:solidFill>
            </a:endParaRPr>
          </a:p>
          <a:p>
            <a:pPr marL="0" lvl="0" indent="0" algn="l" rtl="0">
              <a:spcBef>
                <a:spcPts val="0"/>
              </a:spcBef>
              <a:spcAft>
                <a:spcPts val="0"/>
              </a:spcAft>
              <a:buNone/>
            </a:pPr>
            <a:endParaRPr sz="1800" dirty="0">
              <a:solidFill>
                <a:schemeClr val="dk2"/>
              </a:solidFill>
            </a:endParaRPr>
          </a:p>
          <a:p>
            <a:pPr marL="0" lvl="0" indent="0" algn="l" rtl="0">
              <a:spcBef>
                <a:spcPts val="0"/>
              </a:spcBef>
              <a:spcAft>
                <a:spcPts val="0"/>
              </a:spcAft>
              <a:buNone/>
            </a:pPr>
            <a:r>
              <a:rPr lang="en" sz="1800" b="1" dirty="0">
                <a:solidFill>
                  <a:schemeClr val="dk2"/>
                </a:solidFill>
              </a:rPr>
              <a:t>Slides: </a:t>
            </a:r>
            <a:r>
              <a:rPr lang="en" sz="1800" dirty="0">
                <a:solidFill>
                  <a:schemeClr val="dk2"/>
                </a:solidFill>
              </a:rPr>
              <a:t>uploaded after class </a:t>
            </a:r>
            <a:endParaRPr sz="1800" dirty="0">
              <a:solidFill>
                <a:schemeClr val="dk2"/>
              </a:solidFill>
            </a:endParaRPr>
          </a:p>
          <a:p>
            <a:pPr marL="0" lvl="0" indent="0" algn="l" rtl="0">
              <a:spcBef>
                <a:spcPts val="0"/>
              </a:spcBef>
              <a:spcAft>
                <a:spcPts val="0"/>
              </a:spcAft>
              <a:buNone/>
            </a:pPr>
            <a:endParaRPr sz="1800" dirty="0">
              <a:solidFill>
                <a:schemeClr val="dk2"/>
              </a:solidFill>
            </a:endParaRPr>
          </a:p>
          <a:p>
            <a:pPr marL="0" lvl="0" indent="0" algn="l" rtl="0">
              <a:spcBef>
                <a:spcPts val="0"/>
              </a:spcBef>
              <a:spcAft>
                <a:spcPts val="0"/>
              </a:spcAft>
              <a:buNone/>
            </a:pPr>
            <a:r>
              <a:rPr lang="en" sz="1800" b="1" dirty="0">
                <a:solidFill>
                  <a:schemeClr val="dk2"/>
                </a:solidFill>
              </a:rPr>
              <a:t>Problem Sets: </a:t>
            </a:r>
            <a:r>
              <a:rPr lang="en" sz="1800" dirty="0">
                <a:solidFill>
                  <a:schemeClr val="dk2"/>
                </a:solidFill>
              </a:rPr>
              <a:t>there will be 5 problem sets throughout the semester to help you master the material. Your top 4 grades will be averaged, worth 5% each </a:t>
            </a:r>
            <a:endParaRPr sz="1800" dirty="0">
              <a:solidFill>
                <a:schemeClr val="dk2"/>
              </a:solidFill>
            </a:endParaRPr>
          </a:p>
          <a:p>
            <a:pPr marL="0" lvl="0" indent="0" algn="l" rtl="0">
              <a:spcBef>
                <a:spcPts val="0"/>
              </a:spcBef>
              <a:spcAft>
                <a:spcPts val="0"/>
              </a:spcAft>
              <a:buNone/>
            </a:pPr>
            <a:endParaRPr sz="1800" dirty="0">
              <a:solidFill>
                <a:schemeClr val="dk2"/>
              </a:solidFill>
            </a:endParaRPr>
          </a:p>
          <a:p>
            <a:pPr marL="0" lvl="0" indent="0" algn="l" rtl="0">
              <a:spcBef>
                <a:spcPts val="0"/>
              </a:spcBef>
              <a:spcAft>
                <a:spcPts val="0"/>
              </a:spcAft>
              <a:buNone/>
            </a:pPr>
            <a:r>
              <a:rPr lang="en" sz="1800" b="1" dirty="0">
                <a:solidFill>
                  <a:schemeClr val="dk2"/>
                </a:solidFill>
              </a:rPr>
              <a:t>Exams: </a:t>
            </a:r>
            <a:r>
              <a:rPr lang="en" sz="1800" dirty="0">
                <a:solidFill>
                  <a:schemeClr val="dk2"/>
                </a:solidFill>
              </a:rPr>
              <a:t>there will be 2 midterms and a final exam, worth 25% each </a:t>
            </a:r>
            <a:endParaRPr sz="1800" dirty="0">
              <a:solidFill>
                <a:schemeClr val="dk2"/>
              </a:solidFill>
            </a:endParaRPr>
          </a:p>
          <a:p>
            <a:pPr marL="0" lvl="0" indent="0" algn="l" rtl="0">
              <a:spcBef>
                <a:spcPts val="0"/>
              </a:spcBef>
              <a:spcAft>
                <a:spcPts val="0"/>
              </a:spcAft>
              <a:buNone/>
            </a:pPr>
            <a:endParaRPr sz="1800" dirty="0">
              <a:solidFill>
                <a:schemeClr val="dk2"/>
              </a:solidFill>
            </a:endParaRPr>
          </a:p>
          <a:p>
            <a:pPr marL="0" lvl="0" indent="0" algn="l" rtl="0">
              <a:spcBef>
                <a:spcPts val="0"/>
              </a:spcBef>
              <a:spcAft>
                <a:spcPts val="0"/>
              </a:spcAft>
              <a:buNone/>
            </a:pPr>
            <a:r>
              <a:rPr lang="en" sz="1800" b="1" dirty="0">
                <a:solidFill>
                  <a:schemeClr val="dk2"/>
                </a:solidFill>
              </a:rPr>
              <a:t>Attendance: </a:t>
            </a:r>
            <a:r>
              <a:rPr lang="en" sz="1800" dirty="0">
                <a:solidFill>
                  <a:schemeClr val="dk2"/>
                </a:solidFill>
              </a:rPr>
              <a:t>Participate in class, &amp; check in using the quizzes on the slides, 5% </a:t>
            </a:r>
            <a:endParaRPr sz="1800" dirty="0">
              <a:solidFill>
                <a:schemeClr val="dk2"/>
              </a:solidFill>
            </a:endParaRPr>
          </a:p>
          <a:p>
            <a:pPr marL="0" lvl="0" indent="0" algn="l" rtl="0">
              <a:spcBef>
                <a:spcPts val="0"/>
              </a:spcBef>
              <a:spcAft>
                <a:spcPts val="0"/>
              </a:spcAft>
              <a:buNone/>
            </a:pPr>
            <a:endParaRPr sz="1800" dirty="0">
              <a:solidFill>
                <a:schemeClr val="dk2"/>
              </a:solidFill>
            </a:endParaRPr>
          </a:p>
          <a:p>
            <a:pPr marL="0" lvl="0" indent="0" algn="l" rtl="0">
              <a:spcBef>
                <a:spcPts val="0"/>
              </a:spcBef>
              <a:spcAft>
                <a:spcPts val="0"/>
              </a:spcAft>
              <a:buNone/>
            </a:pPr>
            <a:endParaRPr sz="1800" dirty="0">
              <a:solidFill>
                <a:schemeClr val="dk2"/>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9"/>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Course Policies </a:t>
            </a:r>
            <a:endParaRPr/>
          </a:p>
        </p:txBody>
      </p:sp>
      <p:sp>
        <p:nvSpPr>
          <p:cNvPr id="97" name="Google Shape;97;p19"/>
          <p:cNvSpPr txBox="1"/>
          <p:nvPr/>
        </p:nvSpPr>
        <p:spPr>
          <a:xfrm>
            <a:off x="311700" y="1017725"/>
            <a:ext cx="8369400" cy="2954625"/>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b="1" dirty="0">
                <a:solidFill>
                  <a:schemeClr val="dk2"/>
                </a:solidFill>
              </a:rPr>
              <a:t>Course evaluations: </a:t>
            </a:r>
            <a:r>
              <a:rPr lang="en" sz="1800" dirty="0">
                <a:solidFill>
                  <a:schemeClr val="dk2"/>
                </a:solidFill>
              </a:rPr>
              <a:t>Please use course evaluations to help us improve the course, &amp; come to use with any questions / comments / concerns throughout the semester </a:t>
            </a:r>
            <a:endParaRPr sz="1800" dirty="0">
              <a:solidFill>
                <a:schemeClr val="dk2"/>
              </a:solidFill>
            </a:endParaRPr>
          </a:p>
          <a:p>
            <a:pPr marL="0" lvl="0" indent="0" algn="l" rtl="0">
              <a:spcBef>
                <a:spcPts val="0"/>
              </a:spcBef>
              <a:spcAft>
                <a:spcPts val="0"/>
              </a:spcAft>
              <a:buNone/>
            </a:pPr>
            <a:endParaRPr sz="1800" dirty="0">
              <a:solidFill>
                <a:schemeClr val="dk2"/>
              </a:solidFill>
            </a:endParaRPr>
          </a:p>
          <a:p>
            <a:pPr marL="0" lvl="0" indent="0" algn="l" rtl="0">
              <a:spcBef>
                <a:spcPts val="0"/>
              </a:spcBef>
              <a:spcAft>
                <a:spcPts val="0"/>
              </a:spcAft>
              <a:buNone/>
            </a:pPr>
            <a:r>
              <a:rPr lang="en" sz="1800" b="1" dirty="0">
                <a:solidFill>
                  <a:schemeClr val="dk2"/>
                </a:solidFill>
              </a:rPr>
              <a:t>Review Sessions: </a:t>
            </a:r>
            <a:r>
              <a:rPr lang="en" sz="1800" dirty="0">
                <a:solidFill>
                  <a:schemeClr val="dk2"/>
                </a:solidFill>
              </a:rPr>
              <a:t>there will be at least one TA-led review session prior to each exam </a:t>
            </a:r>
            <a:endParaRPr sz="1800" dirty="0">
              <a:solidFill>
                <a:schemeClr val="dk2"/>
              </a:solidFill>
            </a:endParaRPr>
          </a:p>
          <a:p>
            <a:pPr marL="0" lvl="0" indent="0" algn="l" rtl="0">
              <a:spcBef>
                <a:spcPts val="0"/>
              </a:spcBef>
              <a:spcAft>
                <a:spcPts val="0"/>
              </a:spcAft>
              <a:buNone/>
            </a:pPr>
            <a:endParaRPr sz="1800" dirty="0">
              <a:solidFill>
                <a:schemeClr val="dk2"/>
              </a:solidFill>
            </a:endParaRPr>
          </a:p>
          <a:p>
            <a:pPr marL="0" lvl="0" indent="0" algn="l" rtl="0">
              <a:spcBef>
                <a:spcPts val="0"/>
              </a:spcBef>
              <a:spcAft>
                <a:spcPts val="0"/>
              </a:spcAft>
              <a:buNone/>
            </a:pPr>
            <a:r>
              <a:rPr lang="en" sz="1800" b="1" dirty="0">
                <a:solidFill>
                  <a:schemeClr val="dk2"/>
                </a:solidFill>
              </a:rPr>
              <a:t>Late Assignments: </a:t>
            </a:r>
            <a:r>
              <a:rPr lang="en" sz="1800" dirty="0">
                <a:solidFill>
                  <a:schemeClr val="dk2"/>
                </a:solidFill>
              </a:rPr>
              <a:t>Problem Sets will be assigned after class and due at 5pm the following Wednesday. No problem set will be accepted after 5pm.</a:t>
            </a:r>
            <a:endParaRPr sz="1800" dirty="0">
              <a:solidFill>
                <a:schemeClr val="dk2"/>
              </a:solidFill>
            </a:endParaRPr>
          </a:p>
          <a:p>
            <a:pPr marL="0" lvl="0" indent="0" algn="l" rtl="0">
              <a:spcBef>
                <a:spcPts val="0"/>
              </a:spcBef>
              <a:spcAft>
                <a:spcPts val="0"/>
              </a:spcAft>
              <a:buNone/>
            </a:pPr>
            <a:endParaRPr sz="1800" dirty="0">
              <a:solidFill>
                <a:schemeClr val="dk2"/>
              </a:solidFill>
            </a:endParaRPr>
          </a:p>
          <a:p>
            <a:pPr marL="0" lvl="0" indent="0" algn="l" rtl="0">
              <a:spcBef>
                <a:spcPts val="0"/>
              </a:spcBef>
              <a:spcAft>
                <a:spcPts val="0"/>
              </a:spcAft>
              <a:buClr>
                <a:schemeClr val="dk1"/>
              </a:buClr>
              <a:buSzPts val="1100"/>
              <a:buFont typeface="Arial"/>
              <a:buNone/>
            </a:pPr>
            <a:r>
              <a:rPr lang="en" sz="1800" b="1" dirty="0">
                <a:solidFill>
                  <a:schemeClr val="dk2"/>
                </a:solidFill>
              </a:rPr>
              <a:t>Office hours: </a:t>
            </a:r>
            <a:r>
              <a:rPr lang="en" sz="1800" dirty="0">
                <a:solidFill>
                  <a:schemeClr val="dk2"/>
                </a:solidFill>
              </a:rPr>
              <a:t>Before or after class, or by appointment on Zoom </a:t>
            </a:r>
            <a:endParaRPr sz="1800" dirty="0">
              <a:solidFill>
                <a:schemeClr val="dk2"/>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01"/>
        <p:cNvGrpSpPr/>
        <p:nvPr/>
      </p:nvGrpSpPr>
      <p:grpSpPr>
        <a:xfrm>
          <a:off x="0" y="0"/>
          <a:ext cx="0" cy="0"/>
          <a:chOff x="0" y="0"/>
          <a:chExt cx="0" cy="0"/>
        </a:xfrm>
      </p:grpSpPr>
      <p:sp>
        <p:nvSpPr>
          <p:cNvPr id="102" name="Google Shape;102;p20"/>
          <p:cNvSpPr/>
          <p:nvPr/>
        </p:nvSpPr>
        <p:spPr>
          <a:xfrm rot="5400000">
            <a:off x="7365228" y="0"/>
            <a:ext cx="1778700" cy="1778700"/>
          </a:xfrm>
          <a:prstGeom prst="diagStripe">
            <a:avLst>
              <a:gd name="adj" fmla="val 50000"/>
            </a:avLst>
          </a:prstGeom>
          <a:solidFill>
            <a:srgbClr val="EDFA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3" name="Google Shape;103;p20"/>
          <p:cNvSpPr txBox="1"/>
          <p:nvPr/>
        </p:nvSpPr>
        <p:spPr>
          <a:xfrm rot="2700000">
            <a:off x="7215273" y="386217"/>
            <a:ext cx="2501461" cy="583787"/>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b="1">
                <a:solidFill>
                  <a:srgbClr val="198038"/>
                </a:solidFill>
                <a:latin typeface="Inter"/>
                <a:ea typeface="Inter"/>
                <a:cs typeface="Inter"/>
                <a:sym typeface="Inter"/>
              </a:rPr>
              <a:t>Do not edit</a:t>
            </a:r>
            <a:endParaRPr sz="1200" b="1">
              <a:solidFill>
                <a:srgbClr val="198038"/>
              </a:solidFill>
              <a:latin typeface="Inter"/>
              <a:ea typeface="Inter"/>
              <a:cs typeface="Inter"/>
              <a:sym typeface="Inter"/>
            </a:endParaRPr>
          </a:p>
          <a:p>
            <a:pPr marL="0" lvl="0" indent="0" algn="ctr" rtl="0">
              <a:spcBef>
                <a:spcPts val="0"/>
              </a:spcBef>
              <a:spcAft>
                <a:spcPts val="0"/>
              </a:spcAft>
              <a:buNone/>
            </a:pPr>
            <a:r>
              <a:rPr lang="en" sz="1200" u="sng">
                <a:solidFill>
                  <a:srgbClr val="198038"/>
                </a:solidFill>
                <a:latin typeface="Inter"/>
                <a:ea typeface="Inter"/>
                <a:cs typeface="Inter"/>
                <a:sym typeface="Inter"/>
                <a:hlinkClick r:id="rId3">
                  <a:extLst>
                    <a:ext uri="{A12FA001-AC4F-418D-AE19-62706E023703}">
                      <ahyp:hlinkClr xmlns:ahyp="http://schemas.microsoft.com/office/drawing/2018/hyperlinkcolor" val="tx"/>
                    </a:ext>
                  </a:extLst>
                </a:hlinkClick>
              </a:rPr>
              <a:t>How to change the design</a:t>
            </a:r>
            <a:endParaRPr sz="1200">
              <a:solidFill>
                <a:srgbClr val="198038"/>
              </a:solidFill>
              <a:latin typeface="Inter"/>
              <a:ea typeface="Inter"/>
              <a:cs typeface="Inter"/>
              <a:sym typeface="Inter"/>
            </a:endParaRPr>
          </a:p>
        </p:txBody>
      </p:sp>
      <p:pic>
        <p:nvPicPr>
          <p:cNvPr id="104" name="Google Shape;104;p20" descr="poll-type-id">
            <a:hlinkClick r:id="rId4"/>
          </p:cNvPr>
          <p:cNvPicPr preferRelativeResize="0"/>
          <p:nvPr/>
        </p:nvPicPr>
        <p:blipFill>
          <a:blip r:embed="rId5">
            <a:alphaModFix/>
          </a:blip>
          <a:stretch>
            <a:fillRect/>
          </a:stretch>
        </p:blipFill>
        <p:spPr>
          <a:xfrm>
            <a:off x="333520" y="1307027"/>
            <a:ext cx="1778772" cy="1778772"/>
          </a:xfrm>
          <a:prstGeom prst="rect">
            <a:avLst/>
          </a:prstGeom>
          <a:noFill/>
          <a:ln>
            <a:noFill/>
          </a:ln>
        </p:spPr>
      </p:pic>
      <p:sp>
        <p:nvSpPr>
          <p:cNvPr id="105" name="Google Shape;105;p20" descr="title-id"/>
          <p:cNvSpPr txBox="1"/>
          <p:nvPr/>
        </p:nvSpPr>
        <p:spPr>
          <a:xfrm>
            <a:off x="2334638" y="1320628"/>
            <a:ext cx="6364800" cy="1751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3600" b="1">
                <a:solidFill>
                  <a:srgbClr val="5B5B5B"/>
                </a:solidFill>
                <a:latin typeface="Inter"/>
                <a:ea typeface="Inter"/>
                <a:cs typeface="Inter"/>
                <a:sym typeface="Inter"/>
              </a:rPr>
              <a:t>Which office hours work best for you? Choose one per TA. </a:t>
            </a:r>
            <a:endParaRPr sz="3600" b="1">
              <a:solidFill>
                <a:srgbClr val="5B5B5B"/>
              </a:solidFill>
              <a:latin typeface="Inter"/>
              <a:ea typeface="Inter"/>
              <a:cs typeface="Inter"/>
              <a:sym typeface="Inter"/>
            </a:endParaRPr>
          </a:p>
        </p:txBody>
      </p:sp>
      <p:sp>
        <p:nvSpPr>
          <p:cNvPr id="106" name="Google Shape;106;p20"/>
          <p:cNvSpPr/>
          <p:nvPr/>
        </p:nvSpPr>
        <p:spPr>
          <a:xfrm>
            <a:off x="0" y="4365024"/>
            <a:ext cx="9144000" cy="778500"/>
          </a:xfrm>
          <a:prstGeom prst="rect">
            <a:avLst/>
          </a:prstGeom>
          <a:solidFill>
            <a:srgbClr val="19803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7" name="Google Shape;107;p20"/>
          <p:cNvSpPr txBox="1"/>
          <p:nvPr/>
        </p:nvSpPr>
        <p:spPr>
          <a:xfrm>
            <a:off x="555866" y="4365024"/>
            <a:ext cx="6948300" cy="778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a:solidFill>
                  <a:srgbClr val="FFFFFF"/>
                </a:solidFill>
                <a:latin typeface="Inter"/>
                <a:ea typeface="Inter"/>
                <a:cs typeface="Inter"/>
                <a:sym typeface="Inter"/>
              </a:rPr>
              <a:t>Presenting with animations, GIFs or speaker notes? Enable our </a:t>
            </a:r>
            <a:r>
              <a:rPr lang="en" sz="1200" u="sng">
                <a:solidFill>
                  <a:srgbClr val="FFFFFF"/>
                </a:solidFill>
                <a:latin typeface="Inter"/>
                <a:ea typeface="Inter"/>
                <a:cs typeface="Inter"/>
                <a:sym typeface="Inter"/>
                <a:hlinkClick r:id="rId6">
                  <a:extLst>
                    <a:ext uri="{A12FA001-AC4F-418D-AE19-62706E023703}">
                      <ahyp:hlinkClr xmlns:ahyp="http://schemas.microsoft.com/office/drawing/2018/hyperlinkcolor" val="tx"/>
                    </a:ext>
                  </a:extLst>
                </a:hlinkClick>
              </a:rPr>
              <a:t>Chrome extension</a:t>
            </a:r>
            <a:endParaRPr sz="1200">
              <a:solidFill>
                <a:srgbClr val="FFFFFF"/>
              </a:solidFill>
              <a:latin typeface="Inter"/>
              <a:ea typeface="Inter"/>
              <a:cs typeface="Inter"/>
              <a:sym typeface="Inter"/>
            </a:endParaRPr>
          </a:p>
        </p:txBody>
      </p:sp>
      <p:pic>
        <p:nvPicPr>
          <p:cNvPr id="108" name="Google Shape;108;p20"/>
          <p:cNvPicPr preferRelativeResize="0"/>
          <p:nvPr/>
        </p:nvPicPr>
        <p:blipFill>
          <a:blip r:embed="rId7">
            <a:alphaModFix/>
          </a:blip>
          <a:stretch>
            <a:fillRect/>
          </a:stretch>
        </p:blipFill>
        <p:spPr>
          <a:xfrm>
            <a:off x="222347" y="4643089"/>
            <a:ext cx="222347" cy="222347"/>
          </a:xfrm>
          <a:prstGeom prst="rect">
            <a:avLst/>
          </a:prstGeom>
          <a:noFill/>
          <a:ln>
            <a:noFill/>
          </a:ln>
        </p:spPr>
      </p:pic>
      <p:pic>
        <p:nvPicPr>
          <p:cNvPr id="109" name="Google Shape;109;p20" descr="logo-id">
            <a:hlinkClick r:id="rId8"/>
          </p:cNvPr>
          <p:cNvPicPr preferRelativeResize="0"/>
          <p:nvPr/>
        </p:nvPicPr>
        <p:blipFill>
          <a:blip r:embed="rId9">
            <a:alphaModFix/>
          </a:blip>
          <a:stretch>
            <a:fillRect/>
          </a:stretch>
        </p:blipFill>
        <p:spPr>
          <a:xfrm>
            <a:off x="7921094" y="4476329"/>
            <a:ext cx="1111733" cy="55586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21"/>
          <p:cNvSpPr txBox="1">
            <a:spLocks noGrp="1"/>
          </p:cNvSpPr>
          <p:nvPr>
            <p:ph type="ctrTitle"/>
          </p:nvPr>
        </p:nvSpPr>
        <p:spPr>
          <a:xfrm>
            <a:off x="3404287" y="1739181"/>
            <a:ext cx="1884406" cy="832569"/>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dirty="0"/>
              <a:t>Break </a:t>
            </a:r>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22"/>
          <p:cNvSpPr txBox="1">
            <a:spLocks noGrp="1"/>
          </p:cNvSpPr>
          <p:nvPr>
            <p:ph type="title" idx="4294967295"/>
          </p:nvPr>
        </p:nvSpPr>
        <p:spPr>
          <a:xfrm>
            <a:off x="311700" y="358003"/>
            <a:ext cx="8521700" cy="573088"/>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Material for today’s class </a:t>
            </a:r>
            <a:endParaRPr dirty="0"/>
          </a:p>
        </p:txBody>
      </p:sp>
      <p:sp>
        <p:nvSpPr>
          <p:cNvPr id="120" name="Google Shape;120;p22"/>
          <p:cNvSpPr txBox="1"/>
          <p:nvPr/>
        </p:nvSpPr>
        <p:spPr>
          <a:xfrm>
            <a:off x="311700" y="1321450"/>
            <a:ext cx="8369400" cy="2678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2"/>
                </a:solidFill>
              </a:rPr>
              <a:t>I - What is health economics?</a:t>
            </a:r>
            <a:endParaRPr sz="1800">
              <a:solidFill>
                <a:schemeClr val="dk2"/>
              </a:solidFill>
            </a:endParaRPr>
          </a:p>
          <a:p>
            <a:pPr marL="0" lvl="0" indent="0" algn="l" rtl="0">
              <a:spcBef>
                <a:spcPts val="0"/>
              </a:spcBef>
              <a:spcAft>
                <a:spcPts val="0"/>
              </a:spcAft>
              <a:buNone/>
            </a:pPr>
            <a:endParaRPr sz="1800">
              <a:solidFill>
                <a:schemeClr val="dk2"/>
              </a:solidFill>
            </a:endParaRPr>
          </a:p>
          <a:p>
            <a:pPr marL="0" lvl="0" indent="0" algn="l" rtl="0">
              <a:spcBef>
                <a:spcPts val="0"/>
              </a:spcBef>
              <a:spcAft>
                <a:spcPts val="0"/>
              </a:spcAft>
              <a:buNone/>
            </a:pPr>
            <a:r>
              <a:rPr lang="en" sz="1800">
                <a:solidFill>
                  <a:schemeClr val="dk2"/>
                </a:solidFill>
              </a:rPr>
              <a:t>II - Why </a:t>
            </a:r>
            <a:r>
              <a:rPr lang="en" sz="1800" b="1">
                <a:solidFill>
                  <a:schemeClr val="dk2"/>
                </a:solidFill>
              </a:rPr>
              <a:t>health</a:t>
            </a:r>
            <a:r>
              <a:rPr lang="en" sz="1800">
                <a:solidFill>
                  <a:schemeClr val="dk2"/>
                </a:solidFill>
              </a:rPr>
              <a:t> economics? </a:t>
            </a:r>
            <a:endParaRPr sz="1800">
              <a:solidFill>
                <a:schemeClr val="dk2"/>
              </a:solidFill>
            </a:endParaRPr>
          </a:p>
          <a:p>
            <a:pPr marL="0" lvl="0" indent="0" algn="l" rtl="0">
              <a:spcBef>
                <a:spcPts val="0"/>
              </a:spcBef>
              <a:spcAft>
                <a:spcPts val="0"/>
              </a:spcAft>
              <a:buNone/>
            </a:pPr>
            <a:endParaRPr sz="1800">
              <a:solidFill>
                <a:schemeClr val="dk2"/>
              </a:solidFill>
            </a:endParaRPr>
          </a:p>
          <a:p>
            <a:pPr marL="0" lvl="0" indent="0" algn="l" rtl="0">
              <a:spcBef>
                <a:spcPts val="0"/>
              </a:spcBef>
              <a:spcAft>
                <a:spcPts val="0"/>
              </a:spcAft>
              <a:buNone/>
            </a:pPr>
            <a:r>
              <a:rPr lang="en" sz="1800">
                <a:solidFill>
                  <a:schemeClr val="dk2"/>
                </a:solidFill>
              </a:rPr>
              <a:t>III - Opportunity cost &amp; scarcity</a:t>
            </a:r>
            <a:endParaRPr sz="1800">
              <a:solidFill>
                <a:schemeClr val="dk2"/>
              </a:solidFill>
            </a:endParaRPr>
          </a:p>
          <a:p>
            <a:pPr marL="0" lvl="0" indent="0" algn="l" rtl="0">
              <a:spcBef>
                <a:spcPts val="0"/>
              </a:spcBef>
              <a:spcAft>
                <a:spcPts val="0"/>
              </a:spcAft>
              <a:buNone/>
            </a:pPr>
            <a:endParaRPr sz="1800">
              <a:solidFill>
                <a:schemeClr val="dk2"/>
              </a:solidFill>
            </a:endParaRPr>
          </a:p>
          <a:p>
            <a:pPr marL="0" lvl="0" indent="0" algn="l" rtl="0">
              <a:spcBef>
                <a:spcPts val="0"/>
              </a:spcBef>
              <a:spcAft>
                <a:spcPts val="0"/>
              </a:spcAft>
              <a:buNone/>
            </a:pPr>
            <a:r>
              <a:rPr lang="en" sz="1800">
                <a:solidFill>
                  <a:schemeClr val="dk2"/>
                </a:solidFill>
              </a:rPr>
              <a:t>IV - Thinking on the margin</a:t>
            </a:r>
            <a:endParaRPr sz="1800">
              <a:solidFill>
                <a:schemeClr val="dk2"/>
              </a:solidFill>
            </a:endParaRPr>
          </a:p>
          <a:p>
            <a:pPr marL="0" lvl="0" indent="0" algn="l" rtl="0">
              <a:spcBef>
                <a:spcPts val="0"/>
              </a:spcBef>
              <a:spcAft>
                <a:spcPts val="0"/>
              </a:spcAft>
              <a:buNone/>
            </a:pPr>
            <a:endParaRPr sz="1800">
              <a:solidFill>
                <a:schemeClr val="dk2"/>
              </a:solidFill>
            </a:endParaRPr>
          </a:p>
          <a:p>
            <a:pPr marL="0" lvl="0" indent="0" algn="l" rtl="0">
              <a:spcBef>
                <a:spcPts val="0"/>
              </a:spcBef>
              <a:spcAft>
                <a:spcPts val="0"/>
              </a:spcAft>
              <a:buNone/>
            </a:pPr>
            <a:r>
              <a:rPr lang="en" sz="1800">
                <a:solidFill>
                  <a:schemeClr val="dk2"/>
                </a:solidFill>
              </a:rPr>
              <a:t>V -  Rational thinking </a:t>
            </a:r>
            <a:endParaRPr sz="1800">
              <a:solidFill>
                <a:schemeClr val="dk2"/>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23"/>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457200" lvl="0" indent="-388620" algn="l" rtl="0">
              <a:spcBef>
                <a:spcPts val="0"/>
              </a:spcBef>
              <a:spcAft>
                <a:spcPts val="0"/>
              </a:spcAft>
              <a:buSzPct val="100000"/>
              <a:buAutoNum type="romanUcPeriod"/>
            </a:pPr>
            <a:r>
              <a:rPr lang="en"/>
              <a:t>What is health economics?</a:t>
            </a:r>
            <a:endParaRPr/>
          </a:p>
        </p:txBody>
      </p:sp>
      <p:sp>
        <p:nvSpPr>
          <p:cNvPr id="126" name="Google Shape;126;p23"/>
          <p:cNvSpPr txBox="1"/>
          <p:nvPr/>
        </p:nvSpPr>
        <p:spPr>
          <a:xfrm>
            <a:off x="387300" y="1071750"/>
            <a:ext cx="8369400" cy="3232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2"/>
                </a:solidFill>
              </a:rPr>
              <a:t>[Economics] </a:t>
            </a:r>
            <a:endParaRPr sz="1800">
              <a:solidFill>
                <a:schemeClr val="dk2"/>
              </a:solidFill>
            </a:endParaRPr>
          </a:p>
          <a:p>
            <a:pPr marL="0" lvl="0" indent="0" algn="l" rtl="0">
              <a:spcBef>
                <a:spcPts val="0"/>
              </a:spcBef>
              <a:spcAft>
                <a:spcPts val="0"/>
              </a:spcAft>
              <a:buNone/>
            </a:pPr>
            <a:r>
              <a:rPr lang="en" sz="1800">
                <a:solidFill>
                  <a:schemeClr val="dk2"/>
                </a:solidFill>
              </a:rPr>
              <a:t>Economics is the study of scarcity, of how people use resources and respond to incentives, and of decision-making. [AEA]</a:t>
            </a:r>
            <a:endParaRPr sz="1800">
              <a:solidFill>
                <a:schemeClr val="dk2"/>
              </a:solidFill>
            </a:endParaRPr>
          </a:p>
          <a:p>
            <a:pPr marL="457200" lvl="0" indent="-342900" algn="l" rtl="0">
              <a:spcBef>
                <a:spcPts val="0"/>
              </a:spcBef>
              <a:spcAft>
                <a:spcPts val="0"/>
              </a:spcAft>
              <a:buClr>
                <a:schemeClr val="dk2"/>
              </a:buClr>
              <a:buSzPts val="1800"/>
              <a:buChar char="●"/>
            </a:pPr>
            <a:r>
              <a:rPr lang="en" sz="1800">
                <a:solidFill>
                  <a:schemeClr val="dk2"/>
                </a:solidFill>
              </a:rPr>
              <a:t>Broad discipline that helps us understand </a:t>
            </a:r>
            <a:r>
              <a:rPr lang="en" sz="1800">
                <a:solidFill>
                  <a:schemeClr val="dk2"/>
                </a:solidFill>
                <a:uFill>
                  <a:noFill/>
                </a:uFill>
                <a:hlinkClick r:id="rId3">
                  <a:extLst>
                    <a:ext uri="{A12FA001-AC4F-418D-AE19-62706E023703}">
                      <ahyp:hlinkClr xmlns:ahyp="http://schemas.microsoft.com/office/drawing/2018/hyperlinkcolor" val="tx"/>
                    </a:ext>
                  </a:extLst>
                </a:hlinkClick>
              </a:rPr>
              <a:t>historical trends</a:t>
            </a:r>
            <a:r>
              <a:rPr lang="en" sz="1800">
                <a:solidFill>
                  <a:schemeClr val="dk2"/>
                </a:solidFill>
              </a:rPr>
              <a:t>, interpret </a:t>
            </a:r>
            <a:r>
              <a:rPr lang="en" sz="1800">
                <a:solidFill>
                  <a:schemeClr val="dk2"/>
                </a:solidFill>
                <a:uFill>
                  <a:noFill/>
                </a:uFill>
                <a:hlinkClick r:id="rId4">
                  <a:extLst>
                    <a:ext uri="{A12FA001-AC4F-418D-AE19-62706E023703}">
                      <ahyp:hlinkClr xmlns:ahyp="http://schemas.microsoft.com/office/drawing/2018/hyperlinkcolor" val="tx"/>
                    </a:ext>
                  </a:extLst>
                </a:hlinkClick>
              </a:rPr>
              <a:t>today’s headlines</a:t>
            </a:r>
            <a:r>
              <a:rPr lang="en" sz="1800">
                <a:solidFill>
                  <a:schemeClr val="dk2"/>
                </a:solidFill>
              </a:rPr>
              <a:t>, and </a:t>
            </a:r>
            <a:r>
              <a:rPr lang="en" sz="1800">
                <a:solidFill>
                  <a:schemeClr val="dk2"/>
                </a:solidFill>
                <a:uFill>
                  <a:noFill/>
                </a:uFill>
                <a:hlinkClick r:id="rId5">
                  <a:extLst>
                    <a:ext uri="{A12FA001-AC4F-418D-AE19-62706E023703}">
                      <ahyp:hlinkClr xmlns:ahyp="http://schemas.microsoft.com/office/drawing/2018/hyperlinkcolor" val="tx"/>
                    </a:ext>
                  </a:extLst>
                </a:hlinkClick>
              </a:rPr>
              <a:t>make predictions</a:t>
            </a:r>
            <a:r>
              <a:rPr lang="en" sz="1800">
                <a:solidFill>
                  <a:schemeClr val="dk2"/>
                </a:solidFill>
              </a:rPr>
              <a:t> about the coming years.</a:t>
            </a:r>
            <a:endParaRPr sz="1800">
              <a:solidFill>
                <a:schemeClr val="dk2"/>
              </a:solidFill>
            </a:endParaRPr>
          </a:p>
          <a:p>
            <a:pPr marL="0" lvl="0" indent="0" algn="l" rtl="0">
              <a:spcBef>
                <a:spcPts val="0"/>
              </a:spcBef>
              <a:spcAft>
                <a:spcPts val="0"/>
              </a:spcAft>
              <a:buNone/>
            </a:pPr>
            <a:endParaRPr sz="1800">
              <a:solidFill>
                <a:schemeClr val="dk2"/>
              </a:solidFill>
            </a:endParaRPr>
          </a:p>
          <a:p>
            <a:pPr marL="0" lvl="0" indent="0" algn="l" rtl="0">
              <a:spcBef>
                <a:spcPts val="0"/>
              </a:spcBef>
              <a:spcAft>
                <a:spcPts val="0"/>
              </a:spcAft>
              <a:buNone/>
            </a:pPr>
            <a:r>
              <a:rPr lang="en" sz="1800">
                <a:solidFill>
                  <a:schemeClr val="dk2"/>
                </a:solidFill>
              </a:rPr>
              <a:t>Branches of economics: </a:t>
            </a:r>
            <a:endParaRPr sz="1800">
              <a:solidFill>
                <a:schemeClr val="dk2"/>
              </a:solidFill>
            </a:endParaRPr>
          </a:p>
          <a:p>
            <a:pPr marL="457200" lvl="0" indent="-342900" algn="l" rtl="0">
              <a:spcBef>
                <a:spcPts val="0"/>
              </a:spcBef>
              <a:spcAft>
                <a:spcPts val="0"/>
              </a:spcAft>
              <a:buClr>
                <a:schemeClr val="dk2"/>
              </a:buClr>
              <a:buSzPts val="1800"/>
              <a:buChar char="●"/>
            </a:pPr>
            <a:r>
              <a:rPr lang="en" sz="1800">
                <a:solidFill>
                  <a:schemeClr val="dk2"/>
                </a:solidFill>
              </a:rPr>
              <a:t>Microeconomics focuses on individual stakeholders (individuals, firms) </a:t>
            </a:r>
            <a:endParaRPr sz="1800">
              <a:solidFill>
                <a:schemeClr val="dk2"/>
              </a:solidFill>
            </a:endParaRPr>
          </a:p>
          <a:p>
            <a:pPr marL="457200" lvl="0" indent="-342900" algn="l" rtl="0">
              <a:spcBef>
                <a:spcPts val="0"/>
              </a:spcBef>
              <a:spcAft>
                <a:spcPts val="0"/>
              </a:spcAft>
              <a:buClr>
                <a:schemeClr val="dk2"/>
              </a:buClr>
              <a:buSzPts val="1800"/>
              <a:buChar char="●"/>
            </a:pPr>
            <a:r>
              <a:rPr lang="en" sz="1800">
                <a:solidFill>
                  <a:schemeClr val="dk2"/>
                </a:solidFill>
              </a:rPr>
              <a:t>Macroeconomics focuses on the economy as a whole </a:t>
            </a:r>
            <a:endParaRPr sz="1800">
              <a:solidFill>
                <a:schemeClr val="dk2"/>
              </a:solidFill>
            </a:endParaRPr>
          </a:p>
          <a:p>
            <a:pPr marL="457200" lvl="0" indent="-342900" algn="l" rtl="0">
              <a:spcBef>
                <a:spcPts val="0"/>
              </a:spcBef>
              <a:spcAft>
                <a:spcPts val="0"/>
              </a:spcAft>
              <a:buClr>
                <a:schemeClr val="dk2"/>
              </a:buClr>
              <a:buSzPts val="1800"/>
              <a:buChar char="●"/>
            </a:pPr>
            <a:r>
              <a:rPr lang="en" sz="1800">
                <a:solidFill>
                  <a:schemeClr val="dk2"/>
                </a:solidFill>
              </a:rPr>
              <a:t>Econometrics focuses on the statistical toolkit needed to study economics questions. </a:t>
            </a:r>
            <a:endParaRPr sz="1800">
              <a:solidFill>
                <a:schemeClr val="dk2"/>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24"/>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What is health economics?</a:t>
            </a:r>
            <a:endParaRPr/>
          </a:p>
        </p:txBody>
      </p:sp>
      <p:sp>
        <p:nvSpPr>
          <p:cNvPr id="132" name="Google Shape;132;p24"/>
          <p:cNvSpPr txBox="1"/>
          <p:nvPr/>
        </p:nvSpPr>
        <p:spPr>
          <a:xfrm>
            <a:off x="387300" y="1017725"/>
            <a:ext cx="8369400" cy="1569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2"/>
                </a:solidFill>
              </a:rPr>
              <a:t>[Health Economics] </a:t>
            </a:r>
            <a:endParaRPr sz="1800">
              <a:solidFill>
                <a:schemeClr val="dk2"/>
              </a:solidFill>
            </a:endParaRPr>
          </a:p>
          <a:p>
            <a:pPr marL="0" lvl="0" indent="0" algn="l" rtl="0">
              <a:spcBef>
                <a:spcPts val="0"/>
              </a:spcBef>
              <a:spcAft>
                <a:spcPts val="0"/>
              </a:spcAft>
              <a:buNone/>
            </a:pPr>
            <a:r>
              <a:rPr lang="en" sz="1800">
                <a:solidFill>
                  <a:schemeClr val="dk2"/>
                </a:solidFill>
              </a:rPr>
              <a:t>Application of economic theory and methods to health and healthcare questions. HE seeks to understand the role that individuals, health care providers, insurers, government agencies, and public and private organizations play in driving these costs. [HBS]</a:t>
            </a:r>
            <a:endParaRPr sz="1800">
              <a:solidFill>
                <a:schemeClr val="dk2"/>
              </a:solidFill>
            </a:endParaRPr>
          </a:p>
        </p:txBody>
      </p:sp>
      <p:pic>
        <p:nvPicPr>
          <p:cNvPr id="133" name="Google Shape;133;p24"/>
          <p:cNvPicPr preferRelativeResize="0"/>
          <p:nvPr/>
        </p:nvPicPr>
        <p:blipFill>
          <a:blip r:embed="rId3">
            <a:alphaModFix/>
          </a:blip>
          <a:stretch>
            <a:fillRect/>
          </a:stretch>
        </p:blipFill>
        <p:spPr>
          <a:xfrm>
            <a:off x="2826375" y="2229425"/>
            <a:ext cx="2899600" cy="27416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25"/>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II. Why health economics?</a:t>
            </a:r>
            <a:endParaRPr/>
          </a:p>
        </p:txBody>
      </p:sp>
      <p:sp>
        <p:nvSpPr>
          <p:cNvPr id="139" name="Google Shape;139;p25"/>
          <p:cNvSpPr txBox="1"/>
          <p:nvPr/>
        </p:nvSpPr>
        <p:spPr>
          <a:xfrm>
            <a:off x="387300" y="820400"/>
            <a:ext cx="8588400" cy="406262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dirty="0">
                <a:solidFill>
                  <a:schemeClr val="dk2"/>
                </a:solidFill>
              </a:rPr>
              <a:t>Unique setting due to a combination of factors: </a:t>
            </a:r>
          </a:p>
          <a:p>
            <a:pPr marL="0" lvl="0" indent="0" algn="l" rtl="0">
              <a:spcBef>
                <a:spcPts val="0"/>
              </a:spcBef>
              <a:spcAft>
                <a:spcPts val="0"/>
              </a:spcAft>
              <a:buNone/>
            </a:pPr>
            <a:endParaRPr sz="1800" dirty="0">
              <a:solidFill>
                <a:schemeClr val="dk2"/>
              </a:solidFill>
            </a:endParaRPr>
          </a:p>
          <a:p>
            <a:pPr marL="457200" lvl="0" indent="-342900" algn="l" rtl="0">
              <a:spcBef>
                <a:spcPts val="0"/>
              </a:spcBef>
              <a:spcAft>
                <a:spcPts val="0"/>
              </a:spcAft>
              <a:buClr>
                <a:schemeClr val="dk2"/>
              </a:buClr>
              <a:buSzPts val="1800"/>
              <a:buAutoNum type="arabicPeriod"/>
            </a:pPr>
            <a:r>
              <a:rPr lang="en" sz="1800" b="1" dirty="0">
                <a:solidFill>
                  <a:schemeClr val="dk2"/>
                </a:solidFill>
              </a:rPr>
              <a:t>Derived Demand → </a:t>
            </a:r>
            <a:r>
              <a:rPr lang="en" sz="1800" dirty="0">
                <a:solidFill>
                  <a:schemeClr val="dk2"/>
                </a:solidFill>
              </a:rPr>
              <a:t>Demand is really for health </a:t>
            </a:r>
            <a:endParaRPr sz="1800" dirty="0">
              <a:solidFill>
                <a:schemeClr val="dk2"/>
              </a:solidFill>
            </a:endParaRPr>
          </a:p>
          <a:p>
            <a:pPr marL="457200" lvl="0" indent="-342900" algn="l" rtl="0">
              <a:spcBef>
                <a:spcPts val="0"/>
              </a:spcBef>
              <a:spcAft>
                <a:spcPts val="0"/>
              </a:spcAft>
              <a:buClr>
                <a:schemeClr val="dk2"/>
              </a:buClr>
              <a:buSzPts val="1800"/>
              <a:buAutoNum type="arabicPeriod"/>
            </a:pPr>
            <a:r>
              <a:rPr lang="en" sz="1800" b="1" dirty="0">
                <a:solidFill>
                  <a:schemeClr val="dk2"/>
                </a:solidFill>
              </a:rPr>
              <a:t>Insurance</a:t>
            </a:r>
            <a:r>
              <a:rPr lang="en" sz="1800" dirty="0">
                <a:solidFill>
                  <a:schemeClr val="dk2"/>
                </a:solidFill>
              </a:rPr>
              <a:t> → prices are not directly felt by consumers, about half of healthcare spending was paid for out of pocket (</a:t>
            </a:r>
            <a:r>
              <a:rPr lang="en" sz="1800" u="sng" dirty="0">
                <a:solidFill>
                  <a:schemeClr val="hlink"/>
                </a:solidFill>
                <a:hlinkClick r:id="rId3"/>
              </a:rPr>
              <a:t>cms.gov</a:t>
            </a:r>
            <a:r>
              <a:rPr lang="en" sz="1800" dirty="0">
                <a:solidFill>
                  <a:schemeClr val="dk2"/>
                </a:solidFill>
              </a:rPr>
              <a:t>) </a:t>
            </a:r>
            <a:endParaRPr sz="1800" dirty="0">
              <a:solidFill>
                <a:schemeClr val="dk2"/>
              </a:solidFill>
            </a:endParaRPr>
          </a:p>
          <a:p>
            <a:pPr marL="457200" lvl="0" indent="-342900" algn="l" rtl="0">
              <a:spcBef>
                <a:spcPts val="0"/>
              </a:spcBef>
              <a:spcAft>
                <a:spcPts val="0"/>
              </a:spcAft>
              <a:buClr>
                <a:schemeClr val="dk2"/>
              </a:buClr>
              <a:buSzPts val="1800"/>
              <a:buAutoNum type="arabicPeriod"/>
            </a:pPr>
            <a:r>
              <a:rPr lang="en" sz="1800" b="1" dirty="0">
                <a:solidFill>
                  <a:schemeClr val="dk2"/>
                </a:solidFill>
              </a:rPr>
              <a:t>Uncertainty </a:t>
            </a:r>
            <a:r>
              <a:rPr lang="en" sz="1800" dirty="0">
                <a:solidFill>
                  <a:schemeClr val="dk2"/>
                </a:solidFill>
              </a:rPr>
              <a:t>→ diagnosis is not always accurate, the “right” treatment may not work, provider quality</a:t>
            </a:r>
            <a:endParaRPr sz="1800" dirty="0">
              <a:solidFill>
                <a:schemeClr val="dk2"/>
              </a:solidFill>
            </a:endParaRPr>
          </a:p>
          <a:p>
            <a:pPr marL="457200" lvl="0" indent="-342900" algn="l" rtl="0">
              <a:spcBef>
                <a:spcPts val="0"/>
              </a:spcBef>
              <a:spcAft>
                <a:spcPts val="0"/>
              </a:spcAft>
              <a:buClr>
                <a:schemeClr val="dk2"/>
              </a:buClr>
              <a:buSzPts val="1800"/>
              <a:buAutoNum type="arabicPeriod"/>
            </a:pPr>
            <a:r>
              <a:rPr lang="en" sz="1800" b="1" dirty="0">
                <a:solidFill>
                  <a:schemeClr val="dk2"/>
                </a:solidFill>
              </a:rPr>
              <a:t>Asymmetric information</a:t>
            </a:r>
            <a:r>
              <a:rPr lang="en" sz="1800" dirty="0">
                <a:solidFill>
                  <a:schemeClr val="dk2"/>
                </a:solidFill>
              </a:rPr>
              <a:t> → physicians-patients, patient-employer-insurance relationships </a:t>
            </a:r>
            <a:endParaRPr sz="1800" dirty="0">
              <a:solidFill>
                <a:schemeClr val="dk2"/>
              </a:solidFill>
            </a:endParaRPr>
          </a:p>
          <a:p>
            <a:pPr marL="457200" lvl="0" indent="-342900" algn="l" rtl="0">
              <a:spcBef>
                <a:spcPts val="0"/>
              </a:spcBef>
              <a:spcAft>
                <a:spcPts val="0"/>
              </a:spcAft>
              <a:buClr>
                <a:schemeClr val="dk2"/>
              </a:buClr>
              <a:buSzPts val="1800"/>
              <a:buAutoNum type="arabicPeriod"/>
            </a:pPr>
            <a:r>
              <a:rPr lang="en" sz="1800" b="1" dirty="0">
                <a:solidFill>
                  <a:schemeClr val="dk2"/>
                </a:solidFill>
              </a:rPr>
              <a:t>Government involvement</a:t>
            </a:r>
            <a:r>
              <a:rPr lang="en" sz="1800" dirty="0">
                <a:solidFill>
                  <a:schemeClr val="dk2"/>
                </a:solidFill>
              </a:rPr>
              <a:t> → education funding, pharmaceutical development, insurance subsidies, drug oversight, provider licensure</a:t>
            </a:r>
            <a:endParaRPr sz="1800" dirty="0">
              <a:solidFill>
                <a:schemeClr val="dk2"/>
              </a:solidFill>
            </a:endParaRPr>
          </a:p>
          <a:p>
            <a:pPr marL="457200" lvl="0" indent="-342900" algn="l" rtl="0">
              <a:spcBef>
                <a:spcPts val="0"/>
              </a:spcBef>
              <a:spcAft>
                <a:spcPts val="0"/>
              </a:spcAft>
              <a:buClr>
                <a:schemeClr val="dk2"/>
              </a:buClr>
              <a:buSzPts val="1800"/>
              <a:buAutoNum type="arabicPeriod"/>
            </a:pPr>
            <a:r>
              <a:rPr lang="en" sz="1800" b="1" dirty="0">
                <a:solidFill>
                  <a:schemeClr val="dk2"/>
                </a:solidFill>
              </a:rPr>
              <a:t>Externalities </a:t>
            </a:r>
            <a:r>
              <a:rPr lang="en" sz="1800" dirty="0">
                <a:solidFill>
                  <a:schemeClr val="dk2"/>
                </a:solidFill>
              </a:rPr>
              <a:t>→ positive or negative (e.g. infectious disease transmission) </a:t>
            </a:r>
            <a:endParaRPr sz="1800" dirty="0">
              <a:solidFill>
                <a:schemeClr val="dk2"/>
              </a:solidFill>
            </a:endParaRPr>
          </a:p>
          <a:p>
            <a:pPr marL="457200" lvl="0" indent="-342900" algn="l" rtl="0">
              <a:spcBef>
                <a:spcPts val="0"/>
              </a:spcBef>
              <a:spcAft>
                <a:spcPts val="0"/>
              </a:spcAft>
              <a:buClr>
                <a:schemeClr val="dk2"/>
              </a:buClr>
              <a:buSzPts val="1800"/>
              <a:buAutoNum type="arabicPeriod"/>
            </a:pPr>
            <a:r>
              <a:rPr lang="en" sz="1800" b="1" dirty="0">
                <a:solidFill>
                  <a:schemeClr val="dk2"/>
                </a:solidFill>
              </a:rPr>
              <a:t>Non-profit firms</a:t>
            </a:r>
            <a:r>
              <a:rPr lang="en" sz="1800" dirty="0">
                <a:solidFill>
                  <a:schemeClr val="dk2"/>
                </a:solidFill>
              </a:rPr>
              <a:t> → many hospitals are non profit</a:t>
            </a:r>
            <a:endParaRPr sz="1800" dirty="0">
              <a:solidFill>
                <a:schemeClr val="dk2"/>
              </a:solidFill>
            </a:endParaRPr>
          </a:p>
          <a:p>
            <a:pPr marL="457200" lvl="0" indent="-342900" algn="l" rtl="0">
              <a:spcBef>
                <a:spcPts val="0"/>
              </a:spcBef>
              <a:spcAft>
                <a:spcPts val="0"/>
              </a:spcAft>
              <a:buClr>
                <a:schemeClr val="dk2"/>
              </a:buClr>
              <a:buSzPts val="1800"/>
              <a:buAutoNum type="arabicPeriod"/>
            </a:pPr>
            <a:r>
              <a:rPr lang="en" sz="1800" b="1" dirty="0">
                <a:solidFill>
                  <a:schemeClr val="dk2"/>
                </a:solidFill>
              </a:rPr>
              <a:t>Equity</a:t>
            </a:r>
            <a:r>
              <a:rPr lang="en" sz="1800" dirty="0">
                <a:solidFill>
                  <a:schemeClr val="dk2"/>
                </a:solidFill>
              </a:rPr>
              <a:t> → health as a “right” not a luxury (positive vs. normative analyses)</a:t>
            </a:r>
            <a:endParaRPr sz="1800" dirty="0">
              <a:solidFill>
                <a:schemeClr val="dk2"/>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6"/>
          <p:cNvSpPr txBox="1">
            <a:spLocks noGrp="1"/>
          </p:cNvSpPr>
          <p:nvPr>
            <p:ph type="title"/>
          </p:nvPr>
        </p:nvSpPr>
        <p:spPr>
          <a:xfrm>
            <a:off x="145335" y="58531"/>
            <a:ext cx="8686965"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600" dirty="0"/>
              <a:t>Insurance Primer: Physicians order, Insurance pays, Patient eats </a:t>
            </a:r>
            <a:endParaRPr sz="2600" dirty="0"/>
          </a:p>
        </p:txBody>
      </p:sp>
      <p:pic>
        <p:nvPicPr>
          <p:cNvPr id="145" name="Google Shape;145;p26"/>
          <p:cNvPicPr preferRelativeResize="0"/>
          <p:nvPr/>
        </p:nvPicPr>
        <p:blipFill>
          <a:blip r:embed="rId3">
            <a:alphaModFix/>
          </a:blip>
          <a:stretch>
            <a:fillRect/>
          </a:stretch>
        </p:blipFill>
        <p:spPr>
          <a:xfrm>
            <a:off x="2020200" y="1422450"/>
            <a:ext cx="4570275" cy="30468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27"/>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Why health economics?</a:t>
            </a:r>
            <a:endParaRPr/>
          </a:p>
        </p:txBody>
      </p:sp>
      <p:sp>
        <p:nvSpPr>
          <p:cNvPr id="151" name="Google Shape;151;p27"/>
          <p:cNvSpPr txBox="1"/>
          <p:nvPr/>
        </p:nvSpPr>
        <p:spPr>
          <a:xfrm>
            <a:off x="387300" y="1017725"/>
            <a:ext cx="8369400" cy="1015800"/>
          </a:xfrm>
          <a:prstGeom prst="rect">
            <a:avLst/>
          </a:prstGeom>
          <a:noFill/>
          <a:ln>
            <a:noFill/>
          </a:ln>
        </p:spPr>
        <p:txBody>
          <a:bodyPr spcFirstLastPara="1" wrap="square" lIns="91425" tIns="91425" rIns="91425" bIns="91425" anchor="t" anchorCtr="0">
            <a:spAutoFit/>
          </a:bodyPr>
          <a:lstStyle/>
          <a:p>
            <a:pPr marL="457200" lvl="0" indent="-342900" algn="l" rtl="0">
              <a:spcBef>
                <a:spcPts val="0"/>
              </a:spcBef>
              <a:spcAft>
                <a:spcPts val="0"/>
              </a:spcAft>
              <a:buClr>
                <a:schemeClr val="dk2"/>
              </a:buClr>
              <a:buSzPts val="1800"/>
              <a:buChar char="●"/>
            </a:pPr>
            <a:r>
              <a:rPr lang="en" sz="1800">
                <a:solidFill>
                  <a:schemeClr val="dk2"/>
                </a:solidFill>
              </a:rPr>
              <a:t>US healthcare spending reached 5.3 Trillion USD (18% of GDP) in 2024 (</a:t>
            </a:r>
            <a:r>
              <a:rPr lang="en" sz="1800" u="sng">
                <a:solidFill>
                  <a:schemeClr val="hlink"/>
                </a:solidFill>
                <a:hlinkClick r:id="rId3"/>
              </a:rPr>
              <a:t>cms.gov</a:t>
            </a:r>
            <a:r>
              <a:rPr lang="en" sz="1800">
                <a:solidFill>
                  <a:schemeClr val="dk2"/>
                </a:solidFill>
              </a:rPr>
              <a:t>) </a:t>
            </a:r>
            <a:endParaRPr sz="1800">
              <a:solidFill>
                <a:schemeClr val="dk2"/>
              </a:solidFill>
            </a:endParaRPr>
          </a:p>
          <a:p>
            <a:pPr marL="457200" lvl="0" indent="-342900" algn="l" rtl="0">
              <a:spcBef>
                <a:spcPts val="0"/>
              </a:spcBef>
              <a:spcAft>
                <a:spcPts val="0"/>
              </a:spcAft>
              <a:buClr>
                <a:schemeClr val="dk2"/>
              </a:buClr>
              <a:buSzPts val="1800"/>
              <a:buChar char="●"/>
            </a:pPr>
            <a:r>
              <a:rPr lang="en" sz="1800">
                <a:solidFill>
                  <a:schemeClr val="dk2"/>
                </a:solidFill>
              </a:rPr>
              <a:t>Per capita spending was over $13,000 per year in 2023</a:t>
            </a:r>
            <a:endParaRPr sz="1800">
              <a:solidFill>
                <a:schemeClr val="dk2"/>
              </a:solidFill>
            </a:endParaRPr>
          </a:p>
        </p:txBody>
      </p:sp>
      <p:pic>
        <p:nvPicPr>
          <p:cNvPr id="152" name="Google Shape;152;p27"/>
          <p:cNvPicPr preferRelativeResize="0"/>
          <p:nvPr/>
        </p:nvPicPr>
        <p:blipFill>
          <a:blip r:embed="rId4">
            <a:alphaModFix/>
          </a:blip>
          <a:stretch>
            <a:fillRect/>
          </a:stretch>
        </p:blipFill>
        <p:spPr>
          <a:xfrm>
            <a:off x="2004998" y="2033525"/>
            <a:ext cx="4412626" cy="29484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28"/>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So, was it worth it? </a:t>
            </a:r>
            <a:endParaRPr/>
          </a:p>
        </p:txBody>
      </p:sp>
      <p:sp>
        <p:nvSpPr>
          <p:cNvPr id="158" name="Google Shape;158;p28"/>
          <p:cNvSpPr txBox="1"/>
          <p:nvPr/>
        </p:nvSpPr>
        <p:spPr>
          <a:xfrm>
            <a:off x="387300" y="914779"/>
            <a:ext cx="8369400" cy="738900"/>
          </a:xfrm>
          <a:prstGeom prst="rect">
            <a:avLst/>
          </a:prstGeom>
          <a:noFill/>
          <a:ln>
            <a:noFill/>
          </a:ln>
        </p:spPr>
        <p:txBody>
          <a:bodyPr spcFirstLastPara="1" wrap="square" lIns="91425" tIns="91425" rIns="91425" bIns="91425" anchor="t" anchorCtr="0">
            <a:spAutoFit/>
          </a:bodyPr>
          <a:lstStyle/>
          <a:p>
            <a:pPr marL="457200" lvl="0" indent="-342900" algn="l" rtl="0">
              <a:spcBef>
                <a:spcPts val="0"/>
              </a:spcBef>
              <a:spcAft>
                <a:spcPts val="0"/>
              </a:spcAft>
              <a:buClr>
                <a:schemeClr val="dk2"/>
              </a:buClr>
              <a:buSzPts val="1800"/>
              <a:buChar char="●"/>
            </a:pPr>
            <a:r>
              <a:rPr lang="en" sz="1800" dirty="0">
                <a:solidFill>
                  <a:schemeClr val="dk2"/>
                </a:solidFill>
              </a:rPr>
              <a:t>Investments in early development of new drugs, devices, treatments </a:t>
            </a:r>
            <a:endParaRPr sz="1800" dirty="0">
              <a:solidFill>
                <a:schemeClr val="dk2"/>
              </a:solidFill>
            </a:endParaRPr>
          </a:p>
          <a:p>
            <a:pPr marL="457200" lvl="0" indent="-342900" algn="l" rtl="0">
              <a:spcBef>
                <a:spcPts val="0"/>
              </a:spcBef>
              <a:spcAft>
                <a:spcPts val="0"/>
              </a:spcAft>
              <a:buClr>
                <a:schemeClr val="dk2"/>
              </a:buClr>
              <a:buSzPts val="1800"/>
              <a:buChar char="●"/>
            </a:pPr>
            <a:r>
              <a:rPr lang="en" sz="1800" dirty="0">
                <a:solidFill>
                  <a:schemeClr val="dk2"/>
                </a:solidFill>
              </a:rPr>
              <a:t>Higher health spending in the US than comparable countries (GDP-wise)</a:t>
            </a:r>
            <a:endParaRPr sz="1800" dirty="0">
              <a:solidFill>
                <a:schemeClr val="dk2"/>
              </a:solidFill>
            </a:endParaRPr>
          </a:p>
        </p:txBody>
      </p:sp>
      <p:pic>
        <p:nvPicPr>
          <p:cNvPr id="159" name="Google Shape;159;p28"/>
          <p:cNvPicPr preferRelativeResize="0"/>
          <p:nvPr/>
        </p:nvPicPr>
        <p:blipFill>
          <a:blip r:embed="rId3">
            <a:alphaModFix/>
          </a:blip>
          <a:stretch>
            <a:fillRect/>
          </a:stretch>
        </p:blipFill>
        <p:spPr>
          <a:xfrm>
            <a:off x="2029800" y="1756625"/>
            <a:ext cx="4609985" cy="3082074"/>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29"/>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So, was it worth it? </a:t>
            </a:r>
            <a:endParaRPr/>
          </a:p>
        </p:txBody>
      </p:sp>
      <p:sp>
        <p:nvSpPr>
          <p:cNvPr id="165" name="Google Shape;165;p29"/>
          <p:cNvSpPr txBox="1"/>
          <p:nvPr/>
        </p:nvSpPr>
        <p:spPr>
          <a:xfrm>
            <a:off x="311700" y="963061"/>
            <a:ext cx="8369400" cy="738633"/>
          </a:xfrm>
          <a:prstGeom prst="rect">
            <a:avLst/>
          </a:prstGeom>
          <a:noFill/>
          <a:ln>
            <a:noFill/>
          </a:ln>
        </p:spPr>
        <p:txBody>
          <a:bodyPr spcFirstLastPara="1" wrap="square" lIns="91425" tIns="91425" rIns="91425" bIns="91425" anchor="t" anchorCtr="0">
            <a:spAutoFit/>
          </a:bodyPr>
          <a:lstStyle/>
          <a:p>
            <a:pPr marL="457200" lvl="0" indent="-342900" algn="l" rtl="0">
              <a:spcBef>
                <a:spcPts val="0"/>
              </a:spcBef>
              <a:spcAft>
                <a:spcPts val="0"/>
              </a:spcAft>
              <a:buClr>
                <a:schemeClr val="dk2"/>
              </a:buClr>
              <a:buSzPts val="1800"/>
              <a:buChar char="●"/>
            </a:pPr>
            <a:r>
              <a:rPr lang="en" sz="1800" dirty="0">
                <a:solidFill>
                  <a:schemeClr val="dk2"/>
                </a:solidFill>
              </a:rPr>
              <a:t>Lower life expectancy, higher child mortality in the US vs. comparable country (~192 vs 71 per 100,000), higher maternal mortality </a:t>
            </a:r>
            <a:endParaRPr sz="1800" dirty="0">
              <a:solidFill>
                <a:schemeClr val="dk2"/>
              </a:solidFill>
            </a:endParaRPr>
          </a:p>
        </p:txBody>
      </p:sp>
      <p:pic>
        <p:nvPicPr>
          <p:cNvPr id="166" name="Google Shape;166;p29"/>
          <p:cNvPicPr preferRelativeResize="0"/>
          <p:nvPr/>
        </p:nvPicPr>
        <p:blipFill>
          <a:blip r:embed="rId3">
            <a:alphaModFix/>
          </a:blip>
          <a:stretch>
            <a:fillRect/>
          </a:stretch>
        </p:blipFill>
        <p:spPr>
          <a:xfrm>
            <a:off x="2191258" y="1833689"/>
            <a:ext cx="4212875" cy="2939651"/>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30"/>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What’s the money spent on anyway? </a:t>
            </a:r>
            <a:endParaRPr/>
          </a:p>
        </p:txBody>
      </p:sp>
      <p:pic>
        <p:nvPicPr>
          <p:cNvPr id="172" name="Google Shape;172;p30"/>
          <p:cNvPicPr preferRelativeResize="0"/>
          <p:nvPr/>
        </p:nvPicPr>
        <p:blipFill>
          <a:blip r:embed="rId3">
            <a:alphaModFix/>
          </a:blip>
          <a:stretch>
            <a:fillRect/>
          </a:stretch>
        </p:blipFill>
        <p:spPr>
          <a:xfrm>
            <a:off x="1046650" y="1149225"/>
            <a:ext cx="7050700" cy="3640874"/>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76"/>
        <p:cNvGrpSpPr/>
        <p:nvPr/>
      </p:nvGrpSpPr>
      <p:grpSpPr>
        <a:xfrm>
          <a:off x="0" y="0"/>
          <a:ext cx="0" cy="0"/>
          <a:chOff x="0" y="0"/>
          <a:chExt cx="0" cy="0"/>
        </a:xfrm>
      </p:grpSpPr>
      <p:sp>
        <p:nvSpPr>
          <p:cNvPr id="177" name="Google Shape;177;p31"/>
          <p:cNvSpPr/>
          <p:nvPr/>
        </p:nvSpPr>
        <p:spPr>
          <a:xfrm rot="5400000">
            <a:off x="7365228" y="0"/>
            <a:ext cx="1778700" cy="1778700"/>
          </a:xfrm>
          <a:prstGeom prst="diagStripe">
            <a:avLst>
              <a:gd name="adj" fmla="val 50000"/>
            </a:avLst>
          </a:prstGeom>
          <a:solidFill>
            <a:srgbClr val="EDFA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8" name="Google Shape;178;p31"/>
          <p:cNvSpPr txBox="1"/>
          <p:nvPr/>
        </p:nvSpPr>
        <p:spPr>
          <a:xfrm rot="2700000">
            <a:off x="7215273" y="386217"/>
            <a:ext cx="2501461" cy="583787"/>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b="1">
                <a:solidFill>
                  <a:srgbClr val="198038"/>
                </a:solidFill>
                <a:latin typeface="Inter"/>
                <a:ea typeface="Inter"/>
                <a:cs typeface="Inter"/>
                <a:sym typeface="Inter"/>
              </a:rPr>
              <a:t>Do not edit</a:t>
            </a:r>
            <a:endParaRPr sz="1200" b="1">
              <a:solidFill>
                <a:srgbClr val="198038"/>
              </a:solidFill>
              <a:latin typeface="Inter"/>
              <a:ea typeface="Inter"/>
              <a:cs typeface="Inter"/>
              <a:sym typeface="Inter"/>
            </a:endParaRPr>
          </a:p>
          <a:p>
            <a:pPr marL="0" lvl="0" indent="0" algn="ctr" rtl="0">
              <a:spcBef>
                <a:spcPts val="0"/>
              </a:spcBef>
              <a:spcAft>
                <a:spcPts val="0"/>
              </a:spcAft>
              <a:buNone/>
            </a:pPr>
            <a:r>
              <a:rPr lang="en" sz="1200" u="sng">
                <a:solidFill>
                  <a:srgbClr val="198038"/>
                </a:solidFill>
                <a:latin typeface="Inter"/>
                <a:ea typeface="Inter"/>
                <a:cs typeface="Inter"/>
                <a:sym typeface="Inter"/>
                <a:hlinkClick r:id="rId3">
                  <a:extLst>
                    <a:ext uri="{A12FA001-AC4F-418D-AE19-62706E023703}">
                      <ahyp:hlinkClr xmlns:ahyp="http://schemas.microsoft.com/office/drawing/2018/hyperlinkcolor" val="tx"/>
                    </a:ext>
                  </a:extLst>
                </a:hlinkClick>
              </a:rPr>
              <a:t>How to change the design</a:t>
            </a:r>
            <a:endParaRPr sz="1200">
              <a:solidFill>
                <a:srgbClr val="198038"/>
              </a:solidFill>
              <a:latin typeface="Inter"/>
              <a:ea typeface="Inter"/>
              <a:cs typeface="Inter"/>
              <a:sym typeface="Inter"/>
            </a:endParaRPr>
          </a:p>
        </p:txBody>
      </p:sp>
      <p:pic>
        <p:nvPicPr>
          <p:cNvPr id="179" name="Google Shape;179;p31" descr="poll-type-id">
            <a:hlinkClick r:id="rId4"/>
          </p:cNvPr>
          <p:cNvPicPr preferRelativeResize="0"/>
          <p:nvPr/>
        </p:nvPicPr>
        <p:blipFill>
          <a:blip r:embed="rId5">
            <a:alphaModFix/>
          </a:blip>
          <a:stretch>
            <a:fillRect/>
          </a:stretch>
        </p:blipFill>
        <p:spPr>
          <a:xfrm>
            <a:off x="333520" y="1307027"/>
            <a:ext cx="1778772" cy="1778772"/>
          </a:xfrm>
          <a:prstGeom prst="rect">
            <a:avLst/>
          </a:prstGeom>
          <a:noFill/>
          <a:ln>
            <a:noFill/>
          </a:ln>
        </p:spPr>
      </p:pic>
      <p:sp>
        <p:nvSpPr>
          <p:cNvPr id="180" name="Google Shape;180;p31" descr="title-id"/>
          <p:cNvSpPr txBox="1"/>
          <p:nvPr/>
        </p:nvSpPr>
        <p:spPr>
          <a:xfrm>
            <a:off x="2334638" y="1320628"/>
            <a:ext cx="6364800" cy="1751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700" b="1">
                <a:solidFill>
                  <a:srgbClr val="5B5B5B"/>
                </a:solidFill>
                <a:latin typeface="Inter"/>
                <a:ea typeface="Inter"/>
                <a:cs typeface="Inter"/>
                <a:sym typeface="Inter"/>
              </a:rPr>
              <a:t>Attendance Question: How much do Americans spend per capita on healthcare approximately?  </a:t>
            </a:r>
            <a:endParaRPr sz="2700" b="1">
              <a:solidFill>
                <a:srgbClr val="5B5B5B"/>
              </a:solidFill>
              <a:latin typeface="Inter"/>
              <a:ea typeface="Inter"/>
              <a:cs typeface="Inter"/>
              <a:sym typeface="Inter"/>
            </a:endParaRPr>
          </a:p>
        </p:txBody>
      </p:sp>
      <p:sp>
        <p:nvSpPr>
          <p:cNvPr id="181" name="Google Shape;181;p31"/>
          <p:cNvSpPr/>
          <p:nvPr/>
        </p:nvSpPr>
        <p:spPr>
          <a:xfrm>
            <a:off x="0" y="4365024"/>
            <a:ext cx="9144000" cy="778500"/>
          </a:xfrm>
          <a:prstGeom prst="rect">
            <a:avLst/>
          </a:prstGeom>
          <a:solidFill>
            <a:srgbClr val="19803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2" name="Google Shape;182;p31"/>
          <p:cNvSpPr txBox="1"/>
          <p:nvPr/>
        </p:nvSpPr>
        <p:spPr>
          <a:xfrm>
            <a:off x="555866" y="4365024"/>
            <a:ext cx="6948300" cy="778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a:solidFill>
                  <a:srgbClr val="FFFFFF"/>
                </a:solidFill>
                <a:latin typeface="Inter"/>
                <a:ea typeface="Inter"/>
                <a:cs typeface="Inter"/>
                <a:sym typeface="Inter"/>
              </a:rPr>
              <a:t>Presenting with animations, GIFs or speaker notes? Enable our </a:t>
            </a:r>
            <a:r>
              <a:rPr lang="en" sz="1200" u="sng">
                <a:solidFill>
                  <a:srgbClr val="FFFFFF"/>
                </a:solidFill>
                <a:latin typeface="Inter"/>
                <a:ea typeface="Inter"/>
                <a:cs typeface="Inter"/>
                <a:sym typeface="Inter"/>
                <a:hlinkClick r:id="rId6">
                  <a:extLst>
                    <a:ext uri="{A12FA001-AC4F-418D-AE19-62706E023703}">
                      <ahyp:hlinkClr xmlns:ahyp="http://schemas.microsoft.com/office/drawing/2018/hyperlinkcolor" val="tx"/>
                    </a:ext>
                  </a:extLst>
                </a:hlinkClick>
              </a:rPr>
              <a:t>Chrome extension</a:t>
            </a:r>
            <a:endParaRPr sz="1200">
              <a:solidFill>
                <a:srgbClr val="FFFFFF"/>
              </a:solidFill>
              <a:latin typeface="Inter"/>
              <a:ea typeface="Inter"/>
              <a:cs typeface="Inter"/>
              <a:sym typeface="Inter"/>
            </a:endParaRPr>
          </a:p>
        </p:txBody>
      </p:sp>
      <p:pic>
        <p:nvPicPr>
          <p:cNvPr id="183" name="Google Shape;183;p31"/>
          <p:cNvPicPr preferRelativeResize="0"/>
          <p:nvPr/>
        </p:nvPicPr>
        <p:blipFill>
          <a:blip r:embed="rId7">
            <a:alphaModFix/>
          </a:blip>
          <a:stretch>
            <a:fillRect/>
          </a:stretch>
        </p:blipFill>
        <p:spPr>
          <a:xfrm>
            <a:off x="222347" y="4643089"/>
            <a:ext cx="222347" cy="222347"/>
          </a:xfrm>
          <a:prstGeom prst="rect">
            <a:avLst/>
          </a:prstGeom>
          <a:noFill/>
          <a:ln>
            <a:noFill/>
          </a:ln>
        </p:spPr>
      </p:pic>
      <p:pic>
        <p:nvPicPr>
          <p:cNvPr id="184" name="Google Shape;184;p31" descr="logo-id">
            <a:hlinkClick r:id="rId8"/>
          </p:cNvPr>
          <p:cNvPicPr preferRelativeResize="0"/>
          <p:nvPr/>
        </p:nvPicPr>
        <p:blipFill>
          <a:blip r:embed="rId9">
            <a:alphaModFix/>
          </a:blip>
          <a:stretch>
            <a:fillRect/>
          </a:stretch>
        </p:blipFill>
        <p:spPr>
          <a:xfrm>
            <a:off x="7921094" y="4476329"/>
            <a:ext cx="1111733" cy="555866"/>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32"/>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III. Opportunity cost &amp; scarcity </a:t>
            </a:r>
            <a:endParaRPr/>
          </a:p>
        </p:txBody>
      </p:sp>
      <p:sp>
        <p:nvSpPr>
          <p:cNvPr id="190" name="Google Shape;190;p32"/>
          <p:cNvSpPr txBox="1"/>
          <p:nvPr/>
        </p:nvSpPr>
        <p:spPr>
          <a:xfrm>
            <a:off x="418350" y="1227600"/>
            <a:ext cx="8147400" cy="2955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dirty="0">
                <a:solidFill>
                  <a:schemeClr val="dk2"/>
                </a:solidFill>
              </a:rPr>
              <a:t>Avastin: expensive cancer drug made by Genentech in the US, prescribed with chemotherapy for metastatic colorectal cancer. </a:t>
            </a:r>
            <a:endParaRPr sz="1800" dirty="0">
              <a:solidFill>
                <a:schemeClr val="dk2"/>
              </a:solidFill>
            </a:endParaRPr>
          </a:p>
          <a:p>
            <a:pPr marL="0" lvl="0" indent="0" algn="l" rtl="0">
              <a:spcBef>
                <a:spcPts val="0"/>
              </a:spcBef>
              <a:spcAft>
                <a:spcPts val="0"/>
              </a:spcAft>
              <a:buNone/>
            </a:pPr>
            <a:endParaRPr sz="1800" dirty="0">
              <a:solidFill>
                <a:schemeClr val="dk2"/>
              </a:solidFill>
            </a:endParaRPr>
          </a:p>
          <a:p>
            <a:pPr marL="0" lvl="0" indent="0" algn="l" rtl="0">
              <a:spcBef>
                <a:spcPts val="0"/>
              </a:spcBef>
              <a:spcAft>
                <a:spcPts val="0"/>
              </a:spcAft>
              <a:buNone/>
            </a:pPr>
            <a:r>
              <a:rPr lang="en" sz="1800" dirty="0">
                <a:solidFill>
                  <a:schemeClr val="dk2"/>
                </a:solidFill>
              </a:rPr>
              <a:t>Cost: 70,000 USD per 2-3 week course of treatment </a:t>
            </a:r>
            <a:endParaRPr sz="1800" dirty="0">
              <a:solidFill>
                <a:schemeClr val="dk2"/>
              </a:solidFill>
            </a:endParaRPr>
          </a:p>
          <a:p>
            <a:pPr marL="0" lvl="0" indent="0" algn="l" rtl="0">
              <a:spcBef>
                <a:spcPts val="0"/>
              </a:spcBef>
              <a:spcAft>
                <a:spcPts val="0"/>
              </a:spcAft>
              <a:buNone/>
            </a:pPr>
            <a:r>
              <a:rPr lang="en" sz="1800" dirty="0">
                <a:solidFill>
                  <a:schemeClr val="dk2"/>
                </a:solidFill>
              </a:rPr>
              <a:t>Benefit: additional ~ 10 weeks in overall survival </a:t>
            </a:r>
            <a:endParaRPr sz="1800" dirty="0">
              <a:solidFill>
                <a:schemeClr val="dk2"/>
              </a:solidFill>
            </a:endParaRPr>
          </a:p>
          <a:p>
            <a:pPr marL="0" lvl="0" indent="0" algn="l" rtl="0">
              <a:spcBef>
                <a:spcPts val="0"/>
              </a:spcBef>
              <a:spcAft>
                <a:spcPts val="0"/>
              </a:spcAft>
              <a:buNone/>
            </a:pPr>
            <a:endParaRPr sz="1800" dirty="0">
              <a:solidFill>
                <a:schemeClr val="dk2"/>
              </a:solidFill>
            </a:endParaRPr>
          </a:p>
          <a:p>
            <a:pPr marL="0" lvl="0" indent="0" algn="l" rtl="0">
              <a:spcBef>
                <a:spcPts val="0"/>
              </a:spcBef>
              <a:spcAft>
                <a:spcPts val="0"/>
              </a:spcAft>
              <a:buNone/>
            </a:pPr>
            <a:r>
              <a:rPr lang="en" sz="1800" dirty="0">
                <a:solidFill>
                  <a:schemeClr val="dk2"/>
                </a:solidFill>
              </a:rPr>
              <a:t>Should medicare cover it? </a:t>
            </a:r>
            <a:endParaRPr sz="1800" dirty="0">
              <a:solidFill>
                <a:schemeClr val="dk2"/>
              </a:solidFill>
            </a:endParaRPr>
          </a:p>
          <a:p>
            <a:pPr marL="0" lvl="0" indent="0" algn="l" rtl="0">
              <a:spcBef>
                <a:spcPts val="0"/>
              </a:spcBef>
              <a:spcAft>
                <a:spcPts val="0"/>
              </a:spcAft>
              <a:buNone/>
            </a:pPr>
            <a:r>
              <a:rPr lang="en" sz="1800" dirty="0">
                <a:solidFill>
                  <a:schemeClr val="dk2"/>
                </a:solidFill>
              </a:rPr>
              <a:t>Should taxpayers pay for it? </a:t>
            </a:r>
            <a:endParaRPr sz="1800" dirty="0">
              <a:solidFill>
                <a:schemeClr val="dk2"/>
              </a:solidFill>
            </a:endParaRPr>
          </a:p>
          <a:p>
            <a:pPr marL="0" lvl="0" indent="0" algn="l" rtl="0">
              <a:spcBef>
                <a:spcPts val="0"/>
              </a:spcBef>
              <a:spcAft>
                <a:spcPts val="0"/>
              </a:spcAft>
              <a:buNone/>
            </a:pPr>
            <a:r>
              <a:rPr lang="en" sz="1800" b="1" dirty="0">
                <a:solidFill>
                  <a:schemeClr val="dk2"/>
                </a:solidFill>
              </a:rPr>
              <a:t>What are taxpayers not getting if they pay for this? </a:t>
            </a:r>
            <a:endParaRPr sz="1800" b="1" dirty="0">
              <a:solidFill>
                <a:schemeClr val="dk2"/>
              </a:solidFill>
            </a:endParaRPr>
          </a:p>
          <a:p>
            <a:pPr marL="0" lvl="0" indent="0" algn="l" rtl="0">
              <a:spcBef>
                <a:spcPts val="0"/>
              </a:spcBef>
              <a:spcAft>
                <a:spcPts val="0"/>
              </a:spcAft>
              <a:buNone/>
            </a:pPr>
            <a:r>
              <a:rPr lang="en" sz="1800" dirty="0">
                <a:solidFill>
                  <a:schemeClr val="dk2"/>
                </a:solidFill>
              </a:rPr>
              <a:t>Where do we draw the line? What if the drug cost $200,000?</a:t>
            </a:r>
            <a:endParaRPr sz="1800" dirty="0">
              <a:solidFill>
                <a:schemeClr val="dk2"/>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33"/>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III. Opportunity cost &amp; scarcity </a:t>
            </a:r>
            <a:endParaRPr/>
          </a:p>
        </p:txBody>
      </p:sp>
      <p:sp>
        <p:nvSpPr>
          <p:cNvPr id="196" name="Google Shape;196;p33"/>
          <p:cNvSpPr txBox="1"/>
          <p:nvPr/>
        </p:nvSpPr>
        <p:spPr>
          <a:xfrm>
            <a:off x="418350" y="1227600"/>
            <a:ext cx="8147400" cy="2955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dirty="0">
                <a:solidFill>
                  <a:schemeClr val="dk2"/>
                </a:solidFill>
              </a:rPr>
              <a:t>Sovaldi: expensive drug made by Gilead in the US, prescribed for the cure of hepatitis C. </a:t>
            </a:r>
            <a:endParaRPr sz="1800" dirty="0">
              <a:solidFill>
                <a:schemeClr val="dk2"/>
              </a:solidFill>
            </a:endParaRPr>
          </a:p>
          <a:p>
            <a:pPr marL="0" lvl="0" indent="0" algn="l" rtl="0">
              <a:spcBef>
                <a:spcPts val="0"/>
              </a:spcBef>
              <a:spcAft>
                <a:spcPts val="0"/>
              </a:spcAft>
              <a:buNone/>
            </a:pPr>
            <a:endParaRPr sz="1800" dirty="0">
              <a:solidFill>
                <a:schemeClr val="dk2"/>
              </a:solidFill>
            </a:endParaRPr>
          </a:p>
          <a:p>
            <a:pPr marL="0" lvl="0" indent="0" algn="l" rtl="0">
              <a:spcBef>
                <a:spcPts val="0"/>
              </a:spcBef>
              <a:spcAft>
                <a:spcPts val="0"/>
              </a:spcAft>
              <a:buNone/>
            </a:pPr>
            <a:r>
              <a:rPr lang="en" sz="1800" dirty="0">
                <a:solidFill>
                  <a:schemeClr val="dk2"/>
                </a:solidFill>
              </a:rPr>
              <a:t>Cost: 90,000 USD per treatment </a:t>
            </a:r>
            <a:endParaRPr sz="1800" dirty="0">
              <a:solidFill>
                <a:schemeClr val="dk2"/>
              </a:solidFill>
            </a:endParaRPr>
          </a:p>
          <a:p>
            <a:pPr marL="0" lvl="0" indent="0" algn="l" rtl="0">
              <a:spcBef>
                <a:spcPts val="0"/>
              </a:spcBef>
              <a:spcAft>
                <a:spcPts val="0"/>
              </a:spcAft>
              <a:buNone/>
            </a:pPr>
            <a:r>
              <a:rPr lang="en" sz="1800" dirty="0">
                <a:solidFill>
                  <a:schemeClr val="dk2"/>
                </a:solidFill>
              </a:rPr>
              <a:t>Benefit: cure, no need for continuous treatment </a:t>
            </a:r>
            <a:endParaRPr sz="1800" dirty="0">
              <a:solidFill>
                <a:schemeClr val="dk2"/>
              </a:solidFill>
            </a:endParaRPr>
          </a:p>
          <a:p>
            <a:pPr marL="0" lvl="0" indent="0" algn="l" rtl="0">
              <a:spcBef>
                <a:spcPts val="0"/>
              </a:spcBef>
              <a:spcAft>
                <a:spcPts val="0"/>
              </a:spcAft>
              <a:buNone/>
            </a:pPr>
            <a:endParaRPr sz="1800" dirty="0">
              <a:solidFill>
                <a:schemeClr val="dk2"/>
              </a:solidFill>
            </a:endParaRPr>
          </a:p>
          <a:p>
            <a:pPr marL="0" lvl="0" indent="0" algn="l" rtl="0">
              <a:spcBef>
                <a:spcPts val="0"/>
              </a:spcBef>
              <a:spcAft>
                <a:spcPts val="0"/>
              </a:spcAft>
              <a:buNone/>
            </a:pPr>
            <a:r>
              <a:rPr lang="en" sz="1800" dirty="0">
                <a:solidFill>
                  <a:schemeClr val="dk2"/>
                </a:solidFill>
              </a:rPr>
              <a:t>Should insurance cover it? </a:t>
            </a:r>
            <a:endParaRPr sz="1800" dirty="0">
              <a:solidFill>
                <a:schemeClr val="dk2"/>
              </a:solidFill>
            </a:endParaRPr>
          </a:p>
          <a:p>
            <a:pPr marL="0" lvl="0" indent="0" algn="l" rtl="0">
              <a:spcBef>
                <a:spcPts val="0"/>
              </a:spcBef>
              <a:spcAft>
                <a:spcPts val="0"/>
              </a:spcAft>
              <a:buNone/>
            </a:pPr>
            <a:r>
              <a:rPr lang="en" sz="1800" dirty="0">
                <a:solidFill>
                  <a:schemeClr val="dk2"/>
                </a:solidFill>
              </a:rPr>
              <a:t>Should taxpayers pay for it? </a:t>
            </a:r>
            <a:endParaRPr sz="1800" dirty="0">
              <a:solidFill>
                <a:schemeClr val="dk2"/>
              </a:solidFill>
            </a:endParaRPr>
          </a:p>
          <a:p>
            <a:pPr marL="0" lvl="0" indent="0" algn="l" rtl="0">
              <a:spcBef>
                <a:spcPts val="0"/>
              </a:spcBef>
              <a:spcAft>
                <a:spcPts val="0"/>
              </a:spcAft>
              <a:buNone/>
            </a:pPr>
            <a:r>
              <a:rPr lang="en" sz="1800" b="1" dirty="0">
                <a:solidFill>
                  <a:schemeClr val="dk2"/>
                </a:solidFill>
              </a:rPr>
              <a:t>What are taxpayers not getting if they pay for this? </a:t>
            </a:r>
            <a:endParaRPr sz="1800" b="1" dirty="0">
              <a:solidFill>
                <a:schemeClr val="dk2"/>
              </a:solidFill>
            </a:endParaRPr>
          </a:p>
          <a:p>
            <a:pPr marL="0" lvl="0" indent="0" algn="l" rtl="0">
              <a:spcBef>
                <a:spcPts val="0"/>
              </a:spcBef>
              <a:spcAft>
                <a:spcPts val="0"/>
              </a:spcAft>
              <a:buNone/>
            </a:pPr>
            <a:r>
              <a:rPr lang="en" sz="1800" dirty="0">
                <a:solidFill>
                  <a:schemeClr val="dk2"/>
                </a:solidFill>
              </a:rPr>
              <a:t>Where do we draw the line? What if the drug cost $200,000?</a:t>
            </a:r>
            <a:endParaRPr sz="1800" dirty="0">
              <a:solidFill>
                <a:schemeClr val="dk2"/>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34"/>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III. Opportunity cost &amp; scarcity </a:t>
            </a:r>
            <a:endParaRPr/>
          </a:p>
        </p:txBody>
      </p:sp>
      <p:pic>
        <p:nvPicPr>
          <p:cNvPr id="202" name="Google Shape;202;p34"/>
          <p:cNvPicPr preferRelativeResize="0"/>
          <p:nvPr/>
        </p:nvPicPr>
        <p:blipFill rotWithShape="1">
          <a:blip r:embed="rId3">
            <a:alphaModFix/>
          </a:blip>
          <a:srcRect l="12383" t="8682" r="12518" b="8938"/>
          <a:stretch/>
        </p:blipFill>
        <p:spPr>
          <a:xfrm>
            <a:off x="4220944" y="1208963"/>
            <a:ext cx="4066801" cy="3147824"/>
          </a:xfrm>
          <a:prstGeom prst="rect">
            <a:avLst/>
          </a:prstGeom>
          <a:noFill/>
          <a:ln>
            <a:noFill/>
          </a:ln>
        </p:spPr>
      </p:pic>
      <p:sp>
        <p:nvSpPr>
          <p:cNvPr id="203" name="Google Shape;203;p34"/>
          <p:cNvSpPr txBox="1"/>
          <p:nvPr/>
        </p:nvSpPr>
        <p:spPr>
          <a:xfrm>
            <a:off x="311700" y="1033350"/>
            <a:ext cx="3641700" cy="32355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n" sz="1800" dirty="0">
                <a:solidFill>
                  <a:schemeClr val="dk2"/>
                </a:solidFill>
              </a:rPr>
              <a:t>Opportunity cost is the value of the best alternative that must be forgone when the action is taken. </a:t>
            </a:r>
            <a:endParaRPr sz="1800" dirty="0">
              <a:solidFill>
                <a:schemeClr val="dk2"/>
              </a:solidFill>
            </a:endParaRPr>
          </a:p>
          <a:p>
            <a:pPr marL="457200" lvl="0" indent="-342900" algn="l" rtl="0">
              <a:lnSpc>
                <a:spcPct val="115000"/>
              </a:lnSpc>
              <a:spcBef>
                <a:spcPts val="1200"/>
              </a:spcBef>
              <a:spcAft>
                <a:spcPts val="0"/>
              </a:spcAft>
              <a:buClr>
                <a:schemeClr val="dk2"/>
              </a:buClr>
              <a:buSzPts val="1800"/>
              <a:buChar char="-"/>
            </a:pPr>
            <a:r>
              <a:rPr lang="en" sz="1800" dirty="0">
                <a:solidFill>
                  <a:schemeClr val="dk2"/>
                </a:solidFill>
              </a:rPr>
              <a:t>Cost can be price </a:t>
            </a:r>
            <a:endParaRPr sz="1800" dirty="0">
              <a:solidFill>
                <a:schemeClr val="dk2"/>
              </a:solidFill>
            </a:endParaRPr>
          </a:p>
          <a:p>
            <a:pPr marL="457200" lvl="0" indent="-342900" algn="l" rtl="0">
              <a:lnSpc>
                <a:spcPct val="115000"/>
              </a:lnSpc>
              <a:spcBef>
                <a:spcPts val="0"/>
              </a:spcBef>
              <a:spcAft>
                <a:spcPts val="0"/>
              </a:spcAft>
              <a:buClr>
                <a:schemeClr val="dk2"/>
              </a:buClr>
              <a:buSzPts val="1800"/>
              <a:buChar char="-"/>
            </a:pPr>
            <a:r>
              <a:rPr lang="en" sz="1800" dirty="0">
                <a:solidFill>
                  <a:schemeClr val="dk2"/>
                </a:solidFill>
              </a:rPr>
              <a:t>… but encompasses all value</a:t>
            </a:r>
            <a:endParaRPr sz="1800" dirty="0">
              <a:solidFill>
                <a:schemeClr val="dk2"/>
              </a:solidFill>
            </a:endParaRPr>
          </a:p>
          <a:p>
            <a:pPr marL="457200" lvl="0" indent="-342900" algn="l" rtl="0">
              <a:lnSpc>
                <a:spcPct val="115000"/>
              </a:lnSpc>
              <a:spcBef>
                <a:spcPts val="0"/>
              </a:spcBef>
              <a:spcAft>
                <a:spcPts val="0"/>
              </a:spcAft>
              <a:buClr>
                <a:schemeClr val="dk2"/>
              </a:buClr>
              <a:buSzPts val="1800"/>
              <a:buChar char="-"/>
            </a:pPr>
            <a:r>
              <a:rPr lang="en" sz="1800" dirty="0">
                <a:solidFill>
                  <a:schemeClr val="dk2"/>
                </a:solidFill>
              </a:rPr>
              <a:t>“No free lunch”</a:t>
            </a:r>
            <a:endParaRPr sz="1800" dirty="0">
              <a:solidFill>
                <a:schemeClr val="dk2"/>
              </a:solidFill>
            </a:endParaRPr>
          </a:p>
          <a:p>
            <a:pPr marL="0" lvl="0" indent="0" algn="l" rtl="0">
              <a:spcBef>
                <a:spcPts val="1200"/>
              </a:spcBef>
              <a:spcAft>
                <a:spcPts val="0"/>
              </a:spcAft>
              <a:buNone/>
            </a:pPr>
            <a:endParaRPr sz="1800" dirty="0">
              <a:solidFill>
                <a:schemeClr val="dk2"/>
              </a:solidFill>
            </a:endParaRPr>
          </a:p>
          <a:p>
            <a:pPr marL="0" lvl="0" indent="0" algn="l" rtl="0">
              <a:spcBef>
                <a:spcPts val="0"/>
              </a:spcBef>
              <a:spcAft>
                <a:spcPts val="0"/>
              </a:spcAft>
              <a:buNone/>
            </a:pPr>
            <a:r>
              <a:rPr lang="en" sz="1800" dirty="0">
                <a:solidFill>
                  <a:schemeClr val="dk2"/>
                </a:solidFill>
              </a:rPr>
              <a:t>PPF is a formalization of opportunity cost. </a:t>
            </a:r>
            <a:endParaRPr sz="1800" dirty="0">
              <a:solidFill>
                <a:schemeClr val="dk2"/>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35"/>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III. Opportunity cost &amp; scarcity </a:t>
            </a:r>
            <a:endParaRPr/>
          </a:p>
        </p:txBody>
      </p:sp>
      <p:sp>
        <p:nvSpPr>
          <p:cNvPr id="209" name="Google Shape;209;p35"/>
          <p:cNvSpPr txBox="1"/>
          <p:nvPr/>
        </p:nvSpPr>
        <p:spPr>
          <a:xfrm>
            <a:off x="425200" y="1275575"/>
            <a:ext cx="83325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dirty="0">
                <a:solidFill>
                  <a:schemeClr val="dk2"/>
                </a:solidFill>
              </a:rPr>
              <a:t>Talk to your neighbor: What was the opportunity cost of your degree? </a:t>
            </a:r>
            <a:endParaRPr sz="1800" dirty="0">
              <a:solidFill>
                <a:schemeClr val="dk2"/>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36"/>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IV. Thinking on the margin </a:t>
            </a:r>
            <a:endParaRPr/>
          </a:p>
        </p:txBody>
      </p:sp>
      <p:sp>
        <p:nvSpPr>
          <p:cNvPr id="215" name="Google Shape;215;p36"/>
          <p:cNvSpPr txBox="1"/>
          <p:nvPr/>
        </p:nvSpPr>
        <p:spPr>
          <a:xfrm>
            <a:off x="425200" y="1275575"/>
            <a:ext cx="8332500" cy="184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2"/>
                </a:solidFill>
              </a:rPr>
              <a:t>“What does the additional increase in consumption mean for the cost”?</a:t>
            </a:r>
            <a:endParaRPr sz="1800">
              <a:solidFill>
                <a:schemeClr val="dk2"/>
              </a:solidFill>
            </a:endParaRPr>
          </a:p>
          <a:p>
            <a:pPr marL="0" lvl="0" indent="0" algn="l" rtl="0">
              <a:spcBef>
                <a:spcPts val="0"/>
              </a:spcBef>
              <a:spcAft>
                <a:spcPts val="0"/>
              </a:spcAft>
              <a:buNone/>
            </a:pPr>
            <a:endParaRPr sz="1800">
              <a:solidFill>
                <a:schemeClr val="dk2"/>
              </a:solidFill>
            </a:endParaRPr>
          </a:p>
          <a:p>
            <a:pPr marL="0" lvl="0" indent="0" algn="l" rtl="0">
              <a:spcBef>
                <a:spcPts val="0"/>
              </a:spcBef>
              <a:spcAft>
                <a:spcPts val="0"/>
              </a:spcAft>
              <a:buNone/>
            </a:pPr>
            <a:r>
              <a:rPr lang="en" sz="1800">
                <a:solidFill>
                  <a:schemeClr val="dk2"/>
                </a:solidFill>
              </a:rPr>
              <a:t>→ Will your 4th friend fit in the uber? </a:t>
            </a:r>
            <a:endParaRPr sz="1800">
              <a:solidFill>
                <a:schemeClr val="dk2"/>
              </a:solidFill>
            </a:endParaRPr>
          </a:p>
          <a:p>
            <a:pPr marL="0" lvl="0" indent="0" algn="l" rtl="0">
              <a:spcBef>
                <a:spcPts val="0"/>
              </a:spcBef>
              <a:spcAft>
                <a:spcPts val="0"/>
              </a:spcAft>
              <a:buNone/>
            </a:pPr>
            <a:r>
              <a:rPr lang="en" sz="1800">
                <a:solidFill>
                  <a:schemeClr val="dk2"/>
                </a:solidFill>
              </a:rPr>
              <a:t>→ 3rd kid → 2 taxi vs. 1 taxi family </a:t>
            </a:r>
            <a:endParaRPr sz="1800">
              <a:solidFill>
                <a:schemeClr val="dk2"/>
              </a:solidFill>
            </a:endParaRPr>
          </a:p>
          <a:p>
            <a:pPr marL="0" lvl="0" indent="0" algn="l" rtl="0">
              <a:spcBef>
                <a:spcPts val="0"/>
              </a:spcBef>
              <a:spcAft>
                <a:spcPts val="0"/>
              </a:spcAft>
              <a:buNone/>
            </a:pPr>
            <a:r>
              <a:rPr lang="en" sz="1800">
                <a:solidFill>
                  <a:schemeClr val="dk2"/>
                </a:solidFill>
              </a:rPr>
              <a:t>→ extra 30 min of studying vs. going to sleep </a:t>
            </a:r>
            <a:endParaRPr sz="1800">
              <a:solidFill>
                <a:schemeClr val="dk2"/>
              </a:solidFill>
            </a:endParaRPr>
          </a:p>
          <a:p>
            <a:pPr marL="0" lvl="0" indent="0" algn="l" rtl="0">
              <a:spcBef>
                <a:spcPts val="0"/>
              </a:spcBef>
              <a:spcAft>
                <a:spcPts val="0"/>
              </a:spcAft>
              <a:buNone/>
            </a:pPr>
            <a:endParaRPr sz="1800">
              <a:solidFill>
                <a:schemeClr val="dk2"/>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p37"/>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V. Rational thinking </a:t>
            </a:r>
            <a:endParaRPr/>
          </a:p>
        </p:txBody>
      </p:sp>
      <p:sp>
        <p:nvSpPr>
          <p:cNvPr id="221" name="Google Shape;221;p37"/>
          <p:cNvSpPr txBox="1"/>
          <p:nvPr/>
        </p:nvSpPr>
        <p:spPr>
          <a:xfrm>
            <a:off x="425200" y="1275575"/>
            <a:ext cx="8332500" cy="3153141"/>
          </a:xfrm>
          <a:prstGeom prst="rect">
            <a:avLst/>
          </a:prstGeom>
          <a:noFill/>
          <a:ln>
            <a:noFill/>
          </a:ln>
        </p:spPr>
        <p:txBody>
          <a:bodyPr spcFirstLastPara="1" wrap="square" lIns="91425" tIns="91425" rIns="91425" bIns="91425" anchor="t" anchorCtr="0">
            <a:spAutoFit/>
          </a:bodyPr>
          <a:lstStyle/>
          <a:p>
            <a:pPr marL="114300" lvl="0" algn="l" rtl="0">
              <a:lnSpc>
                <a:spcPct val="115000"/>
              </a:lnSpc>
              <a:spcBef>
                <a:spcPts val="1200"/>
              </a:spcBef>
              <a:spcAft>
                <a:spcPts val="0"/>
              </a:spcAft>
              <a:buClr>
                <a:schemeClr val="dk2"/>
              </a:buClr>
              <a:buSzPts val="1800"/>
            </a:pPr>
            <a:r>
              <a:rPr lang="en" dirty="0">
                <a:solidFill>
                  <a:schemeClr val="dk2"/>
                </a:solidFill>
              </a:rPr>
              <a:t>We assume that individuals abide by the following principles when making decisions: </a:t>
            </a:r>
            <a:endParaRPr lang="en" sz="1800" dirty="0">
              <a:solidFill>
                <a:schemeClr val="dk2"/>
              </a:solidFill>
            </a:endParaRPr>
          </a:p>
          <a:p>
            <a:pPr marL="457200" lvl="0" indent="-342900" algn="l" rtl="0">
              <a:lnSpc>
                <a:spcPct val="115000"/>
              </a:lnSpc>
              <a:spcBef>
                <a:spcPts val="1200"/>
              </a:spcBef>
              <a:spcAft>
                <a:spcPts val="0"/>
              </a:spcAft>
              <a:buClr>
                <a:schemeClr val="dk2"/>
              </a:buClr>
              <a:buSzPts val="1800"/>
              <a:buChar char="●"/>
            </a:pPr>
            <a:r>
              <a:rPr lang="en" sz="1800" dirty="0">
                <a:solidFill>
                  <a:schemeClr val="dk2"/>
                </a:solidFill>
              </a:rPr>
              <a:t>Completeness: there is always a preference </a:t>
            </a:r>
            <a:endParaRPr sz="1800" dirty="0">
              <a:solidFill>
                <a:schemeClr val="dk2"/>
              </a:solidFill>
            </a:endParaRPr>
          </a:p>
          <a:p>
            <a:pPr marL="457200" lvl="0" indent="-342900" algn="l" rtl="0">
              <a:lnSpc>
                <a:spcPct val="115000"/>
              </a:lnSpc>
              <a:spcBef>
                <a:spcPts val="0"/>
              </a:spcBef>
              <a:spcAft>
                <a:spcPts val="0"/>
              </a:spcAft>
              <a:buClr>
                <a:schemeClr val="dk2"/>
              </a:buClr>
              <a:buSzPts val="1800"/>
              <a:buChar char="●"/>
            </a:pPr>
            <a:r>
              <a:rPr lang="en" sz="1800" dirty="0">
                <a:solidFill>
                  <a:schemeClr val="dk2"/>
                </a:solidFill>
              </a:rPr>
              <a:t>Transitivity: A&gt;B, B&gt;C </a:t>
            </a:r>
            <a:r>
              <a:rPr lang="en" sz="1800" dirty="0">
                <a:solidFill>
                  <a:schemeClr val="dk2"/>
                </a:solidFill>
                <a:sym typeface="Wingdings" panose="05000000000000000000" pitchFamily="2" charset="2"/>
              </a:rPr>
              <a:t> A&gt;C</a:t>
            </a:r>
            <a:endParaRPr sz="1800" dirty="0">
              <a:solidFill>
                <a:schemeClr val="dk2"/>
              </a:solidFill>
            </a:endParaRPr>
          </a:p>
          <a:p>
            <a:pPr marL="457200" lvl="0" indent="-342900" algn="l" rtl="0">
              <a:lnSpc>
                <a:spcPct val="115000"/>
              </a:lnSpc>
              <a:spcBef>
                <a:spcPts val="0"/>
              </a:spcBef>
              <a:spcAft>
                <a:spcPts val="0"/>
              </a:spcAft>
              <a:buClr>
                <a:schemeClr val="dk2"/>
              </a:buClr>
              <a:buSzPts val="1800"/>
              <a:buChar char="●"/>
            </a:pPr>
            <a:r>
              <a:rPr lang="en" sz="1800" dirty="0">
                <a:solidFill>
                  <a:schemeClr val="dk2"/>
                </a:solidFill>
              </a:rPr>
              <a:t>Responding to Incentives: allocation of resources follows value maximization </a:t>
            </a:r>
            <a:endParaRPr sz="1800" dirty="0">
              <a:solidFill>
                <a:schemeClr val="dk2"/>
              </a:solidFill>
            </a:endParaRPr>
          </a:p>
          <a:p>
            <a:pPr marL="457200" lvl="0" indent="-342900" algn="l" rtl="0">
              <a:lnSpc>
                <a:spcPct val="115000"/>
              </a:lnSpc>
              <a:spcBef>
                <a:spcPts val="0"/>
              </a:spcBef>
              <a:spcAft>
                <a:spcPts val="0"/>
              </a:spcAft>
              <a:buClr>
                <a:schemeClr val="dk2"/>
              </a:buClr>
              <a:buSzPts val="1800"/>
              <a:buChar char="●"/>
            </a:pPr>
            <a:r>
              <a:rPr lang="en" sz="1800" dirty="0">
                <a:solidFill>
                  <a:schemeClr val="dk2"/>
                </a:solidFill>
              </a:rPr>
              <a:t>No Requirement of Perfect Information</a:t>
            </a:r>
            <a:endParaRPr sz="1800" dirty="0">
              <a:solidFill>
                <a:schemeClr val="dk2"/>
              </a:solidFill>
            </a:endParaRPr>
          </a:p>
          <a:p>
            <a:pPr marL="457200" lvl="0" indent="-342900" algn="l" rtl="0">
              <a:lnSpc>
                <a:spcPct val="115000"/>
              </a:lnSpc>
              <a:spcBef>
                <a:spcPts val="0"/>
              </a:spcBef>
              <a:spcAft>
                <a:spcPts val="0"/>
              </a:spcAft>
              <a:buClr>
                <a:schemeClr val="dk2"/>
              </a:buClr>
              <a:buSzPts val="1800"/>
              <a:buChar char="●"/>
            </a:pPr>
            <a:r>
              <a:rPr lang="en" sz="1800" dirty="0">
                <a:solidFill>
                  <a:schemeClr val="dk2"/>
                </a:solidFill>
              </a:rPr>
              <a:t>Room for Mistakes, but mistakes don’t dominate behavior</a:t>
            </a:r>
            <a:endParaRPr sz="1800" dirty="0">
              <a:solidFill>
                <a:schemeClr val="dk2"/>
              </a:solidFill>
            </a:endParaRPr>
          </a:p>
          <a:p>
            <a:pPr marL="0" lvl="0" indent="0" algn="l" rtl="0">
              <a:spcBef>
                <a:spcPts val="1200"/>
              </a:spcBef>
              <a:spcAft>
                <a:spcPts val="0"/>
              </a:spcAft>
              <a:buNone/>
            </a:pPr>
            <a:endParaRPr sz="1800" dirty="0">
              <a:solidFill>
                <a:schemeClr val="dk2"/>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6" name="Google Shape;226;p38"/>
          <p:cNvSpPr txBox="1">
            <a:spLocks noGrp="1"/>
          </p:cNvSpPr>
          <p:nvPr>
            <p:ph type="title"/>
          </p:nvPr>
        </p:nvSpPr>
        <p:spPr>
          <a:xfrm>
            <a:off x="102946" y="58531"/>
            <a:ext cx="8729354"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2600" dirty="0"/>
              <a:t>Closing thoughts: not all economists see things the same way </a:t>
            </a:r>
            <a:endParaRPr sz="2600" dirty="0"/>
          </a:p>
        </p:txBody>
      </p:sp>
      <p:sp>
        <p:nvSpPr>
          <p:cNvPr id="2" name="Text Placeholder 1">
            <a:extLst>
              <a:ext uri="{FF2B5EF4-FFF2-40B4-BE49-F238E27FC236}">
                <a16:creationId xmlns:a16="http://schemas.microsoft.com/office/drawing/2014/main" id="{64DFF7FF-C260-05E2-939E-18C804132117}"/>
              </a:ext>
            </a:extLst>
          </p:cNvPr>
          <p:cNvSpPr>
            <a:spLocks noGrp="1"/>
          </p:cNvSpPr>
          <p:nvPr>
            <p:ph type="body" idx="1"/>
          </p:nvPr>
        </p:nvSpPr>
        <p:spPr/>
        <p:txBody>
          <a:bodyPr/>
          <a:lstStyle/>
          <a:p>
            <a:endParaRPr lang="en-US"/>
          </a:p>
        </p:txBody>
      </p:sp>
      <p:sp>
        <p:nvSpPr>
          <p:cNvPr id="227" name="Google Shape;227;p38"/>
          <p:cNvSpPr txBox="1"/>
          <p:nvPr/>
        </p:nvSpPr>
        <p:spPr>
          <a:xfrm>
            <a:off x="461600" y="1017725"/>
            <a:ext cx="8332500" cy="26706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Clr>
                <a:schemeClr val="dk1"/>
              </a:buClr>
              <a:buSzPts val="1100"/>
              <a:buFont typeface="Arial"/>
              <a:buNone/>
            </a:pPr>
            <a:r>
              <a:rPr lang="en" sz="1800">
                <a:solidFill>
                  <a:schemeClr val="dk2"/>
                </a:solidFill>
              </a:rPr>
              <a:t>They may have disagreements on underlying values</a:t>
            </a:r>
            <a:endParaRPr sz="1800">
              <a:solidFill>
                <a:schemeClr val="dk2"/>
              </a:solidFill>
            </a:endParaRPr>
          </a:p>
          <a:p>
            <a:pPr marL="0" lvl="0" indent="0" algn="l" rtl="0">
              <a:lnSpc>
                <a:spcPct val="115000"/>
              </a:lnSpc>
              <a:spcBef>
                <a:spcPts val="1200"/>
              </a:spcBef>
              <a:spcAft>
                <a:spcPts val="0"/>
              </a:spcAft>
              <a:buClr>
                <a:schemeClr val="dk1"/>
              </a:buClr>
              <a:buSzPts val="1100"/>
              <a:buFont typeface="Arial"/>
              <a:buNone/>
            </a:pPr>
            <a:r>
              <a:rPr lang="en" sz="1800">
                <a:solidFill>
                  <a:schemeClr val="dk2"/>
                </a:solidFill>
              </a:rPr>
              <a:t>They may have disagreements on assumptions</a:t>
            </a:r>
            <a:endParaRPr sz="1800">
              <a:solidFill>
                <a:schemeClr val="dk2"/>
              </a:solidFill>
            </a:endParaRPr>
          </a:p>
          <a:p>
            <a:pPr marL="0" lvl="0" indent="0" algn="l" rtl="0">
              <a:lnSpc>
                <a:spcPct val="115000"/>
              </a:lnSpc>
              <a:spcBef>
                <a:spcPts val="1200"/>
              </a:spcBef>
              <a:spcAft>
                <a:spcPts val="0"/>
              </a:spcAft>
              <a:buNone/>
            </a:pPr>
            <a:r>
              <a:rPr lang="en" sz="1800">
                <a:solidFill>
                  <a:schemeClr val="dk2"/>
                </a:solidFill>
              </a:rPr>
              <a:t>They may have disagreements on interpretation of findings and scientific judgments</a:t>
            </a:r>
            <a:endParaRPr sz="1800">
              <a:solidFill>
                <a:schemeClr val="dk2"/>
              </a:solidFill>
            </a:endParaRPr>
          </a:p>
          <a:p>
            <a:pPr marL="0" lvl="0" indent="0" algn="l" rtl="0">
              <a:lnSpc>
                <a:spcPct val="115000"/>
              </a:lnSpc>
              <a:spcBef>
                <a:spcPts val="1200"/>
              </a:spcBef>
              <a:spcAft>
                <a:spcPts val="0"/>
              </a:spcAft>
              <a:buNone/>
            </a:pPr>
            <a:endParaRPr sz="1800">
              <a:solidFill>
                <a:schemeClr val="dk2"/>
              </a:solidFill>
            </a:endParaRPr>
          </a:p>
          <a:p>
            <a:pPr marL="0" lvl="0" indent="0" algn="l" rtl="0">
              <a:lnSpc>
                <a:spcPct val="115000"/>
              </a:lnSpc>
              <a:spcBef>
                <a:spcPts val="1200"/>
              </a:spcBef>
              <a:spcAft>
                <a:spcPts val="1200"/>
              </a:spcAft>
              <a:buNone/>
            </a:pPr>
            <a:r>
              <a:rPr lang="en" sz="1800">
                <a:solidFill>
                  <a:schemeClr val="dk2"/>
                </a:solidFill>
              </a:rPr>
              <a:t>→ They use the same frameworks, but may not get to the same conclusions</a:t>
            </a:r>
            <a:endParaRPr sz="1800">
              <a:solidFill>
                <a:schemeClr val="dk2"/>
              </a:solidFill>
            </a:endParaRPr>
          </a:p>
        </p:txBody>
      </p:sp>
      <p:sp>
        <p:nvSpPr>
          <p:cNvPr id="228" name="Google Shape;228;p38"/>
          <p:cNvSpPr txBox="1"/>
          <p:nvPr/>
        </p:nvSpPr>
        <p:spPr>
          <a:xfrm>
            <a:off x="461600" y="4119775"/>
            <a:ext cx="8013600" cy="738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2"/>
                </a:solidFill>
              </a:rPr>
              <a:t>The goal of this class is to  teach you how to think rigorously about health using a microeconomic framework.</a:t>
            </a:r>
            <a:endParaRPr sz="1800">
              <a:solidFill>
                <a:schemeClr val="dk2"/>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39"/>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Next week </a:t>
            </a:r>
            <a:endParaRPr/>
          </a:p>
        </p:txBody>
      </p:sp>
      <p:sp>
        <p:nvSpPr>
          <p:cNvPr id="234" name="Google Shape;234;p39"/>
          <p:cNvSpPr txBox="1"/>
          <p:nvPr/>
        </p:nvSpPr>
        <p:spPr>
          <a:xfrm>
            <a:off x="461600" y="1017725"/>
            <a:ext cx="8332500" cy="1406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n" sz="1800">
                <a:solidFill>
                  <a:schemeClr val="dk2"/>
                </a:solidFill>
              </a:rPr>
              <a:t>The demand for health care </a:t>
            </a:r>
            <a:endParaRPr sz="1800">
              <a:solidFill>
                <a:schemeClr val="dk2"/>
              </a:solidFill>
            </a:endParaRPr>
          </a:p>
          <a:p>
            <a:pPr marL="0" lvl="0" indent="0" algn="l" rtl="0">
              <a:lnSpc>
                <a:spcPct val="115000"/>
              </a:lnSpc>
              <a:spcBef>
                <a:spcPts val="1200"/>
              </a:spcBef>
              <a:spcAft>
                <a:spcPts val="0"/>
              </a:spcAft>
              <a:buNone/>
            </a:pPr>
            <a:r>
              <a:rPr lang="en" sz="1800">
                <a:solidFill>
                  <a:schemeClr val="dk2"/>
                </a:solidFill>
              </a:rPr>
              <a:t>Readings will be uploaded to canvas after class today </a:t>
            </a:r>
            <a:endParaRPr sz="1800">
              <a:solidFill>
                <a:schemeClr val="dk2"/>
              </a:solidFill>
            </a:endParaRPr>
          </a:p>
          <a:p>
            <a:pPr marL="0" lvl="0" indent="0" algn="l" rtl="0">
              <a:lnSpc>
                <a:spcPct val="115000"/>
              </a:lnSpc>
              <a:spcBef>
                <a:spcPts val="1200"/>
              </a:spcBef>
              <a:spcAft>
                <a:spcPts val="1200"/>
              </a:spcAft>
              <a:buNone/>
            </a:pPr>
            <a:r>
              <a:rPr lang="en" sz="1800">
                <a:solidFill>
                  <a:schemeClr val="dk2"/>
                </a:solidFill>
              </a:rPr>
              <a:t>Problem set 1 will be assigned next week </a:t>
            </a:r>
            <a:endParaRPr sz="1800">
              <a:solidFill>
                <a:schemeClr val="dk2"/>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04659258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Shape 238"/>
        <p:cNvGrpSpPr/>
        <p:nvPr/>
      </p:nvGrpSpPr>
      <p:grpSpPr>
        <a:xfrm>
          <a:off x="0" y="0"/>
          <a:ext cx="0" cy="0"/>
          <a:chOff x="0" y="0"/>
          <a:chExt cx="0" cy="0"/>
        </a:xfrm>
      </p:grpSpPr>
      <p:sp>
        <p:nvSpPr>
          <p:cNvPr id="239" name="Google Shape;239;p40"/>
          <p:cNvSpPr txBox="1">
            <a:spLocks noGrp="1"/>
          </p:cNvSpPr>
          <p:nvPr>
            <p:ph type="title" idx="4294967295"/>
          </p:nvPr>
        </p:nvSpPr>
        <p:spPr>
          <a:xfrm>
            <a:off x="0" y="444500"/>
            <a:ext cx="8521700" cy="573088"/>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Why so expensive?</a:t>
            </a:r>
            <a:endParaRPr/>
          </a:p>
        </p:txBody>
      </p:sp>
      <p:sp>
        <p:nvSpPr>
          <p:cNvPr id="240" name="Google Shape;240;p40"/>
          <p:cNvSpPr txBox="1"/>
          <p:nvPr/>
        </p:nvSpPr>
        <p:spPr>
          <a:xfrm>
            <a:off x="311700" y="1427800"/>
            <a:ext cx="8749200" cy="2401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2"/>
                </a:solidFill>
              </a:rPr>
              <a:t>IOM named 6 main causes of the high healthcare expenditures in the US: </a:t>
            </a:r>
            <a:endParaRPr sz="1800">
              <a:solidFill>
                <a:schemeClr val="dk2"/>
              </a:solidFill>
            </a:endParaRPr>
          </a:p>
          <a:p>
            <a:pPr marL="0" lvl="0" indent="0" algn="l" rtl="0">
              <a:spcBef>
                <a:spcPts val="0"/>
              </a:spcBef>
              <a:spcAft>
                <a:spcPts val="0"/>
              </a:spcAft>
              <a:buNone/>
            </a:pPr>
            <a:endParaRPr sz="1800">
              <a:solidFill>
                <a:schemeClr val="dk2"/>
              </a:solidFill>
            </a:endParaRPr>
          </a:p>
          <a:p>
            <a:pPr marL="457200" lvl="0" indent="-342900" algn="l" rtl="0">
              <a:spcBef>
                <a:spcPts val="0"/>
              </a:spcBef>
              <a:spcAft>
                <a:spcPts val="0"/>
              </a:spcAft>
              <a:buClr>
                <a:schemeClr val="dk2"/>
              </a:buClr>
              <a:buSzPts val="1800"/>
              <a:buChar char="-"/>
            </a:pPr>
            <a:r>
              <a:rPr lang="en" sz="1800">
                <a:solidFill>
                  <a:schemeClr val="dk2"/>
                </a:solidFill>
              </a:rPr>
              <a:t>Inefficiencies in care delivery </a:t>
            </a:r>
            <a:endParaRPr sz="1800">
              <a:solidFill>
                <a:schemeClr val="dk2"/>
              </a:solidFill>
            </a:endParaRPr>
          </a:p>
          <a:p>
            <a:pPr marL="457200" lvl="0" indent="-342900" algn="l" rtl="0">
              <a:spcBef>
                <a:spcPts val="0"/>
              </a:spcBef>
              <a:spcAft>
                <a:spcPts val="0"/>
              </a:spcAft>
              <a:buClr>
                <a:schemeClr val="dk2"/>
              </a:buClr>
              <a:buSzPts val="1800"/>
              <a:buChar char="-"/>
            </a:pPr>
            <a:r>
              <a:rPr lang="en" sz="1800">
                <a:solidFill>
                  <a:schemeClr val="dk2"/>
                </a:solidFill>
              </a:rPr>
              <a:t>Care coordination failures </a:t>
            </a:r>
            <a:endParaRPr sz="1800">
              <a:solidFill>
                <a:schemeClr val="dk2"/>
              </a:solidFill>
            </a:endParaRPr>
          </a:p>
          <a:p>
            <a:pPr marL="457200" lvl="0" indent="-342900" algn="l" rtl="0">
              <a:spcBef>
                <a:spcPts val="0"/>
              </a:spcBef>
              <a:spcAft>
                <a:spcPts val="0"/>
              </a:spcAft>
              <a:buClr>
                <a:schemeClr val="dk2"/>
              </a:buClr>
              <a:buSzPts val="1800"/>
              <a:buChar char="-"/>
            </a:pPr>
            <a:r>
              <a:rPr lang="en" sz="1800">
                <a:solidFill>
                  <a:schemeClr val="dk2"/>
                </a:solidFill>
              </a:rPr>
              <a:t>Fraud</a:t>
            </a:r>
            <a:endParaRPr sz="1800">
              <a:solidFill>
                <a:schemeClr val="dk2"/>
              </a:solidFill>
            </a:endParaRPr>
          </a:p>
          <a:p>
            <a:pPr marL="457200" lvl="0" indent="-342900" algn="l" rtl="0">
              <a:spcBef>
                <a:spcPts val="0"/>
              </a:spcBef>
              <a:spcAft>
                <a:spcPts val="0"/>
              </a:spcAft>
              <a:buClr>
                <a:schemeClr val="dk2"/>
              </a:buClr>
              <a:buSzPts val="1800"/>
              <a:buChar char="-"/>
            </a:pPr>
            <a:r>
              <a:rPr lang="en" sz="1800">
                <a:solidFill>
                  <a:schemeClr val="dk2"/>
                </a:solidFill>
              </a:rPr>
              <a:t>Administrative costs (&gt;250B) </a:t>
            </a:r>
            <a:endParaRPr sz="1800">
              <a:solidFill>
                <a:schemeClr val="dk2"/>
              </a:solidFill>
            </a:endParaRPr>
          </a:p>
          <a:p>
            <a:pPr marL="457200" lvl="0" indent="-342900" algn="l" rtl="0">
              <a:spcBef>
                <a:spcPts val="0"/>
              </a:spcBef>
              <a:spcAft>
                <a:spcPts val="0"/>
              </a:spcAft>
              <a:buClr>
                <a:schemeClr val="dk2"/>
              </a:buClr>
              <a:buSzPts val="1800"/>
              <a:buChar char="-"/>
            </a:pPr>
            <a:r>
              <a:rPr lang="en" sz="1800">
                <a:solidFill>
                  <a:schemeClr val="dk2"/>
                </a:solidFill>
              </a:rPr>
              <a:t>Low value care </a:t>
            </a:r>
            <a:endParaRPr sz="1800">
              <a:solidFill>
                <a:schemeClr val="dk2"/>
              </a:solidFill>
            </a:endParaRPr>
          </a:p>
          <a:p>
            <a:pPr marL="457200" lvl="0" indent="-342900" algn="l" rtl="0">
              <a:spcBef>
                <a:spcPts val="0"/>
              </a:spcBef>
              <a:spcAft>
                <a:spcPts val="0"/>
              </a:spcAft>
              <a:buClr>
                <a:schemeClr val="dk2"/>
              </a:buClr>
              <a:buSzPts val="1800"/>
              <a:buChar char="-"/>
            </a:pPr>
            <a:r>
              <a:rPr lang="en" sz="1800">
                <a:solidFill>
                  <a:schemeClr val="dk2"/>
                </a:solidFill>
              </a:rPr>
              <a:t>High prices </a:t>
            </a:r>
            <a:endParaRPr sz="1800">
              <a:solidFill>
                <a:schemeClr val="dk2"/>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Shape 244"/>
        <p:cNvGrpSpPr/>
        <p:nvPr/>
      </p:nvGrpSpPr>
      <p:grpSpPr>
        <a:xfrm>
          <a:off x="0" y="0"/>
          <a:ext cx="0" cy="0"/>
          <a:chOff x="0" y="0"/>
          <a:chExt cx="0" cy="0"/>
        </a:xfrm>
      </p:grpSpPr>
      <p:sp>
        <p:nvSpPr>
          <p:cNvPr id="245" name="Google Shape;245;p41"/>
          <p:cNvSpPr txBox="1">
            <a:spLocks noGrp="1"/>
          </p:cNvSpPr>
          <p:nvPr>
            <p:ph type="title" idx="4294967295"/>
          </p:nvPr>
        </p:nvSpPr>
        <p:spPr>
          <a:xfrm>
            <a:off x="0" y="444500"/>
            <a:ext cx="8521700" cy="573088"/>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Expenditure or Revenue? </a:t>
            </a:r>
            <a:endParaRPr/>
          </a:p>
        </p:txBody>
      </p:sp>
      <p:sp>
        <p:nvSpPr>
          <p:cNvPr id="246" name="Google Shape;246;p41"/>
          <p:cNvSpPr txBox="1"/>
          <p:nvPr/>
        </p:nvSpPr>
        <p:spPr>
          <a:xfrm>
            <a:off x="341700" y="1139200"/>
            <a:ext cx="8460600" cy="1569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2"/>
                </a:solidFill>
              </a:rPr>
              <a:t>It depends on the POV: </a:t>
            </a:r>
            <a:endParaRPr sz="1800">
              <a:solidFill>
                <a:schemeClr val="dk2"/>
              </a:solidFill>
            </a:endParaRPr>
          </a:p>
          <a:p>
            <a:pPr marL="0" lvl="0" indent="0" algn="l" rtl="0">
              <a:spcBef>
                <a:spcPts val="0"/>
              </a:spcBef>
              <a:spcAft>
                <a:spcPts val="0"/>
              </a:spcAft>
              <a:buNone/>
            </a:pPr>
            <a:endParaRPr sz="1800">
              <a:solidFill>
                <a:schemeClr val="dk2"/>
              </a:solidFill>
            </a:endParaRPr>
          </a:p>
          <a:p>
            <a:pPr marL="0" lvl="0" indent="0" algn="l" rtl="0">
              <a:spcBef>
                <a:spcPts val="0"/>
              </a:spcBef>
              <a:spcAft>
                <a:spcPts val="0"/>
              </a:spcAft>
              <a:buNone/>
            </a:pPr>
            <a:r>
              <a:rPr lang="en" sz="1800">
                <a:solidFill>
                  <a:schemeClr val="dk2"/>
                </a:solidFill>
              </a:rPr>
              <a:t>From payer, individual, societal perspective: Expenditure = Price * Quantity </a:t>
            </a:r>
            <a:endParaRPr sz="1800">
              <a:solidFill>
                <a:schemeClr val="dk2"/>
              </a:solidFill>
            </a:endParaRPr>
          </a:p>
          <a:p>
            <a:pPr marL="0" lvl="0" indent="0" algn="l" rtl="0">
              <a:spcBef>
                <a:spcPts val="0"/>
              </a:spcBef>
              <a:spcAft>
                <a:spcPts val="0"/>
              </a:spcAft>
              <a:buNone/>
            </a:pPr>
            <a:endParaRPr sz="1800">
              <a:solidFill>
                <a:schemeClr val="dk2"/>
              </a:solidFill>
            </a:endParaRPr>
          </a:p>
          <a:p>
            <a:pPr marL="0" lvl="0" indent="0" algn="l" rtl="0">
              <a:spcBef>
                <a:spcPts val="0"/>
              </a:spcBef>
              <a:spcAft>
                <a:spcPts val="0"/>
              </a:spcAft>
              <a:buNone/>
            </a:pPr>
            <a:r>
              <a:rPr lang="en" sz="1800">
                <a:solidFill>
                  <a:schemeClr val="dk2"/>
                </a:solidFill>
              </a:rPr>
              <a:t>From a provider perspective: Revenue = Price * Quantity </a:t>
            </a:r>
            <a:endParaRPr sz="1800">
              <a:solidFill>
                <a:schemeClr val="dk2"/>
              </a:solidFill>
            </a:endParaRPr>
          </a:p>
        </p:txBody>
      </p:sp>
      <p:sp>
        <p:nvSpPr>
          <p:cNvPr id="247" name="Google Shape;247;p41"/>
          <p:cNvSpPr txBox="1"/>
          <p:nvPr/>
        </p:nvSpPr>
        <p:spPr>
          <a:xfrm>
            <a:off x="1032875" y="3478325"/>
            <a:ext cx="67896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2"/>
                </a:solidFill>
              </a:rPr>
              <a:t>Varying incentives among stakeholders can lead to inefficiencies </a:t>
            </a:r>
            <a:endParaRPr sz="1800">
              <a:solidFill>
                <a:schemeClr val="dk2"/>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921</TotalTime>
  <Words>1854</Words>
  <Application>Microsoft Office PowerPoint</Application>
  <PresentationFormat>On-screen Show (16:9)</PresentationFormat>
  <Paragraphs>190</Paragraphs>
  <Slides>30</Slides>
  <Notes>29</Notes>
  <HiddenSlides>2</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30</vt:i4>
      </vt:variant>
    </vt:vector>
  </HeadingPairs>
  <TitlesOfParts>
    <vt:vector size="37" baseType="lpstr">
      <vt:lpstr>Inter</vt:lpstr>
      <vt:lpstr>Georgia</vt:lpstr>
      <vt:lpstr>Wingdings</vt:lpstr>
      <vt:lpstr>Aptos</vt:lpstr>
      <vt:lpstr>Arial</vt:lpstr>
      <vt:lpstr>Aptos Display</vt:lpstr>
      <vt:lpstr>Office Theme</vt:lpstr>
      <vt:lpstr>Week 1: Introduction to  Health Economics </vt:lpstr>
      <vt:lpstr>Week 1: Outline </vt:lpstr>
      <vt:lpstr>Teaching Team Introductions </vt:lpstr>
      <vt:lpstr>Course Overview </vt:lpstr>
      <vt:lpstr>PowerPoint Presentation</vt:lpstr>
      <vt:lpstr>Course Policies </vt:lpstr>
      <vt:lpstr>Course Policies </vt:lpstr>
      <vt:lpstr>PowerPoint Presentation</vt:lpstr>
      <vt:lpstr>Break </vt:lpstr>
      <vt:lpstr>Material for today’s class </vt:lpstr>
      <vt:lpstr>What is health economics?</vt:lpstr>
      <vt:lpstr>What is health economics?</vt:lpstr>
      <vt:lpstr>II. Why health economics?</vt:lpstr>
      <vt:lpstr>Insurance Primer: Physicians order, Insurance pays, Patient eats </vt:lpstr>
      <vt:lpstr>Why health economics?</vt:lpstr>
      <vt:lpstr>So, was it worth it? </vt:lpstr>
      <vt:lpstr>So, was it worth it? </vt:lpstr>
      <vt:lpstr>What’s the money spent on anyway? </vt:lpstr>
      <vt:lpstr>PowerPoint Presentation</vt:lpstr>
      <vt:lpstr>III. Opportunity cost &amp; scarcity </vt:lpstr>
      <vt:lpstr>III. Opportunity cost &amp; scarcity </vt:lpstr>
      <vt:lpstr>III. Opportunity cost &amp; scarcity </vt:lpstr>
      <vt:lpstr>III. Opportunity cost &amp; scarcity </vt:lpstr>
      <vt:lpstr>IV. Thinking on the margin </vt:lpstr>
      <vt:lpstr>V. Rational thinking </vt:lpstr>
      <vt:lpstr>Closing thoughts: not all economists see things the same way </vt:lpstr>
      <vt:lpstr>Next week </vt:lpstr>
      <vt:lpstr>PowerPoint Presentation</vt:lpstr>
      <vt:lpstr>Why so expensive?</vt:lpstr>
      <vt:lpstr>Expenditure or Revenue?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Boualam, Nada</cp:lastModifiedBy>
  <cp:revision>2</cp:revision>
  <dcterms:modified xsi:type="dcterms:W3CDTF">2026-01-22T13:21:32Z</dcterms:modified>
</cp:coreProperties>
</file>